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265" r:id="rId2"/>
    <p:sldId id="320" r:id="rId3"/>
    <p:sldId id="325" r:id="rId4"/>
    <p:sldId id="327" r:id="rId5"/>
    <p:sldId id="331" r:id="rId6"/>
    <p:sldId id="334" r:id="rId7"/>
    <p:sldId id="335" r:id="rId8"/>
    <p:sldId id="337" r:id="rId9"/>
    <p:sldId id="340" r:id="rId10"/>
    <p:sldId id="343" r:id="rId11"/>
    <p:sldId id="344" r:id="rId12"/>
    <p:sldId id="346" r:id="rId13"/>
    <p:sldId id="349" r:id="rId14"/>
    <p:sldId id="350" r:id="rId15"/>
    <p:sldId id="353" r:id="rId16"/>
    <p:sldId id="356" r:id="rId17"/>
    <p:sldId id="361" r:id="rId18"/>
    <p:sldId id="367" r:id="rId19"/>
    <p:sldId id="383" r:id="rId20"/>
    <p:sldId id="380" r:id="rId21"/>
    <p:sldId id="373" r:id="rId22"/>
    <p:sldId id="375" r:id="rId23"/>
    <p:sldId id="374" r:id="rId24"/>
    <p:sldId id="388" r:id="rId25"/>
    <p:sldId id="391" r:id="rId26"/>
    <p:sldId id="395" r:id="rId27"/>
    <p:sldId id="398" r:id="rId28"/>
  </p:sldIdLst>
  <p:sldSz cx="9144000" cy="6858000" type="screen4x3"/>
  <p:notesSz cx="6797675" cy="99266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ohana" initials="s" lastIdx="4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B2B2B2"/>
    <a:srgbClr val="B7DEE8"/>
    <a:srgbClr val="31859C"/>
    <a:srgbClr val="E46C0A"/>
    <a:srgbClr val="FFC000"/>
    <a:srgbClr val="000000"/>
    <a:srgbClr val="00FF00"/>
    <a:srgbClr val="FF33CC"/>
    <a:srgbClr val="99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423" autoAdjust="0"/>
    <p:restoredTop sz="87917" autoAdjust="0"/>
  </p:normalViewPr>
  <p:slideViewPr>
    <p:cSldViewPr>
      <p:cViewPr varScale="1">
        <p:scale>
          <a:sx n="81" d="100"/>
          <a:sy n="81" d="100"/>
        </p:scale>
        <p:origin x="796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1" d="100"/>
          <a:sy n="71" d="100"/>
        </p:scale>
        <p:origin x="-2238" y="-114"/>
      </p:cViewPr>
      <p:guideLst>
        <p:guide orient="horz" pos="3126"/>
        <p:guide pos="214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smtClean="0">
                <a:ea typeface="MS PGothic" pitchFamily="34" charset="-128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>
                <a:ea typeface="MS PGothic" pitchFamily="34" charset="-128"/>
              </a:defRPr>
            </a:lvl1pPr>
          </a:lstStyle>
          <a:p>
            <a:pPr>
              <a:defRPr/>
            </a:pPr>
            <a:fld id="{96CA802D-ED3A-43F6-BC81-6D8A16B48824}" type="datetimeFigureOut">
              <a:rPr lang="en-US"/>
              <a:pPr>
                <a:defRPr/>
              </a:pPr>
              <a:t>10/5/2023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smtClean="0">
                <a:ea typeface="MS PGothic" pitchFamily="34" charset="-128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>
                <a:ea typeface="MS PGothic" pitchFamily="34" charset="-128"/>
              </a:defRPr>
            </a:lvl1pPr>
          </a:lstStyle>
          <a:p>
            <a:pPr>
              <a:defRPr/>
            </a:pPr>
            <a:fld id="{CFF05148-C93C-43AB-A0BB-DC9351D9CBB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23687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MS PGothic" pitchFamily="34" charset="-128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MS PGothic" pitchFamily="34" charset="-128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17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xmlns="" val="1"/>
            </a:ext>
          </a:extLst>
        </p:spPr>
      </p:sp>
      <p:sp>
        <p:nvSpPr>
          <p:cNvPr id="1229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4875"/>
            <a:ext cx="5438775" cy="446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29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163"/>
            <a:ext cx="2946400" cy="49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MS PGothic" pitchFamily="34" charset="-128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229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428163"/>
            <a:ext cx="2946400" cy="49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a typeface="MS PGothic" pitchFamily="34" charset="-128"/>
              </a:defRPr>
            </a:lvl1pPr>
          </a:lstStyle>
          <a:p>
            <a:pPr>
              <a:defRPr/>
            </a:pPr>
            <a:fld id="{7D285F87-48FC-4A64-B81D-83E40D9FB9B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038750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Slide Image Placeholder 1"/>
          <p:cNvSpPr>
            <a:spLocks noGrp="1" noRot="1" noChangeAspec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05474" name="Notes Placeholder 2"/>
          <p:cNvSpPr>
            <a:spLocks noGrp="1"/>
          </p:cNvSpPr>
          <p:nvPr>
            <p:ph type="body" idx="1"/>
          </p:nvPr>
        </p:nvSpPr>
        <p:spPr>
          <a:noFill/>
          <a:ln>
            <a:solidFill>
              <a:srgbClr val="000000"/>
            </a:solidFill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05475" name="Slide Number Placeholder 3"/>
          <p:cNvSpPr txBox="1">
            <a:spLocks noGrp="1"/>
          </p:cNvSpPr>
          <p:nvPr/>
        </p:nvSpPr>
        <p:spPr bwMode="auto">
          <a:xfrm>
            <a:off x="5287081" y="1"/>
            <a:ext cx="1510594" cy="4954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661" tIns="48331" rIns="96661" bIns="48331" anchor="b"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fld id="{A29B26E3-A90E-F14F-A430-134F6462837A}" type="slidenum">
              <a:rPr lang="en-US" sz="1300"/>
              <a:pPr algn="r"/>
              <a:t>3</a:t>
            </a:fld>
            <a:endParaRPr lang="en-US" sz="13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73730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-Now try it for nafcillin.</a:t>
            </a:r>
          </a:p>
        </p:txBody>
      </p:sp>
      <p:sp>
        <p:nvSpPr>
          <p:cNvPr id="73731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0DC5B783-A62E-A146-91CE-99F9BD5333D5}" type="slidenum">
              <a:rPr lang="en-US" sz="1300"/>
              <a:pPr/>
              <a:t>4</a:t>
            </a:fld>
            <a:endParaRPr lang="en-US" sz="13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3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110594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10595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22520943-A426-704E-8C84-9C2BEDD72F37}" type="slidenum">
              <a:rPr lang="en-US" sz="1300"/>
              <a:pPr/>
              <a:t>5</a:t>
            </a:fld>
            <a:endParaRPr lang="en-US" sz="13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3" name="Slide Image Placeholder 1"/>
          <p:cNvSpPr>
            <a:spLocks noGrp="1" noRot="1" noChangeAspec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15714" name="Notes Placeholder 2"/>
          <p:cNvSpPr>
            <a:spLocks noGrp="1"/>
          </p:cNvSpPr>
          <p:nvPr>
            <p:ph type="body" idx="1"/>
          </p:nvPr>
        </p:nvSpPr>
        <p:spPr>
          <a:noFill/>
          <a:ln>
            <a:solidFill>
              <a:srgbClr val="000000"/>
            </a:solidFill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15715" name="Slide Number Placeholder 3"/>
          <p:cNvSpPr txBox="1">
            <a:spLocks noGrp="1"/>
          </p:cNvSpPr>
          <p:nvPr/>
        </p:nvSpPr>
        <p:spPr bwMode="auto">
          <a:xfrm>
            <a:off x="5287081" y="1"/>
            <a:ext cx="1510594" cy="4954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661" tIns="48331" rIns="96661" bIns="48331" anchor="b"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fld id="{62883258-A3D6-B642-986A-2554F0BEF265}" type="slidenum">
              <a:rPr lang="en-US" sz="1300"/>
              <a:pPr algn="r"/>
              <a:t>6</a:t>
            </a:fld>
            <a:endParaRPr lang="en-US" sz="13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12800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12800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BCD63E3E-34B4-42E1-BE0C-50B04D35A95B}" type="slidenum">
              <a:rPr lang="en-US" smtClean="0"/>
              <a:pPr eaLnBrk="1" hangingPunct="1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1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143362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43363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2C1CC8CA-1656-6942-87DF-3F5C4D94CD6A}" type="slidenum">
              <a:rPr lang="en-US" sz="1300"/>
              <a:pPr/>
              <a:t>8</a:t>
            </a:fld>
            <a:endParaRPr lang="en-US" sz="13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1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148482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48483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4888B902-5D79-9E4A-A152-2EBA011FFEE9}" type="slidenum">
              <a:rPr lang="en-US" sz="1300"/>
              <a:pPr/>
              <a:t>9</a:t>
            </a:fld>
            <a:endParaRPr lang="en-US" sz="13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7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183298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83299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80319F63-AFD2-9F47-93C8-1206E54D942A}" type="slidenum">
              <a:rPr lang="en-US" sz="1300"/>
              <a:pPr/>
              <a:t>10</a:t>
            </a:fld>
            <a:endParaRPr lang="en-US" sz="13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7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188418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88419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831A342E-3194-524E-A13D-8496595C313E}" type="slidenum">
              <a:rPr lang="en-US" sz="1300"/>
              <a:pPr/>
              <a:t>11</a:t>
            </a:fld>
            <a:endParaRPr lang="en-US" sz="13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7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193538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93539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BAE7CE5B-359B-EC49-AA2C-800706754991}" type="slidenum">
              <a:rPr lang="en-US" sz="1300"/>
              <a:pPr/>
              <a:t>12</a:t>
            </a:fld>
            <a:endParaRPr lang="en-US" sz="13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7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224258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24259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2E6AA2F3-6F4D-144C-A38A-12AFAE526FC7}" type="slidenum">
              <a:rPr lang="en-US" sz="1300"/>
              <a:pPr/>
              <a:t>13</a:t>
            </a:fld>
            <a:endParaRPr lang="en-US" sz="13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7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229378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29379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9E4F6E24-7EC8-C849-9C9D-7FE55DFD8B46}" type="slidenum">
              <a:rPr lang="en-US" sz="1300"/>
              <a:pPr/>
              <a:t>14</a:t>
            </a:fld>
            <a:endParaRPr lang="en-US" sz="13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7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219138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19139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DB5B3D6B-C842-9D48-812C-438BF484A252}" type="slidenum">
              <a:rPr lang="en-US" sz="1300"/>
              <a:pPr/>
              <a:t>15</a:t>
            </a:fld>
            <a:endParaRPr lang="en-US" sz="13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2209800" y="2133600"/>
            <a:ext cx="6477000" cy="1752600"/>
          </a:xfrm>
        </p:spPr>
        <p:txBody>
          <a:bodyPr/>
          <a:lstStyle>
            <a:lvl1pPr marL="0" indent="0" algn="ctr">
              <a:buFontTx/>
              <a:buNone/>
              <a:defRPr sz="3000">
                <a:solidFill>
                  <a:srgbClr val="001B36"/>
                </a:solidFill>
                <a:latin typeface="Helvetica"/>
                <a:cs typeface="Helvetica"/>
              </a:defRPr>
            </a:lvl1pPr>
          </a:lstStyle>
          <a:p>
            <a:pPr lvl="0"/>
            <a:r>
              <a:rPr lang="en-US" noProof="0" dirty="0"/>
              <a:t>Click to edit Master subtitle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0800" y="533400"/>
            <a:ext cx="5562600" cy="1143000"/>
          </a:xfrm>
        </p:spPr>
        <p:txBody>
          <a:bodyPr/>
          <a:lstStyle>
            <a:lvl1pPr>
              <a:defRPr>
                <a:solidFill>
                  <a:srgbClr val="001B36"/>
                </a:solidFill>
                <a:latin typeface="Helvetica"/>
                <a:cs typeface="Helvetica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2"/>
          <p:cNvSpPr/>
          <p:nvPr userDrawn="1"/>
        </p:nvSpPr>
        <p:spPr bwMode="auto">
          <a:xfrm>
            <a:off x="0" y="0"/>
            <a:ext cx="1981200" cy="6858000"/>
          </a:xfrm>
          <a:prstGeom prst="rect">
            <a:avLst/>
          </a:prstGeom>
          <a:solidFill>
            <a:srgbClr val="001B3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6" name="Picture 5" descr="signature-vertical-white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960" y="228600"/>
            <a:ext cx="1335280" cy="1143000"/>
          </a:xfrm>
          <a:prstGeom prst="rect">
            <a:avLst/>
          </a:prstGeom>
        </p:spPr>
      </p:pic>
      <p:pic>
        <p:nvPicPr>
          <p:cNvPr id="8" name="Picture 7" descr="Health-marketing-sig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0" y="5884010"/>
            <a:ext cx="5105400" cy="745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925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ayout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>
            <a:lvl1pPr>
              <a:defRPr sz="3200"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33400" y="1600200"/>
            <a:ext cx="8001000" cy="4724400"/>
          </a:xfrm>
        </p:spPr>
        <p:txBody>
          <a:bodyPr/>
          <a:lstStyle>
            <a:lvl1pPr>
              <a:defRPr>
                <a:latin typeface="Helvetica"/>
                <a:cs typeface="Helvetica"/>
              </a:defRPr>
            </a:lvl1pPr>
            <a:lvl2pPr>
              <a:defRPr>
                <a:latin typeface="Helvetica"/>
                <a:cs typeface="Helvetica"/>
              </a:defRPr>
            </a:lvl2pPr>
            <a:lvl3pPr>
              <a:defRPr>
                <a:latin typeface="Helvetica"/>
                <a:cs typeface="Helvetica"/>
              </a:defRPr>
            </a:lvl3pPr>
            <a:lvl4pPr>
              <a:defRPr>
                <a:latin typeface="Helvetica"/>
                <a:cs typeface="Helvetica"/>
              </a:defRPr>
            </a:lvl4pPr>
            <a:lvl5pPr>
              <a:defRPr>
                <a:latin typeface="Helvetica"/>
                <a:cs typeface="Helvetica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8496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2"/>
          <p:cNvSpPr>
            <a:spLocks noGrp="1" noChangeArrowheads="1"/>
          </p:cNvSpPr>
          <p:nvPr>
            <p:ph idx="1"/>
          </p:nvPr>
        </p:nvSpPr>
        <p:spPr bwMode="auto">
          <a:xfrm>
            <a:off x="1295400" y="1600200"/>
            <a:ext cx="6781800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rgbClr val="001B36"/>
                </a:solidFill>
                <a:latin typeface="Helvetica"/>
                <a:cs typeface="Helvetica"/>
              </a:defRPr>
            </a:lvl1pPr>
            <a:lvl2pPr>
              <a:defRPr>
                <a:solidFill>
                  <a:srgbClr val="001B36"/>
                </a:solidFill>
                <a:latin typeface="Helvetica"/>
                <a:cs typeface="Helvetica"/>
              </a:defRPr>
            </a:lvl2pPr>
            <a:lvl3pPr>
              <a:defRPr>
                <a:solidFill>
                  <a:srgbClr val="001B36"/>
                </a:solidFill>
                <a:latin typeface="Helvetica"/>
                <a:cs typeface="Helvetica"/>
              </a:defRPr>
            </a:lvl3pPr>
            <a:lvl4pPr>
              <a:defRPr>
                <a:solidFill>
                  <a:srgbClr val="001B36"/>
                </a:solidFill>
                <a:latin typeface="Helvetica"/>
                <a:cs typeface="Helvetica"/>
              </a:defRPr>
            </a:lvl4pPr>
            <a:lvl5pPr>
              <a:defRPr>
                <a:solidFill>
                  <a:srgbClr val="001B36"/>
                </a:solidFill>
                <a:latin typeface="Helvetica"/>
                <a:cs typeface="Helvetica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1828800" y="228600"/>
            <a:ext cx="7162799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latin typeface="Helvetica"/>
                <a:cs typeface="Helvetica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60771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Helvetica"/>
                <a:cs typeface="Helvetica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12"/>
          <p:cNvSpPr>
            <a:spLocks noGrp="1" noChangeArrowheads="1"/>
          </p:cNvSpPr>
          <p:nvPr>
            <p:ph idx="1"/>
          </p:nvPr>
        </p:nvSpPr>
        <p:spPr bwMode="auto">
          <a:xfrm>
            <a:off x="1371600" y="1676400"/>
            <a:ext cx="6781800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Helvetica"/>
                <a:cs typeface="Helvetica"/>
              </a:defRPr>
            </a:lvl1pPr>
            <a:lvl2pPr>
              <a:defRPr>
                <a:latin typeface="Helvetica"/>
                <a:cs typeface="Helvetica"/>
              </a:defRPr>
            </a:lvl2pPr>
            <a:lvl3pPr>
              <a:defRPr>
                <a:latin typeface="Helvetica"/>
                <a:cs typeface="Helvetica"/>
              </a:defRPr>
            </a:lvl3pPr>
            <a:lvl4pPr>
              <a:defRPr>
                <a:latin typeface="Helvetica"/>
                <a:cs typeface="Helvetica"/>
              </a:defRPr>
            </a:lvl4pPr>
            <a:lvl5pPr>
              <a:defRPr>
                <a:latin typeface="Helvetica"/>
                <a:cs typeface="Helvetica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21368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1600200"/>
            <a:ext cx="3314700" cy="4495800"/>
          </a:xfrm>
        </p:spPr>
        <p:txBody>
          <a:bodyPr/>
          <a:lstStyle>
            <a:lvl1pPr>
              <a:defRPr sz="2800">
                <a:solidFill>
                  <a:srgbClr val="001B36"/>
                </a:solidFill>
                <a:latin typeface="Helvetica"/>
                <a:cs typeface="Helvetica"/>
              </a:defRPr>
            </a:lvl1pPr>
            <a:lvl2pPr>
              <a:defRPr sz="2400">
                <a:solidFill>
                  <a:srgbClr val="001B36"/>
                </a:solidFill>
                <a:latin typeface="Helvetica"/>
                <a:cs typeface="Helvetica"/>
              </a:defRPr>
            </a:lvl2pPr>
            <a:lvl3pPr>
              <a:defRPr sz="2000">
                <a:solidFill>
                  <a:srgbClr val="001B36"/>
                </a:solidFill>
                <a:latin typeface="Helvetica"/>
                <a:cs typeface="Helvetica"/>
              </a:defRPr>
            </a:lvl3pPr>
            <a:lvl4pPr>
              <a:defRPr sz="1800">
                <a:solidFill>
                  <a:srgbClr val="001B36"/>
                </a:solidFill>
                <a:latin typeface="Helvetica"/>
                <a:cs typeface="Helvetica"/>
              </a:defRPr>
            </a:lvl4pPr>
            <a:lvl5pPr>
              <a:defRPr sz="1800">
                <a:solidFill>
                  <a:srgbClr val="001B36"/>
                </a:solidFill>
                <a:latin typeface="Helvetica"/>
                <a:cs typeface="Helvetica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0100" y="1600200"/>
            <a:ext cx="3314700" cy="4495800"/>
          </a:xfrm>
        </p:spPr>
        <p:txBody>
          <a:bodyPr/>
          <a:lstStyle>
            <a:lvl1pPr>
              <a:defRPr sz="2800">
                <a:solidFill>
                  <a:srgbClr val="001B36"/>
                </a:solidFill>
                <a:latin typeface="Helvetica"/>
                <a:cs typeface="Helvetica"/>
              </a:defRPr>
            </a:lvl1pPr>
            <a:lvl2pPr>
              <a:defRPr sz="2400">
                <a:solidFill>
                  <a:srgbClr val="001B36"/>
                </a:solidFill>
                <a:latin typeface="Helvetica"/>
                <a:cs typeface="Helvetica"/>
              </a:defRPr>
            </a:lvl2pPr>
            <a:lvl3pPr>
              <a:defRPr sz="2000">
                <a:solidFill>
                  <a:srgbClr val="001B36"/>
                </a:solidFill>
                <a:latin typeface="Helvetica"/>
                <a:cs typeface="Helvetica"/>
              </a:defRPr>
            </a:lvl3pPr>
            <a:lvl4pPr>
              <a:defRPr sz="1800">
                <a:solidFill>
                  <a:srgbClr val="001B36"/>
                </a:solidFill>
                <a:latin typeface="Helvetica"/>
                <a:cs typeface="Helvetica"/>
              </a:defRPr>
            </a:lvl4pPr>
            <a:lvl5pPr>
              <a:defRPr sz="1800">
                <a:solidFill>
                  <a:srgbClr val="001B36"/>
                </a:solidFill>
                <a:latin typeface="Helvetica"/>
                <a:cs typeface="Helvetica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1828800" y="228600"/>
            <a:ext cx="7086599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Helvetica"/>
                <a:cs typeface="Helvetica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953751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057400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001B36"/>
                </a:solidFill>
                <a:latin typeface="Helvetica"/>
                <a:cs typeface="Helvetic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743201"/>
            <a:ext cx="4038600" cy="3382962"/>
          </a:xfrm>
        </p:spPr>
        <p:txBody>
          <a:bodyPr/>
          <a:lstStyle>
            <a:lvl1pPr>
              <a:defRPr sz="2400">
                <a:solidFill>
                  <a:srgbClr val="001B36"/>
                </a:solidFill>
                <a:latin typeface="Helvetica"/>
                <a:cs typeface="Helvetica"/>
              </a:defRPr>
            </a:lvl1pPr>
            <a:lvl2pPr>
              <a:defRPr sz="2000">
                <a:solidFill>
                  <a:srgbClr val="001B36"/>
                </a:solidFill>
                <a:latin typeface="Helvetica"/>
                <a:cs typeface="Helvetica"/>
              </a:defRPr>
            </a:lvl2pPr>
            <a:lvl3pPr>
              <a:defRPr sz="1800">
                <a:solidFill>
                  <a:srgbClr val="001B36"/>
                </a:solidFill>
                <a:latin typeface="Helvetica"/>
                <a:cs typeface="Helvetica"/>
              </a:defRPr>
            </a:lvl3pPr>
            <a:lvl4pPr>
              <a:defRPr sz="1600">
                <a:solidFill>
                  <a:srgbClr val="001B36"/>
                </a:solidFill>
                <a:latin typeface="Helvetica"/>
                <a:cs typeface="Helvetica"/>
              </a:defRPr>
            </a:lvl4pPr>
            <a:lvl5pPr>
              <a:defRPr sz="1600">
                <a:solidFill>
                  <a:srgbClr val="001B36"/>
                </a:solidFill>
                <a:latin typeface="Helvetica"/>
                <a:cs typeface="Helvetica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057400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001B36"/>
                </a:solidFill>
                <a:latin typeface="Helvetica"/>
                <a:cs typeface="Helvetic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2743201"/>
            <a:ext cx="4038600" cy="3382962"/>
          </a:xfrm>
        </p:spPr>
        <p:txBody>
          <a:bodyPr/>
          <a:lstStyle>
            <a:lvl1pPr>
              <a:defRPr sz="2400">
                <a:solidFill>
                  <a:srgbClr val="001B36"/>
                </a:solidFill>
                <a:latin typeface="Helvetica"/>
                <a:cs typeface="Helvetica"/>
              </a:defRPr>
            </a:lvl1pPr>
            <a:lvl2pPr>
              <a:defRPr sz="2000">
                <a:solidFill>
                  <a:srgbClr val="001B36"/>
                </a:solidFill>
                <a:latin typeface="Helvetica"/>
                <a:cs typeface="Helvetica"/>
              </a:defRPr>
            </a:lvl2pPr>
            <a:lvl3pPr>
              <a:defRPr sz="1800">
                <a:solidFill>
                  <a:srgbClr val="001B36"/>
                </a:solidFill>
                <a:latin typeface="Helvetica"/>
                <a:cs typeface="Helvetica"/>
              </a:defRPr>
            </a:lvl3pPr>
            <a:lvl4pPr>
              <a:defRPr sz="1600">
                <a:solidFill>
                  <a:srgbClr val="001B36"/>
                </a:solidFill>
                <a:latin typeface="Helvetica"/>
                <a:cs typeface="Helvetica"/>
              </a:defRPr>
            </a:lvl4pPr>
            <a:lvl5pPr>
              <a:defRPr sz="1600">
                <a:solidFill>
                  <a:srgbClr val="001B36"/>
                </a:solidFill>
                <a:latin typeface="Helvetica"/>
                <a:cs typeface="Helvetica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1828800" y="228600"/>
            <a:ext cx="7086599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Helvetica"/>
                <a:cs typeface="Helvetica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43969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600200"/>
            <a:ext cx="3048000" cy="22098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0"/>
            <a:ext cx="5111750" cy="4525963"/>
          </a:xfrm>
        </p:spPr>
        <p:txBody>
          <a:bodyPr/>
          <a:lstStyle>
            <a:lvl1pPr>
              <a:defRPr sz="3200">
                <a:solidFill>
                  <a:srgbClr val="001B36"/>
                </a:solidFill>
                <a:latin typeface="Helvetica"/>
                <a:cs typeface="Helvetica"/>
              </a:defRPr>
            </a:lvl1pPr>
            <a:lvl2pPr>
              <a:defRPr sz="2800">
                <a:solidFill>
                  <a:srgbClr val="001B36"/>
                </a:solidFill>
                <a:latin typeface="Helvetica"/>
                <a:cs typeface="Helvetica"/>
              </a:defRPr>
            </a:lvl2pPr>
            <a:lvl3pPr>
              <a:defRPr sz="2400">
                <a:solidFill>
                  <a:srgbClr val="001B36"/>
                </a:solidFill>
                <a:latin typeface="Helvetica"/>
                <a:cs typeface="Helvetica"/>
              </a:defRPr>
            </a:lvl3pPr>
            <a:lvl4pPr>
              <a:defRPr sz="2000">
                <a:solidFill>
                  <a:srgbClr val="001B36"/>
                </a:solidFill>
                <a:latin typeface="Helvetica"/>
                <a:cs typeface="Helvetica"/>
              </a:defRPr>
            </a:lvl4pPr>
            <a:lvl5pPr>
              <a:defRPr sz="2000">
                <a:solidFill>
                  <a:srgbClr val="001B36"/>
                </a:solidFill>
                <a:latin typeface="Helvetica"/>
                <a:cs typeface="Helvetic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3008313" cy="4525963"/>
          </a:xfrm>
        </p:spPr>
        <p:txBody>
          <a:bodyPr/>
          <a:lstStyle>
            <a:lvl1pPr marL="0" indent="0">
              <a:buNone/>
              <a:defRPr sz="1400">
                <a:solidFill>
                  <a:srgbClr val="001B36"/>
                </a:solidFill>
                <a:latin typeface="Helvetica"/>
                <a:cs typeface="Helvetic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Rectangle 11"/>
          <p:cNvSpPr txBox="1">
            <a:spLocks noChangeArrowheads="1"/>
          </p:cNvSpPr>
          <p:nvPr userDrawn="1"/>
        </p:nvSpPr>
        <p:spPr bwMode="auto">
          <a:xfrm>
            <a:off x="1828800" y="228600"/>
            <a:ext cx="7086599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ＭＳ Ｐゴシック" pitchFamily="34" charset="-128"/>
                <a:cs typeface="Times New Roman" pitchFamily="18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5696"/>
                </a:solidFill>
                <a:latin typeface="Arial" charset="0"/>
                <a:ea typeface="ＭＳ Ｐゴシック" pitchFamily="34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5696"/>
                </a:solidFill>
                <a:latin typeface="Arial" charset="0"/>
                <a:ea typeface="ＭＳ Ｐゴシック" pitchFamily="34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5696"/>
                </a:solidFill>
                <a:latin typeface="Arial" charset="0"/>
                <a:ea typeface="ＭＳ Ｐゴシック" pitchFamily="34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5696"/>
                </a:solidFill>
                <a:latin typeface="Arial" charset="0"/>
                <a:ea typeface="ＭＳ Ｐゴシック" pitchFamily="34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81D58"/>
                </a:solidFill>
                <a:latin typeface="Arial" charset="0"/>
                <a:ea typeface="MS PGothic" pitchFamily="34" charset="-128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81D58"/>
                </a:solidFill>
                <a:latin typeface="Arial" charset="0"/>
                <a:ea typeface="MS PGothic" pitchFamily="34" charset="-128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81D58"/>
                </a:solidFill>
                <a:latin typeface="Arial" charset="0"/>
                <a:ea typeface="MS PGothic" pitchFamily="34" charset="-128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81D58"/>
                </a:solidFill>
                <a:latin typeface="Arial" charset="0"/>
                <a:ea typeface="MS PGothic" pitchFamily="34" charset="-128"/>
              </a:defRPr>
            </a:lvl9pPr>
          </a:lstStyle>
          <a:p>
            <a:r>
              <a:rPr lang="en-US" dirty="0">
                <a:latin typeface="Helvetica"/>
                <a:cs typeface="Helvetica"/>
              </a:rPr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76219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latin typeface="Helvetica"/>
                <a:cs typeface="Helvetica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676399"/>
            <a:ext cx="5486400" cy="3051175"/>
          </a:xfrm>
        </p:spPr>
        <p:txBody>
          <a:bodyPr/>
          <a:lstStyle>
            <a:lvl1pPr marL="0" indent="0">
              <a:buNone/>
              <a:defRPr sz="3200">
                <a:latin typeface="Calibri" pitchFamily="34" charset="0"/>
                <a:cs typeface="Calibri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>
                <a:latin typeface="Helvetica"/>
                <a:cs typeface="Helvetic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Rectangle 11"/>
          <p:cNvSpPr txBox="1">
            <a:spLocks noChangeArrowheads="1"/>
          </p:cNvSpPr>
          <p:nvPr userDrawn="1"/>
        </p:nvSpPr>
        <p:spPr bwMode="auto">
          <a:xfrm>
            <a:off x="1828800" y="228600"/>
            <a:ext cx="7010399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ＭＳ Ｐゴシック" pitchFamily="34" charset="-128"/>
                <a:cs typeface="Times New Roman" pitchFamily="18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5696"/>
                </a:solidFill>
                <a:latin typeface="Arial" charset="0"/>
                <a:ea typeface="ＭＳ Ｐゴシック" pitchFamily="34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5696"/>
                </a:solidFill>
                <a:latin typeface="Arial" charset="0"/>
                <a:ea typeface="ＭＳ Ｐゴシック" pitchFamily="34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5696"/>
                </a:solidFill>
                <a:latin typeface="Arial" charset="0"/>
                <a:ea typeface="ＭＳ Ｐゴシック" pitchFamily="34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5696"/>
                </a:solidFill>
                <a:latin typeface="Arial" charset="0"/>
                <a:ea typeface="ＭＳ Ｐゴシック" pitchFamily="34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81D58"/>
                </a:solidFill>
                <a:latin typeface="Arial" charset="0"/>
                <a:ea typeface="MS PGothic" pitchFamily="34" charset="-128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81D58"/>
                </a:solidFill>
                <a:latin typeface="Arial" charset="0"/>
                <a:ea typeface="MS PGothic" pitchFamily="34" charset="-128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81D58"/>
                </a:solidFill>
                <a:latin typeface="Arial" charset="0"/>
                <a:ea typeface="MS PGothic" pitchFamily="34" charset="-128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81D58"/>
                </a:solidFill>
                <a:latin typeface="Arial" charset="0"/>
                <a:ea typeface="MS PGothic" pitchFamily="34" charset="-128"/>
              </a:defRPr>
            </a:lvl9pPr>
          </a:lstStyle>
          <a:p>
            <a:r>
              <a:rPr lang="en-US" dirty="0">
                <a:latin typeface="Helvetica"/>
                <a:cs typeface="Helvetica"/>
              </a:rPr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72900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8C662B-DF96-4C89-A49A-7D65D48C348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2441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3DDA55-DA5A-4619-84F9-F5FF4C60DE3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231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 bwMode="auto">
          <a:xfrm>
            <a:off x="-1588" y="-17463"/>
            <a:ext cx="9145588" cy="1443037"/>
          </a:xfrm>
          <a:prstGeom prst="rect">
            <a:avLst/>
          </a:prstGeom>
          <a:solidFill>
            <a:srgbClr val="001B3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1028" name="Rectangle 12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600200"/>
            <a:ext cx="7315200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27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1828800" y="228600"/>
            <a:ext cx="7010399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4" name="Picture 3" descr="signature-vertical-white.png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805" y="118382"/>
            <a:ext cx="1368395" cy="117134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6" r:id="rId2"/>
    <p:sldLayoutId id="2147483791" r:id="rId3"/>
    <p:sldLayoutId id="2147483805" r:id="rId4"/>
    <p:sldLayoutId id="2147483795" r:id="rId5"/>
    <p:sldLayoutId id="2147483796" r:id="rId6"/>
    <p:sldLayoutId id="2147483799" r:id="rId7"/>
    <p:sldLayoutId id="2147483800" r:id="rId8"/>
    <p:sldLayoutId id="2147483818" r:id="rId9"/>
    <p:sldLayoutId id="2147483819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8C01B"/>
          </a:solidFill>
          <a:latin typeface="Helvetica"/>
          <a:ea typeface="ＭＳ Ｐゴシック" pitchFamily="34" charset="-128"/>
          <a:cs typeface="Helvetica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5696"/>
          </a:solidFill>
          <a:latin typeface="Arial" charset="0"/>
          <a:ea typeface="ＭＳ Ｐゴシック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5696"/>
          </a:solidFill>
          <a:latin typeface="Arial" charset="0"/>
          <a:ea typeface="ＭＳ Ｐゴシック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5696"/>
          </a:solidFill>
          <a:latin typeface="Arial" charset="0"/>
          <a:ea typeface="ＭＳ Ｐゴシック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5696"/>
          </a:solidFill>
          <a:latin typeface="Arial" charset="0"/>
          <a:ea typeface="ＭＳ Ｐゴシック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rgbClr val="081D58"/>
          </a:solidFill>
          <a:latin typeface="Arial" charset="0"/>
          <a:ea typeface="MS PGothic" pitchFamily="34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rgbClr val="081D58"/>
          </a:solidFill>
          <a:latin typeface="Arial" charset="0"/>
          <a:ea typeface="MS PGothic" pitchFamily="34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rgbClr val="081D58"/>
          </a:solidFill>
          <a:latin typeface="Arial" charset="0"/>
          <a:ea typeface="MS PGothic" pitchFamily="34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rgbClr val="081D58"/>
          </a:solidFill>
          <a:latin typeface="Arial" charset="0"/>
          <a:ea typeface="MS PGothic" pitchFamily="34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rgbClr val="001B36"/>
          </a:solidFill>
          <a:latin typeface="Helvetica"/>
          <a:ea typeface="ＭＳ Ｐゴシック" pitchFamily="34" charset="-128"/>
          <a:cs typeface="Helvetica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rgbClr val="001B36"/>
          </a:solidFill>
          <a:latin typeface="Helvetica"/>
          <a:ea typeface="ＭＳ Ｐゴシック" pitchFamily="34" charset="-128"/>
          <a:cs typeface="Helvetic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rgbClr val="001B36"/>
          </a:solidFill>
          <a:latin typeface="Helvetica"/>
          <a:ea typeface="ＭＳ Ｐゴシック" pitchFamily="34" charset="-128"/>
          <a:cs typeface="Helvetic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rgbClr val="001B36"/>
          </a:solidFill>
          <a:latin typeface="Helvetica"/>
          <a:ea typeface="ＭＳ Ｐゴシック" pitchFamily="34" charset="-128"/>
          <a:cs typeface="Helvetic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rgbClr val="001B36"/>
          </a:solidFill>
          <a:latin typeface="Helvetica"/>
          <a:ea typeface="ＭＳ Ｐゴシック" pitchFamily="34" charset="-128"/>
          <a:cs typeface="Helvetic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081D58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081D58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081D58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081D58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" name="Rectangle 10"/>
          <p:cNvSpPr>
            <a:spLocks noGrp="1" noChangeArrowheads="1"/>
          </p:cNvSpPr>
          <p:nvPr>
            <p:ph type="ctrTitle"/>
          </p:nvPr>
        </p:nvSpPr>
        <p:spPr>
          <a:xfrm>
            <a:off x="2514600" y="838200"/>
            <a:ext cx="5943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Overview of Antibiotic Classes</a:t>
            </a:r>
            <a:br>
              <a:rPr lang="en-US" dirty="0"/>
            </a:br>
            <a:r>
              <a:rPr lang="en-US" dirty="0"/>
              <a:t>and Individual Antibiotics</a:t>
            </a:r>
            <a:br>
              <a:rPr lang="en-US" dirty="0"/>
            </a:br>
            <a:endParaRPr lang="en-US" dirty="0"/>
          </a:p>
        </p:txBody>
      </p:sp>
      <p:sp>
        <p:nvSpPr>
          <p:cNvPr id="2059" name="Rectangle 11"/>
          <p:cNvSpPr>
            <a:spLocks noGrp="1" noChangeArrowheads="1"/>
          </p:cNvSpPr>
          <p:nvPr>
            <p:ph type="subTitle" idx="1"/>
          </p:nvPr>
        </p:nvSpPr>
        <p:spPr>
          <a:xfrm>
            <a:off x="2209800" y="3048000"/>
            <a:ext cx="6477000" cy="1752600"/>
          </a:xfrm>
        </p:spPr>
        <p:txBody>
          <a:bodyPr/>
          <a:lstStyle/>
          <a:p>
            <a:pPr eaLnBrk="1" hangingPunct="1">
              <a:defRPr/>
            </a:pPr>
            <a:r>
              <a:rPr lang="en-US" sz="2000" dirty="0"/>
              <a:t>Twisha Patel, </a:t>
            </a:r>
            <a:r>
              <a:rPr lang="en-US" sz="2000" dirty="0" err="1"/>
              <a:t>PharmD</a:t>
            </a:r>
            <a:r>
              <a:rPr lang="en-US" sz="2000" dirty="0"/>
              <a:t>, BCPS</a:t>
            </a:r>
          </a:p>
          <a:p>
            <a:pPr eaLnBrk="1" hangingPunct="1">
              <a:defRPr/>
            </a:pPr>
            <a:r>
              <a:rPr lang="en-US" sz="2000" dirty="0"/>
              <a:t>Clinical Specialist, Infectious Diseases</a:t>
            </a:r>
            <a:br>
              <a:rPr lang="en-US" sz="2000" dirty="0"/>
            </a:br>
            <a:r>
              <a:rPr lang="en-US" sz="2000" dirty="0"/>
              <a:t>Adjunct Clinical Instructor</a:t>
            </a:r>
            <a:br>
              <a:rPr lang="en-US" sz="2000" dirty="0"/>
            </a:br>
            <a:r>
              <a:rPr lang="en-US" sz="2000" dirty="0"/>
              <a:t>University of Michigan Health System</a:t>
            </a:r>
            <a:br>
              <a:rPr lang="en-US" sz="2000" dirty="0"/>
            </a:br>
            <a:r>
              <a:rPr lang="en-US" sz="2000" dirty="0"/>
              <a:t>University of Michigan College of Pharmacy</a:t>
            </a:r>
          </a:p>
          <a:p>
            <a:pPr eaLnBrk="1" hangingPunct="1">
              <a:defRPr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2481762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Various Mechanisms of Action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71600"/>
            <a:ext cx="9144000" cy="5486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 bwMode="auto">
          <a:xfrm>
            <a:off x="0" y="2209800"/>
            <a:ext cx="1828800" cy="1371600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04137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Rectangle 8"/>
          <p:cNvSpPr>
            <a:spLocks noChangeArrowheads="1"/>
          </p:cNvSpPr>
          <p:nvPr/>
        </p:nvSpPr>
        <p:spPr bwMode="auto">
          <a:xfrm>
            <a:off x="0" y="-228600"/>
            <a:ext cx="9144000" cy="7086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  <a:p>
            <a:r>
              <a:rPr lang="en-US" u="sng" dirty="0"/>
              <a:t>Gram-positive  </a:t>
            </a:r>
            <a:r>
              <a:rPr lang="en-US" dirty="0"/>
              <a:t>                                                         </a:t>
            </a:r>
            <a:r>
              <a:rPr lang="en-US" u="sng" dirty="0"/>
              <a:t>Gram-negative</a:t>
            </a:r>
          </a:p>
        </p:txBody>
      </p:sp>
      <p:sp>
        <p:nvSpPr>
          <p:cNvPr id="104450" name="TextBox 3"/>
          <p:cNvSpPr txBox="1">
            <a:spLocks noChangeArrowheads="1"/>
          </p:cNvSpPr>
          <p:nvPr/>
        </p:nvSpPr>
        <p:spPr bwMode="auto">
          <a:xfrm>
            <a:off x="2514023" y="3352800"/>
            <a:ext cx="185602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Strep pyogenes</a:t>
            </a:r>
          </a:p>
        </p:txBody>
      </p:sp>
      <p:sp>
        <p:nvSpPr>
          <p:cNvPr id="104451" name="TextBox 6"/>
          <p:cNvSpPr txBox="1">
            <a:spLocks noChangeArrowheads="1"/>
          </p:cNvSpPr>
          <p:nvPr/>
        </p:nvSpPr>
        <p:spPr bwMode="auto">
          <a:xfrm>
            <a:off x="1143000" y="1828801"/>
            <a:ext cx="163759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Enterococcus</a:t>
            </a:r>
          </a:p>
          <a:p>
            <a:r>
              <a:rPr lang="en-US" sz="1800" i="1"/>
              <a:t>faecalis</a:t>
            </a:r>
          </a:p>
        </p:txBody>
      </p:sp>
      <p:sp>
        <p:nvSpPr>
          <p:cNvPr id="104452" name="TextBox 7"/>
          <p:cNvSpPr txBox="1">
            <a:spLocks noChangeArrowheads="1"/>
          </p:cNvSpPr>
          <p:nvPr/>
        </p:nvSpPr>
        <p:spPr bwMode="auto">
          <a:xfrm>
            <a:off x="0" y="1003925"/>
            <a:ext cx="169629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 dirty="0"/>
              <a:t>Enterococcus</a:t>
            </a:r>
          </a:p>
          <a:p>
            <a:r>
              <a:rPr lang="en-US" sz="1800" i="1" dirty="0" err="1"/>
              <a:t>faecium</a:t>
            </a:r>
            <a:r>
              <a:rPr lang="en-US" sz="1800" i="1" dirty="0"/>
              <a:t> </a:t>
            </a:r>
            <a:r>
              <a:rPr lang="en-US" sz="1800" dirty="0"/>
              <a:t>(VRE)</a:t>
            </a:r>
          </a:p>
        </p:txBody>
      </p:sp>
      <p:sp>
        <p:nvSpPr>
          <p:cNvPr id="104453" name="TextBox 9"/>
          <p:cNvSpPr txBox="1">
            <a:spLocks noChangeArrowheads="1"/>
          </p:cNvSpPr>
          <p:nvPr/>
        </p:nvSpPr>
        <p:spPr bwMode="auto">
          <a:xfrm>
            <a:off x="1524000" y="4267201"/>
            <a:ext cx="161223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Staph aureus</a:t>
            </a:r>
          </a:p>
          <a:p>
            <a:r>
              <a:rPr lang="en-US" sz="1800"/>
              <a:t>(MSSA)</a:t>
            </a:r>
          </a:p>
        </p:txBody>
      </p:sp>
      <p:sp>
        <p:nvSpPr>
          <p:cNvPr id="104454" name="TextBox 10"/>
          <p:cNvSpPr txBox="1">
            <a:spLocks noChangeArrowheads="1"/>
          </p:cNvSpPr>
          <p:nvPr/>
        </p:nvSpPr>
        <p:spPr bwMode="auto">
          <a:xfrm>
            <a:off x="457200" y="5209401"/>
            <a:ext cx="161223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 dirty="0"/>
              <a:t>Staph </a:t>
            </a:r>
            <a:r>
              <a:rPr lang="en-US" sz="1800" i="1" dirty="0" err="1"/>
              <a:t>aureus</a:t>
            </a:r>
            <a:endParaRPr lang="en-US" sz="1800" i="1" dirty="0"/>
          </a:p>
          <a:p>
            <a:r>
              <a:rPr lang="en-US" sz="1800" dirty="0"/>
              <a:t>(MRSA)</a:t>
            </a:r>
          </a:p>
        </p:txBody>
      </p:sp>
      <p:sp>
        <p:nvSpPr>
          <p:cNvPr id="104455" name="TextBox 11"/>
          <p:cNvSpPr txBox="1">
            <a:spLocks noChangeArrowheads="1"/>
          </p:cNvSpPr>
          <p:nvPr/>
        </p:nvSpPr>
        <p:spPr bwMode="auto">
          <a:xfrm>
            <a:off x="5029489" y="2667001"/>
            <a:ext cx="108553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Proteus</a:t>
            </a:r>
          </a:p>
          <a:p>
            <a:r>
              <a:rPr lang="en-US" sz="1800" i="1"/>
              <a:t>mirabilis</a:t>
            </a:r>
          </a:p>
        </p:txBody>
      </p:sp>
      <p:sp>
        <p:nvSpPr>
          <p:cNvPr id="104456" name="TextBox 12"/>
          <p:cNvSpPr txBox="1">
            <a:spLocks noChangeArrowheads="1"/>
          </p:cNvSpPr>
          <p:nvPr/>
        </p:nvSpPr>
        <p:spPr bwMode="auto">
          <a:xfrm>
            <a:off x="5791489" y="2438400"/>
            <a:ext cx="86766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E. coli</a:t>
            </a:r>
          </a:p>
        </p:txBody>
      </p:sp>
      <p:sp>
        <p:nvSpPr>
          <p:cNvPr id="104457" name="TextBox 13"/>
          <p:cNvSpPr txBox="1">
            <a:spLocks noChangeArrowheads="1"/>
          </p:cNvSpPr>
          <p:nvPr/>
        </p:nvSpPr>
        <p:spPr bwMode="auto">
          <a:xfrm>
            <a:off x="6248977" y="1905001"/>
            <a:ext cx="151160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Klebsiella</a:t>
            </a:r>
          </a:p>
          <a:p>
            <a:r>
              <a:rPr lang="en-US" sz="1800" i="1"/>
              <a:t>pneumoniae</a:t>
            </a:r>
          </a:p>
        </p:txBody>
      </p:sp>
      <p:sp>
        <p:nvSpPr>
          <p:cNvPr id="104458" name="TextBox 14"/>
          <p:cNvSpPr txBox="1">
            <a:spLocks noChangeArrowheads="1"/>
          </p:cNvSpPr>
          <p:nvPr/>
        </p:nvSpPr>
        <p:spPr bwMode="auto">
          <a:xfrm>
            <a:off x="7010977" y="5486400"/>
            <a:ext cx="171479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Pseudomonas</a:t>
            </a:r>
          </a:p>
        </p:txBody>
      </p:sp>
      <p:sp>
        <p:nvSpPr>
          <p:cNvPr id="104459" name="TextBox 16"/>
          <p:cNvSpPr txBox="1">
            <a:spLocks noChangeArrowheads="1"/>
          </p:cNvSpPr>
          <p:nvPr/>
        </p:nvSpPr>
        <p:spPr bwMode="auto">
          <a:xfrm>
            <a:off x="6705023" y="3581401"/>
            <a:ext cx="167697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H. influenzae</a:t>
            </a:r>
          </a:p>
        </p:txBody>
      </p:sp>
      <p:sp>
        <p:nvSpPr>
          <p:cNvPr id="104461" name="TextBox 18"/>
          <p:cNvSpPr txBox="1">
            <a:spLocks noChangeArrowheads="1"/>
          </p:cNvSpPr>
          <p:nvPr/>
        </p:nvSpPr>
        <p:spPr bwMode="auto">
          <a:xfrm>
            <a:off x="7239000" y="1600200"/>
            <a:ext cx="104732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Serratia</a:t>
            </a:r>
          </a:p>
        </p:txBody>
      </p:sp>
      <p:sp>
        <p:nvSpPr>
          <p:cNvPr id="104462" name="TextBox 19"/>
          <p:cNvSpPr txBox="1">
            <a:spLocks noChangeArrowheads="1"/>
          </p:cNvSpPr>
          <p:nvPr/>
        </p:nvSpPr>
        <p:spPr bwMode="auto">
          <a:xfrm>
            <a:off x="5638512" y="4724401"/>
            <a:ext cx="213446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Enterobacter spp</a:t>
            </a:r>
          </a:p>
        </p:txBody>
      </p:sp>
      <p:sp>
        <p:nvSpPr>
          <p:cNvPr id="104463" name="TextBox 21"/>
          <p:cNvSpPr txBox="1">
            <a:spLocks noChangeArrowheads="1"/>
          </p:cNvSpPr>
          <p:nvPr/>
        </p:nvSpPr>
        <p:spPr bwMode="auto">
          <a:xfrm>
            <a:off x="4419023" y="5257801"/>
            <a:ext cx="145804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Bacteroides</a:t>
            </a:r>
          </a:p>
          <a:p>
            <a:r>
              <a:rPr lang="en-US" sz="1800" i="1"/>
              <a:t> fragilis</a:t>
            </a:r>
          </a:p>
        </p:txBody>
      </p:sp>
      <p:sp>
        <p:nvSpPr>
          <p:cNvPr id="46101" name="Oval 23"/>
          <p:cNvSpPr>
            <a:spLocks noChangeArrowheads="1"/>
          </p:cNvSpPr>
          <p:nvPr/>
        </p:nvSpPr>
        <p:spPr bwMode="auto">
          <a:xfrm rot="10597553">
            <a:off x="3834191" y="3429362"/>
            <a:ext cx="3793019" cy="1027112"/>
          </a:xfrm>
          <a:prstGeom prst="ellipse">
            <a:avLst/>
          </a:prstGeom>
          <a:solidFill>
            <a:srgbClr val="FF0000">
              <a:alpha val="27059"/>
            </a:srgb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ea typeface="ＭＳ Ｐゴシック" charset="-128"/>
              <a:cs typeface="ＭＳ Ｐゴシック" charset="-128"/>
            </a:endParaRPr>
          </a:p>
        </p:txBody>
      </p:sp>
      <p:sp>
        <p:nvSpPr>
          <p:cNvPr id="104468" name="TextBox 30"/>
          <p:cNvSpPr txBox="1">
            <a:spLocks noChangeArrowheads="1"/>
          </p:cNvSpPr>
          <p:nvPr/>
        </p:nvSpPr>
        <p:spPr bwMode="auto">
          <a:xfrm>
            <a:off x="4038023" y="3657601"/>
            <a:ext cx="1552854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2000" b="1"/>
              <a:t>Ampicillin</a:t>
            </a:r>
          </a:p>
          <a:p>
            <a:r>
              <a:rPr lang="en-US" sz="2000" b="1"/>
              <a:t>Amoxicillin</a:t>
            </a:r>
            <a:endParaRPr lang="en-US"/>
          </a:p>
        </p:txBody>
      </p:sp>
      <p:sp>
        <p:nvSpPr>
          <p:cNvPr id="104469" name="TextBox 4"/>
          <p:cNvSpPr txBox="1">
            <a:spLocks noChangeArrowheads="1"/>
          </p:cNvSpPr>
          <p:nvPr/>
        </p:nvSpPr>
        <p:spPr bwMode="auto">
          <a:xfrm>
            <a:off x="1939636" y="2743200"/>
            <a:ext cx="179189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S. pneumoniae</a:t>
            </a:r>
          </a:p>
        </p:txBody>
      </p:sp>
      <p:sp>
        <p:nvSpPr>
          <p:cNvPr id="48148" name="Oval 35"/>
          <p:cNvSpPr>
            <a:spLocks noChangeArrowheads="1"/>
          </p:cNvSpPr>
          <p:nvPr/>
        </p:nvSpPr>
        <p:spPr bwMode="auto">
          <a:xfrm rot="1822415">
            <a:off x="822689" y="2300422"/>
            <a:ext cx="4267488" cy="1538287"/>
          </a:xfrm>
          <a:prstGeom prst="ellipse">
            <a:avLst/>
          </a:prstGeom>
          <a:solidFill>
            <a:srgbClr val="FF0000">
              <a:alpha val="50196"/>
            </a:srgb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ea typeface="ＭＳ Ｐゴシック" charset="-128"/>
              <a:cs typeface="ＭＳ Ｐゴシック" charset="-128"/>
            </a:endParaRPr>
          </a:p>
        </p:txBody>
      </p:sp>
      <p:sp>
        <p:nvSpPr>
          <p:cNvPr id="23" name="Oval 23"/>
          <p:cNvSpPr>
            <a:spLocks noChangeArrowheads="1"/>
          </p:cNvSpPr>
          <p:nvPr/>
        </p:nvSpPr>
        <p:spPr bwMode="auto">
          <a:xfrm rot="8130481">
            <a:off x="3911224" y="2938812"/>
            <a:ext cx="2142297" cy="1271296"/>
          </a:xfrm>
          <a:prstGeom prst="ellipse">
            <a:avLst/>
          </a:prstGeom>
          <a:solidFill>
            <a:srgbClr val="FF0000">
              <a:alpha val="10980"/>
            </a:srgb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ea typeface="ＭＳ Ｐゴシック" charset="-128"/>
              <a:cs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002750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8"/>
          <p:cNvSpPr>
            <a:spLocks noChangeArrowheads="1"/>
          </p:cNvSpPr>
          <p:nvPr/>
        </p:nvSpPr>
        <p:spPr bwMode="auto">
          <a:xfrm>
            <a:off x="0" y="-228600"/>
            <a:ext cx="9144000" cy="7086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  <a:p>
            <a:r>
              <a:rPr lang="en-US"/>
              <a:t>Gram-positive                                                           Gram-negative</a:t>
            </a:r>
          </a:p>
        </p:txBody>
      </p:sp>
      <p:sp>
        <p:nvSpPr>
          <p:cNvPr id="72706" name="TextBox 3"/>
          <p:cNvSpPr txBox="1">
            <a:spLocks noChangeArrowheads="1"/>
          </p:cNvSpPr>
          <p:nvPr/>
        </p:nvSpPr>
        <p:spPr bwMode="auto">
          <a:xfrm>
            <a:off x="2514023" y="3352800"/>
            <a:ext cx="185602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Strep pyogenes</a:t>
            </a:r>
          </a:p>
        </p:txBody>
      </p:sp>
      <p:sp>
        <p:nvSpPr>
          <p:cNvPr id="72707" name="TextBox 6"/>
          <p:cNvSpPr txBox="1">
            <a:spLocks noChangeArrowheads="1"/>
          </p:cNvSpPr>
          <p:nvPr/>
        </p:nvSpPr>
        <p:spPr bwMode="auto">
          <a:xfrm>
            <a:off x="1143000" y="1828801"/>
            <a:ext cx="163759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Enterococcus</a:t>
            </a:r>
          </a:p>
          <a:p>
            <a:r>
              <a:rPr lang="en-US" sz="1800" i="1"/>
              <a:t>faecalis</a:t>
            </a:r>
          </a:p>
        </p:txBody>
      </p:sp>
      <p:sp>
        <p:nvSpPr>
          <p:cNvPr id="72708" name="TextBox 7"/>
          <p:cNvSpPr txBox="1">
            <a:spLocks noChangeArrowheads="1"/>
          </p:cNvSpPr>
          <p:nvPr/>
        </p:nvSpPr>
        <p:spPr bwMode="auto">
          <a:xfrm>
            <a:off x="0" y="533401"/>
            <a:ext cx="169629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Enterococcus</a:t>
            </a:r>
          </a:p>
          <a:p>
            <a:r>
              <a:rPr lang="en-US" sz="1800" i="1"/>
              <a:t>faecium </a:t>
            </a:r>
            <a:r>
              <a:rPr lang="en-US" sz="1800"/>
              <a:t>(VRE)</a:t>
            </a:r>
          </a:p>
        </p:txBody>
      </p:sp>
      <p:sp>
        <p:nvSpPr>
          <p:cNvPr id="72709" name="TextBox 9"/>
          <p:cNvSpPr txBox="1">
            <a:spLocks noChangeArrowheads="1"/>
          </p:cNvSpPr>
          <p:nvPr/>
        </p:nvSpPr>
        <p:spPr bwMode="auto">
          <a:xfrm>
            <a:off x="1524000" y="4267201"/>
            <a:ext cx="161223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Staph aureus</a:t>
            </a:r>
          </a:p>
          <a:p>
            <a:r>
              <a:rPr lang="en-US" sz="1800"/>
              <a:t>(MSSA)</a:t>
            </a:r>
          </a:p>
        </p:txBody>
      </p:sp>
      <p:sp>
        <p:nvSpPr>
          <p:cNvPr id="72710" name="TextBox 10"/>
          <p:cNvSpPr txBox="1">
            <a:spLocks noChangeArrowheads="1"/>
          </p:cNvSpPr>
          <p:nvPr/>
        </p:nvSpPr>
        <p:spPr bwMode="auto">
          <a:xfrm>
            <a:off x="0" y="5562601"/>
            <a:ext cx="161223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Staph aureus</a:t>
            </a:r>
          </a:p>
          <a:p>
            <a:r>
              <a:rPr lang="en-US" sz="1800"/>
              <a:t>(MRSA)</a:t>
            </a:r>
          </a:p>
        </p:txBody>
      </p:sp>
      <p:sp>
        <p:nvSpPr>
          <p:cNvPr id="72711" name="TextBox 11"/>
          <p:cNvSpPr txBox="1">
            <a:spLocks noChangeArrowheads="1"/>
          </p:cNvSpPr>
          <p:nvPr/>
        </p:nvSpPr>
        <p:spPr bwMode="auto">
          <a:xfrm>
            <a:off x="5029489" y="2667001"/>
            <a:ext cx="108553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Proteus</a:t>
            </a:r>
          </a:p>
          <a:p>
            <a:r>
              <a:rPr lang="en-US" sz="1800" i="1"/>
              <a:t>mirabilis</a:t>
            </a:r>
          </a:p>
        </p:txBody>
      </p:sp>
      <p:sp>
        <p:nvSpPr>
          <p:cNvPr id="72712" name="TextBox 12"/>
          <p:cNvSpPr txBox="1">
            <a:spLocks noChangeArrowheads="1"/>
          </p:cNvSpPr>
          <p:nvPr/>
        </p:nvSpPr>
        <p:spPr bwMode="auto">
          <a:xfrm>
            <a:off x="5791489" y="2438400"/>
            <a:ext cx="86766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E. coli</a:t>
            </a:r>
          </a:p>
        </p:txBody>
      </p:sp>
      <p:sp>
        <p:nvSpPr>
          <p:cNvPr id="72713" name="TextBox 13"/>
          <p:cNvSpPr txBox="1">
            <a:spLocks noChangeArrowheads="1"/>
          </p:cNvSpPr>
          <p:nvPr/>
        </p:nvSpPr>
        <p:spPr bwMode="auto">
          <a:xfrm>
            <a:off x="6248977" y="1905001"/>
            <a:ext cx="151160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Klebsiella</a:t>
            </a:r>
          </a:p>
          <a:p>
            <a:r>
              <a:rPr lang="en-US" sz="1800" i="1"/>
              <a:t>pneumoniae</a:t>
            </a:r>
          </a:p>
        </p:txBody>
      </p:sp>
      <p:sp>
        <p:nvSpPr>
          <p:cNvPr id="72714" name="TextBox 14"/>
          <p:cNvSpPr txBox="1">
            <a:spLocks noChangeArrowheads="1"/>
          </p:cNvSpPr>
          <p:nvPr/>
        </p:nvSpPr>
        <p:spPr bwMode="auto">
          <a:xfrm>
            <a:off x="7010977" y="5486400"/>
            <a:ext cx="171479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Pseudomonas</a:t>
            </a:r>
          </a:p>
        </p:txBody>
      </p:sp>
      <p:sp>
        <p:nvSpPr>
          <p:cNvPr id="72715" name="TextBox 16"/>
          <p:cNvSpPr txBox="1">
            <a:spLocks noChangeArrowheads="1"/>
          </p:cNvSpPr>
          <p:nvPr/>
        </p:nvSpPr>
        <p:spPr bwMode="auto">
          <a:xfrm>
            <a:off x="6705023" y="3581401"/>
            <a:ext cx="167697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H. influenzae</a:t>
            </a:r>
          </a:p>
        </p:txBody>
      </p:sp>
      <p:sp>
        <p:nvSpPr>
          <p:cNvPr id="72717" name="TextBox 18"/>
          <p:cNvSpPr txBox="1">
            <a:spLocks noChangeArrowheads="1"/>
          </p:cNvSpPr>
          <p:nvPr/>
        </p:nvSpPr>
        <p:spPr bwMode="auto">
          <a:xfrm>
            <a:off x="7239000" y="1600200"/>
            <a:ext cx="104732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Serratia</a:t>
            </a:r>
          </a:p>
        </p:txBody>
      </p:sp>
      <p:sp>
        <p:nvSpPr>
          <p:cNvPr id="72718" name="TextBox 19"/>
          <p:cNvSpPr txBox="1">
            <a:spLocks noChangeArrowheads="1"/>
          </p:cNvSpPr>
          <p:nvPr/>
        </p:nvSpPr>
        <p:spPr bwMode="auto">
          <a:xfrm>
            <a:off x="5638512" y="4724401"/>
            <a:ext cx="213446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Enterobacter spp</a:t>
            </a:r>
          </a:p>
        </p:txBody>
      </p:sp>
      <p:sp>
        <p:nvSpPr>
          <p:cNvPr id="72719" name="TextBox 21"/>
          <p:cNvSpPr txBox="1">
            <a:spLocks noChangeArrowheads="1"/>
          </p:cNvSpPr>
          <p:nvPr/>
        </p:nvSpPr>
        <p:spPr bwMode="auto">
          <a:xfrm>
            <a:off x="4419023" y="5257801"/>
            <a:ext cx="145804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Bacteroides</a:t>
            </a:r>
          </a:p>
          <a:p>
            <a:r>
              <a:rPr lang="en-US" sz="1800" i="1"/>
              <a:t> fragilis</a:t>
            </a:r>
          </a:p>
        </p:txBody>
      </p:sp>
      <p:sp>
        <p:nvSpPr>
          <p:cNvPr id="72720" name="Oval 24"/>
          <p:cNvSpPr>
            <a:spLocks noChangeArrowheads="1"/>
          </p:cNvSpPr>
          <p:nvPr/>
        </p:nvSpPr>
        <p:spPr bwMode="auto">
          <a:xfrm rot="20642255">
            <a:off x="993378" y="3922936"/>
            <a:ext cx="3769415" cy="796925"/>
          </a:xfrm>
          <a:prstGeom prst="ellipse">
            <a:avLst/>
          </a:prstGeom>
          <a:solidFill>
            <a:srgbClr val="008000">
              <a:alpha val="47843"/>
            </a:srgb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2722" name="TextBox 4"/>
          <p:cNvSpPr txBox="1">
            <a:spLocks noChangeArrowheads="1"/>
          </p:cNvSpPr>
          <p:nvPr/>
        </p:nvSpPr>
        <p:spPr bwMode="auto">
          <a:xfrm>
            <a:off x="1939636" y="2743200"/>
            <a:ext cx="179189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S. pneumoniae</a:t>
            </a:r>
          </a:p>
        </p:txBody>
      </p:sp>
      <p:sp>
        <p:nvSpPr>
          <p:cNvPr id="22" name="Oval 23"/>
          <p:cNvSpPr>
            <a:spLocks noChangeArrowheads="1"/>
          </p:cNvSpPr>
          <p:nvPr/>
        </p:nvSpPr>
        <p:spPr bwMode="auto">
          <a:xfrm rot="1358939">
            <a:off x="1759302" y="2733146"/>
            <a:ext cx="3053880" cy="1225510"/>
          </a:xfrm>
          <a:prstGeom prst="ellipse">
            <a:avLst/>
          </a:prstGeom>
          <a:solidFill>
            <a:srgbClr val="008000">
              <a:alpha val="47843"/>
            </a:srgb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ea typeface="ＭＳ Ｐゴシック" charset="-128"/>
              <a:cs typeface="ＭＳ Ｐゴシック" charset="-128"/>
            </a:endParaRPr>
          </a:p>
        </p:txBody>
      </p:sp>
      <p:sp>
        <p:nvSpPr>
          <p:cNvPr id="72721" name="TextBox 30"/>
          <p:cNvSpPr txBox="1">
            <a:spLocks noChangeArrowheads="1"/>
          </p:cNvSpPr>
          <p:nvPr/>
        </p:nvSpPr>
        <p:spPr bwMode="auto">
          <a:xfrm>
            <a:off x="4038023" y="3657600"/>
            <a:ext cx="118228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2000" b="1" dirty="0" err="1"/>
              <a:t>Nafcillin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05329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69" name="Rectangle 8"/>
          <p:cNvSpPr>
            <a:spLocks noChangeArrowheads="1"/>
          </p:cNvSpPr>
          <p:nvPr/>
        </p:nvSpPr>
        <p:spPr bwMode="auto">
          <a:xfrm>
            <a:off x="0" y="-228600"/>
            <a:ext cx="9144000" cy="7086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  <a:p>
            <a:r>
              <a:rPr lang="en-US"/>
              <a:t>Gram-positive                                                           Gram-negative</a:t>
            </a:r>
          </a:p>
        </p:txBody>
      </p:sp>
      <p:sp>
        <p:nvSpPr>
          <p:cNvPr id="109570" name="TextBox 3"/>
          <p:cNvSpPr txBox="1">
            <a:spLocks noChangeArrowheads="1"/>
          </p:cNvSpPr>
          <p:nvPr/>
        </p:nvSpPr>
        <p:spPr bwMode="auto">
          <a:xfrm>
            <a:off x="2514023" y="3352800"/>
            <a:ext cx="185602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Strep pyogenes</a:t>
            </a:r>
          </a:p>
        </p:txBody>
      </p:sp>
      <p:sp>
        <p:nvSpPr>
          <p:cNvPr id="109571" name="TextBox 6"/>
          <p:cNvSpPr txBox="1">
            <a:spLocks noChangeArrowheads="1"/>
          </p:cNvSpPr>
          <p:nvPr/>
        </p:nvSpPr>
        <p:spPr bwMode="auto">
          <a:xfrm>
            <a:off x="1143000" y="1828801"/>
            <a:ext cx="163759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Enterococcus</a:t>
            </a:r>
          </a:p>
          <a:p>
            <a:r>
              <a:rPr lang="en-US" sz="1800" i="1"/>
              <a:t>faecalis</a:t>
            </a:r>
          </a:p>
        </p:txBody>
      </p:sp>
      <p:sp>
        <p:nvSpPr>
          <p:cNvPr id="109572" name="TextBox 7"/>
          <p:cNvSpPr txBox="1">
            <a:spLocks noChangeArrowheads="1"/>
          </p:cNvSpPr>
          <p:nvPr/>
        </p:nvSpPr>
        <p:spPr bwMode="auto">
          <a:xfrm>
            <a:off x="0" y="533401"/>
            <a:ext cx="169629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Enterococcus</a:t>
            </a:r>
          </a:p>
          <a:p>
            <a:r>
              <a:rPr lang="en-US" sz="1800" i="1"/>
              <a:t>faecium </a:t>
            </a:r>
            <a:r>
              <a:rPr lang="en-US" sz="1800"/>
              <a:t>(VRE)</a:t>
            </a:r>
          </a:p>
        </p:txBody>
      </p:sp>
      <p:sp>
        <p:nvSpPr>
          <p:cNvPr id="109573" name="TextBox 9"/>
          <p:cNvSpPr txBox="1">
            <a:spLocks noChangeArrowheads="1"/>
          </p:cNvSpPr>
          <p:nvPr/>
        </p:nvSpPr>
        <p:spPr bwMode="auto">
          <a:xfrm>
            <a:off x="1524000" y="4267201"/>
            <a:ext cx="161223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Staph aureus</a:t>
            </a:r>
          </a:p>
          <a:p>
            <a:r>
              <a:rPr lang="en-US" sz="1800"/>
              <a:t>(MSSA)</a:t>
            </a:r>
          </a:p>
        </p:txBody>
      </p:sp>
      <p:sp>
        <p:nvSpPr>
          <p:cNvPr id="109574" name="TextBox 10"/>
          <p:cNvSpPr txBox="1">
            <a:spLocks noChangeArrowheads="1"/>
          </p:cNvSpPr>
          <p:nvPr/>
        </p:nvSpPr>
        <p:spPr bwMode="auto">
          <a:xfrm>
            <a:off x="0" y="5562601"/>
            <a:ext cx="161223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Staph aureus</a:t>
            </a:r>
          </a:p>
          <a:p>
            <a:r>
              <a:rPr lang="en-US" sz="1800"/>
              <a:t>(MRSA)</a:t>
            </a:r>
          </a:p>
        </p:txBody>
      </p:sp>
      <p:sp>
        <p:nvSpPr>
          <p:cNvPr id="109575" name="TextBox 11"/>
          <p:cNvSpPr txBox="1">
            <a:spLocks noChangeArrowheads="1"/>
          </p:cNvSpPr>
          <p:nvPr/>
        </p:nvSpPr>
        <p:spPr bwMode="auto">
          <a:xfrm>
            <a:off x="5029489" y="2667001"/>
            <a:ext cx="108553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Proteus</a:t>
            </a:r>
          </a:p>
          <a:p>
            <a:r>
              <a:rPr lang="en-US" sz="1800" i="1"/>
              <a:t>mirabilis</a:t>
            </a:r>
          </a:p>
        </p:txBody>
      </p:sp>
      <p:sp>
        <p:nvSpPr>
          <p:cNvPr id="109576" name="TextBox 12"/>
          <p:cNvSpPr txBox="1">
            <a:spLocks noChangeArrowheads="1"/>
          </p:cNvSpPr>
          <p:nvPr/>
        </p:nvSpPr>
        <p:spPr bwMode="auto">
          <a:xfrm>
            <a:off x="5791489" y="2438400"/>
            <a:ext cx="86766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E. coli</a:t>
            </a:r>
          </a:p>
        </p:txBody>
      </p:sp>
      <p:sp>
        <p:nvSpPr>
          <p:cNvPr id="109577" name="TextBox 13"/>
          <p:cNvSpPr txBox="1">
            <a:spLocks noChangeArrowheads="1"/>
          </p:cNvSpPr>
          <p:nvPr/>
        </p:nvSpPr>
        <p:spPr bwMode="auto">
          <a:xfrm>
            <a:off x="6248977" y="1905001"/>
            <a:ext cx="151160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Klebsiella</a:t>
            </a:r>
          </a:p>
          <a:p>
            <a:r>
              <a:rPr lang="en-US" sz="1800" i="1"/>
              <a:t>pneumoniae</a:t>
            </a:r>
          </a:p>
        </p:txBody>
      </p:sp>
      <p:sp>
        <p:nvSpPr>
          <p:cNvPr id="109578" name="TextBox 14"/>
          <p:cNvSpPr txBox="1">
            <a:spLocks noChangeArrowheads="1"/>
          </p:cNvSpPr>
          <p:nvPr/>
        </p:nvSpPr>
        <p:spPr bwMode="auto">
          <a:xfrm>
            <a:off x="7010977" y="5486400"/>
            <a:ext cx="171479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Pseudomonas</a:t>
            </a:r>
          </a:p>
        </p:txBody>
      </p:sp>
      <p:sp>
        <p:nvSpPr>
          <p:cNvPr id="109579" name="TextBox 16"/>
          <p:cNvSpPr txBox="1">
            <a:spLocks noChangeArrowheads="1"/>
          </p:cNvSpPr>
          <p:nvPr/>
        </p:nvSpPr>
        <p:spPr bwMode="auto">
          <a:xfrm>
            <a:off x="6705023" y="3581401"/>
            <a:ext cx="167697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H. influenzae</a:t>
            </a:r>
          </a:p>
        </p:txBody>
      </p:sp>
      <p:sp>
        <p:nvSpPr>
          <p:cNvPr id="109581" name="TextBox 18"/>
          <p:cNvSpPr txBox="1">
            <a:spLocks noChangeArrowheads="1"/>
          </p:cNvSpPr>
          <p:nvPr/>
        </p:nvSpPr>
        <p:spPr bwMode="auto">
          <a:xfrm>
            <a:off x="7239000" y="1600200"/>
            <a:ext cx="104732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Serratia</a:t>
            </a:r>
          </a:p>
        </p:txBody>
      </p:sp>
      <p:sp>
        <p:nvSpPr>
          <p:cNvPr id="109582" name="TextBox 19"/>
          <p:cNvSpPr txBox="1">
            <a:spLocks noChangeArrowheads="1"/>
          </p:cNvSpPr>
          <p:nvPr/>
        </p:nvSpPr>
        <p:spPr bwMode="auto">
          <a:xfrm>
            <a:off x="5638512" y="4724401"/>
            <a:ext cx="213446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Enterobacter spp</a:t>
            </a:r>
          </a:p>
        </p:txBody>
      </p:sp>
      <p:sp>
        <p:nvSpPr>
          <p:cNvPr id="109583" name="TextBox 21"/>
          <p:cNvSpPr txBox="1">
            <a:spLocks noChangeArrowheads="1"/>
          </p:cNvSpPr>
          <p:nvPr/>
        </p:nvSpPr>
        <p:spPr bwMode="auto">
          <a:xfrm>
            <a:off x="4419023" y="5257801"/>
            <a:ext cx="145804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Bacteroides</a:t>
            </a:r>
          </a:p>
          <a:p>
            <a:r>
              <a:rPr lang="en-US" sz="1800" i="1"/>
              <a:t> fragilis</a:t>
            </a:r>
          </a:p>
        </p:txBody>
      </p:sp>
      <p:sp>
        <p:nvSpPr>
          <p:cNvPr id="109584" name="Oval 23"/>
          <p:cNvSpPr>
            <a:spLocks noChangeArrowheads="1"/>
          </p:cNvSpPr>
          <p:nvPr/>
        </p:nvSpPr>
        <p:spPr bwMode="auto">
          <a:xfrm rot="10597553">
            <a:off x="4371399" y="3237641"/>
            <a:ext cx="4289136" cy="1281113"/>
          </a:xfrm>
          <a:prstGeom prst="ellipse">
            <a:avLst/>
          </a:prstGeom>
          <a:solidFill>
            <a:srgbClr val="FF0000">
              <a:alpha val="50195"/>
            </a:srgbClr>
          </a:solidFill>
          <a:ln w="9525">
            <a:noFill/>
            <a:round/>
            <a:headEnd/>
            <a:tailEnd/>
          </a:ln>
        </p:spPr>
        <p:txBody>
          <a:bodyPr rot="10800000"/>
          <a:lstStyle/>
          <a:p>
            <a:endParaRPr lang="en-US"/>
          </a:p>
        </p:txBody>
      </p:sp>
      <p:sp>
        <p:nvSpPr>
          <p:cNvPr id="109586" name="Oval 24"/>
          <p:cNvSpPr>
            <a:spLocks noChangeArrowheads="1"/>
          </p:cNvSpPr>
          <p:nvPr/>
        </p:nvSpPr>
        <p:spPr bwMode="auto">
          <a:xfrm rot="10476590">
            <a:off x="987136" y="3860800"/>
            <a:ext cx="3990398" cy="1181100"/>
          </a:xfrm>
          <a:prstGeom prst="ellipse">
            <a:avLst/>
          </a:prstGeom>
          <a:solidFill>
            <a:srgbClr val="FF0000">
              <a:alpha val="50195"/>
            </a:srgb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9587" name="Oval 25"/>
          <p:cNvSpPr>
            <a:spLocks noChangeArrowheads="1"/>
          </p:cNvSpPr>
          <p:nvPr/>
        </p:nvSpPr>
        <p:spPr bwMode="auto">
          <a:xfrm rot="10270976">
            <a:off x="4223154" y="3648294"/>
            <a:ext cx="1382568" cy="2530475"/>
          </a:xfrm>
          <a:prstGeom prst="ellipse">
            <a:avLst/>
          </a:prstGeom>
          <a:solidFill>
            <a:srgbClr val="FF0000">
              <a:alpha val="50195"/>
            </a:srgb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9589" name="TextBox 4"/>
          <p:cNvSpPr txBox="1">
            <a:spLocks noChangeArrowheads="1"/>
          </p:cNvSpPr>
          <p:nvPr/>
        </p:nvSpPr>
        <p:spPr bwMode="auto">
          <a:xfrm>
            <a:off x="1939636" y="2743200"/>
            <a:ext cx="179189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S. pneumoniae</a:t>
            </a:r>
          </a:p>
        </p:txBody>
      </p:sp>
      <p:sp>
        <p:nvSpPr>
          <p:cNvPr id="25" name="Oval 23"/>
          <p:cNvSpPr>
            <a:spLocks noChangeArrowheads="1"/>
          </p:cNvSpPr>
          <p:nvPr/>
        </p:nvSpPr>
        <p:spPr bwMode="auto">
          <a:xfrm rot="8418335">
            <a:off x="3987449" y="2589073"/>
            <a:ext cx="3539275" cy="1281113"/>
          </a:xfrm>
          <a:prstGeom prst="ellipse">
            <a:avLst/>
          </a:prstGeom>
          <a:solidFill>
            <a:srgbClr val="FF0000">
              <a:alpha val="50195"/>
            </a:srgbClr>
          </a:solidFill>
          <a:ln w="9525">
            <a:noFill/>
            <a:round/>
            <a:headEnd/>
            <a:tailEnd/>
          </a:ln>
        </p:spPr>
        <p:txBody>
          <a:bodyPr rot="10800000"/>
          <a:lstStyle/>
          <a:p>
            <a:endParaRPr lang="en-US"/>
          </a:p>
        </p:txBody>
      </p:sp>
      <p:sp>
        <p:nvSpPr>
          <p:cNvPr id="27" name="Oval 23"/>
          <p:cNvSpPr>
            <a:spLocks noChangeArrowheads="1"/>
          </p:cNvSpPr>
          <p:nvPr/>
        </p:nvSpPr>
        <p:spPr bwMode="auto">
          <a:xfrm rot="1970315">
            <a:off x="843517" y="2178925"/>
            <a:ext cx="4369602" cy="1549987"/>
          </a:xfrm>
          <a:prstGeom prst="ellipse">
            <a:avLst/>
          </a:prstGeom>
          <a:solidFill>
            <a:srgbClr val="FF0000">
              <a:alpha val="50195"/>
            </a:srgbClr>
          </a:solidFill>
          <a:ln w="9525">
            <a:noFill/>
            <a:round/>
            <a:headEnd/>
            <a:tailEnd/>
          </a:ln>
        </p:spPr>
        <p:txBody>
          <a:bodyPr rot="10800000"/>
          <a:lstStyle/>
          <a:p>
            <a:endParaRPr lang="en-US"/>
          </a:p>
        </p:txBody>
      </p:sp>
      <p:sp>
        <p:nvSpPr>
          <p:cNvPr id="109588" name="TextBox 30"/>
          <p:cNvSpPr txBox="1">
            <a:spLocks noChangeArrowheads="1"/>
          </p:cNvSpPr>
          <p:nvPr/>
        </p:nvSpPr>
        <p:spPr bwMode="auto">
          <a:xfrm>
            <a:off x="3124489" y="3657601"/>
            <a:ext cx="3021230" cy="707886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/>
            <a:r>
              <a:rPr lang="en-US" sz="2000" b="1" dirty="0"/>
              <a:t>Ampicillin/</a:t>
            </a:r>
            <a:r>
              <a:rPr lang="en-US" sz="2000" b="1" dirty="0" err="1"/>
              <a:t>sulbactam</a:t>
            </a:r>
            <a:endParaRPr lang="en-US" sz="2000" b="1" dirty="0"/>
          </a:p>
          <a:p>
            <a:pPr algn="ctr"/>
            <a:r>
              <a:rPr lang="en-US" sz="2000" b="1" dirty="0"/>
              <a:t>Amoxicillin/</a:t>
            </a:r>
            <a:r>
              <a:rPr lang="en-US" sz="2000" b="1" dirty="0" err="1"/>
              <a:t>clavulanate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32392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89" name="Rectangle 8"/>
          <p:cNvSpPr>
            <a:spLocks noChangeArrowheads="1"/>
          </p:cNvSpPr>
          <p:nvPr/>
        </p:nvSpPr>
        <p:spPr bwMode="auto">
          <a:xfrm>
            <a:off x="0" y="-228600"/>
            <a:ext cx="9144000" cy="7086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  <a:p>
            <a:r>
              <a:rPr lang="en-US"/>
              <a:t>Gram-positive                                                           Gram-negative</a:t>
            </a:r>
          </a:p>
        </p:txBody>
      </p:sp>
      <p:sp>
        <p:nvSpPr>
          <p:cNvPr id="47124" name="Oval 35"/>
          <p:cNvSpPr>
            <a:spLocks noChangeArrowheads="1"/>
          </p:cNvSpPr>
          <p:nvPr/>
        </p:nvSpPr>
        <p:spPr bwMode="auto">
          <a:xfrm rot="1822415">
            <a:off x="891961" y="2224221"/>
            <a:ext cx="4267487" cy="1538287"/>
          </a:xfrm>
          <a:prstGeom prst="ellipse">
            <a:avLst/>
          </a:prstGeom>
          <a:solidFill>
            <a:srgbClr val="816A91">
              <a:alpha val="50196"/>
            </a:srgb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ea typeface="ＭＳ Ｐゴシック" charset="-128"/>
              <a:cs typeface="ＭＳ Ｐゴシック" charset="-128"/>
            </a:endParaRPr>
          </a:p>
        </p:txBody>
      </p:sp>
      <p:sp>
        <p:nvSpPr>
          <p:cNvPr id="114690" name="TextBox 3"/>
          <p:cNvSpPr txBox="1">
            <a:spLocks noChangeArrowheads="1"/>
          </p:cNvSpPr>
          <p:nvPr/>
        </p:nvSpPr>
        <p:spPr bwMode="auto">
          <a:xfrm>
            <a:off x="2514023" y="3352800"/>
            <a:ext cx="185602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Strep pyogenes</a:t>
            </a:r>
          </a:p>
        </p:txBody>
      </p:sp>
      <p:sp>
        <p:nvSpPr>
          <p:cNvPr id="114691" name="TextBox 6"/>
          <p:cNvSpPr txBox="1">
            <a:spLocks noChangeArrowheads="1"/>
          </p:cNvSpPr>
          <p:nvPr/>
        </p:nvSpPr>
        <p:spPr bwMode="auto">
          <a:xfrm>
            <a:off x="1143000" y="1828801"/>
            <a:ext cx="163759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Enterococcus</a:t>
            </a:r>
          </a:p>
          <a:p>
            <a:r>
              <a:rPr lang="en-US" sz="1800" i="1"/>
              <a:t>faecalis</a:t>
            </a:r>
          </a:p>
        </p:txBody>
      </p:sp>
      <p:sp>
        <p:nvSpPr>
          <p:cNvPr id="114692" name="TextBox 7"/>
          <p:cNvSpPr txBox="1">
            <a:spLocks noChangeArrowheads="1"/>
          </p:cNvSpPr>
          <p:nvPr/>
        </p:nvSpPr>
        <p:spPr bwMode="auto">
          <a:xfrm>
            <a:off x="0" y="533401"/>
            <a:ext cx="169629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Enterococcus</a:t>
            </a:r>
          </a:p>
          <a:p>
            <a:r>
              <a:rPr lang="en-US" sz="1800" i="1"/>
              <a:t>faecium </a:t>
            </a:r>
            <a:r>
              <a:rPr lang="en-US" sz="1800"/>
              <a:t>(VRE)</a:t>
            </a:r>
          </a:p>
        </p:txBody>
      </p:sp>
      <p:sp>
        <p:nvSpPr>
          <p:cNvPr id="114693" name="TextBox 9"/>
          <p:cNvSpPr txBox="1">
            <a:spLocks noChangeArrowheads="1"/>
          </p:cNvSpPr>
          <p:nvPr/>
        </p:nvSpPr>
        <p:spPr bwMode="auto">
          <a:xfrm>
            <a:off x="1524000" y="4267201"/>
            <a:ext cx="161223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Staph aureus</a:t>
            </a:r>
          </a:p>
          <a:p>
            <a:r>
              <a:rPr lang="en-US" sz="1800"/>
              <a:t>(MSSA)</a:t>
            </a:r>
          </a:p>
        </p:txBody>
      </p:sp>
      <p:sp>
        <p:nvSpPr>
          <p:cNvPr id="114694" name="TextBox 10"/>
          <p:cNvSpPr txBox="1">
            <a:spLocks noChangeArrowheads="1"/>
          </p:cNvSpPr>
          <p:nvPr/>
        </p:nvSpPr>
        <p:spPr bwMode="auto">
          <a:xfrm>
            <a:off x="0" y="5562601"/>
            <a:ext cx="161223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Staph aureus</a:t>
            </a:r>
          </a:p>
          <a:p>
            <a:r>
              <a:rPr lang="en-US" sz="1800"/>
              <a:t>(MRSA)</a:t>
            </a:r>
          </a:p>
        </p:txBody>
      </p:sp>
      <p:sp>
        <p:nvSpPr>
          <p:cNvPr id="114695" name="TextBox 11"/>
          <p:cNvSpPr txBox="1">
            <a:spLocks noChangeArrowheads="1"/>
          </p:cNvSpPr>
          <p:nvPr/>
        </p:nvSpPr>
        <p:spPr bwMode="auto">
          <a:xfrm>
            <a:off x="5029489" y="2667001"/>
            <a:ext cx="108553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Proteus</a:t>
            </a:r>
          </a:p>
          <a:p>
            <a:r>
              <a:rPr lang="en-US" sz="1800" i="1"/>
              <a:t>mirabilis</a:t>
            </a:r>
          </a:p>
        </p:txBody>
      </p:sp>
      <p:sp>
        <p:nvSpPr>
          <p:cNvPr id="114696" name="TextBox 12"/>
          <p:cNvSpPr txBox="1">
            <a:spLocks noChangeArrowheads="1"/>
          </p:cNvSpPr>
          <p:nvPr/>
        </p:nvSpPr>
        <p:spPr bwMode="auto">
          <a:xfrm>
            <a:off x="5791489" y="2438400"/>
            <a:ext cx="86766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E. coli</a:t>
            </a:r>
          </a:p>
        </p:txBody>
      </p:sp>
      <p:sp>
        <p:nvSpPr>
          <p:cNvPr id="114697" name="TextBox 13"/>
          <p:cNvSpPr txBox="1">
            <a:spLocks noChangeArrowheads="1"/>
          </p:cNvSpPr>
          <p:nvPr/>
        </p:nvSpPr>
        <p:spPr bwMode="auto">
          <a:xfrm>
            <a:off x="6248977" y="1905001"/>
            <a:ext cx="151160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Klebsiella</a:t>
            </a:r>
          </a:p>
          <a:p>
            <a:r>
              <a:rPr lang="en-US" sz="1800" i="1"/>
              <a:t>pneumoniae</a:t>
            </a:r>
          </a:p>
        </p:txBody>
      </p:sp>
      <p:sp>
        <p:nvSpPr>
          <p:cNvPr id="114698" name="TextBox 14"/>
          <p:cNvSpPr txBox="1">
            <a:spLocks noChangeArrowheads="1"/>
          </p:cNvSpPr>
          <p:nvPr/>
        </p:nvSpPr>
        <p:spPr bwMode="auto">
          <a:xfrm>
            <a:off x="7010977" y="5486400"/>
            <a:ext cx="171479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Pseudomonas</a:t>
            </a:r>
          </a:p>
        </p:txBody>
      </p:sp>
      <p:sp>
        <p:nvSpPr>
          <p:cNvPr id="114699" name="TextBox 16"/>
          <p:cNvSpPr txBox="1">
            <a:spLocks noChangeArrowheads="1"/>
          </p:cNvSpPr>
          <p:nvPr/>
        </p:nvSpPr>
        <p:spPr bwMode="auto">
          <a:xfrm>
            <a:off x="6705023" y="3581401"/>
            <a:ext cx="167697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H. influenzae</a:t>
            </a:r>
          </a:p>
        </p:txBody>
      </p:sp>
      <p:sp>
        <p:nvSpPr>
          <p:cNvPr id="114701" name="TextBox 18"/>
          <p:cNvSpPr txBox="1">
            <a:spLocks noChangeArrowheads="1"/>
          </p:cNvSpPr>
          <p:nvPr/>
        </p:nvSpPr>
        <p:spPr bwMode="auto">
          <a:xfrm>
            <a:off x="7239000" y="1600200"/>
            <a:ext cx="104732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Serratia</a:t>
            </a:r>
          </a:p>
        </p:txBody>
      </p:sp>
      <p:sp>
        <p:nvSpPr>
          <p:cNvPr id="114702" name="TextBox 19"/>
          <p:cNvSpPr txBox="1">
            <a:spLocks noChangeArrowheads="1"/>
          </p:cNvSpPr>
          <p:nvPr/>
        </p:nvSpPr>
        <p:spPr bwMode="auto">
          <a:xfrm>
            <a:off x="5638512" y="4724401"/>
            <a:ext cx="213446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Enterobacter spp</a:t>
            </a:r>
          </a:p>
        </p:txBody>
      </p:sp>
      <p:sp>
        <p:nvSpPr>
          <p:cNvPr id="114703" name="TextBox 21"/>
          <p:cNvSpPr txBox="1">
            <a:spLocks noChangeArrowheads="1"/>
          </p:cNvSpPr>
          <p:nvPr/>
        </p:nvSpPr>
        <p:spPr bwMode="auto">
          <a:xfrm>
            <a:off x="4419023" y="5257801"/>
            <a:ext cx="145804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Bacteroides</a:t>
            </a:r>
          </a:p>
          <a:p>
            <a:r>
              <a:rPr lang="en-US" sz="1800" i="1"/>
              <a:t> fragilis</a:t>
            </a:r>
          </a:p>
        </p:txBody>
      </p:sp>
      <p:sp>
        <p:nvSpPr>
          <p:cNvPr id="114707" name="Oval 23"/>
          <p:cNvSpPr>
            <a:spLocks noChangeArrowheads="1"/>
          </p:cNvSpPr>
          <p:nvPr/>
        </p:nvSpPr>
        <p:spPr bwMode="auto">
          <a:xfrm rot="10597553">
            <a:off x="4403398" y="3084750"/>
            <a:ext cx="4804353" cy="1274763"/>
          </a:xfrm>
          <a:prstGeom prst="ellipse">
            <a:avLst/>
          </a:prstGeom>
          <a:solidFill>
            <a:srgbClr val="816A91">
              <a:alpha val="50196"/>
            </a:srgbClr>
          </a:solidFill>
          <a:ln w="9525">
            <a:noFill/>
            <a:round/>
            <a:headEnd/>
            <a:tailEnd/>
          </a:ln>
        </p:spPr>
        <p:txBody>
          <a:bodyPr rot="10800000"/>
          <a:lstStyle/>
          <a:p>
            <a:endParaRPr lang="en-US"/>
          </a:p>
        </p:txBody>
      </p:sp>
      <p:sp>
        <p:nvSpPr>
          <p:cNvPr id="114710" name="Oval 24"/>
          <p:cNvSpPr>
            <a:spLocks noChangeArrowheads="1"/>
          </p:cNvSpPr>
          <p:nvPr/>
        </p:nvSpPr>
        <p:spPr bwMode="auto">
          <a:xfrm rot="10476590">
            <a:off x="969818" y="3810000"/>
            <a:ext cx="3990398" cy="1181100"/>
          </a:xfrm>
          <a:prstGeom prst="ellipse">
            <a:avLst/>
          </a:prstGeom>
          <a:solidFill>
            <a:srgbClr val="816A91">
              <a:alpha val="50196"/>
            </a:srgbClr>
          </a:solidFill>
          <a:ln w="9525">
            <a:noFill/>
            <a:round/>
            <a:headEnd/>
            <a:tailEnd/>
          </a:ln>
        </p:spPr>
        <p:txBody>
          <a:bodyPr rot="10800000"/>
          <a:lstStyle/>
          <a:p>
            <a:endParaRPr lang="en-US"/>
          </a:p>
        </p:txBody>
      </p:sp>
      <p:sp>
        <p:nvSpPr>
          <p:cNvPr id="114711" name="Oval 25"/>
          <p:cNvSpPr>
            <a:spLocks noChangeArrowheads="1"/>
          </p:cNvSpPr>
          <p:nvPr/>
        </p:nvSpPr>
        <p:spPr bwMode="auto">
          <a:xfrm rot="10270976">
            <a:off x="4156364" y="3810001"/>
            <a:ext cx="1382568" cy="2530475"/>
          </a:xfrm>
          <a:prstGeom prst="ellipse">
            <a:avLst/>
          </a:prstGeom>
          <a:solidFill>
            <a:srgbClr val="816A91">
              <a:alpha val="50196"/>
            </a:srgbClr>
          </a:solidFill>
          <a:ln w="9525">
            <a:noFill/>
            <a:round/>
            <a:headEnd/>
            <a:tailEnd/>
          </a:ln>
        </p:spPr>
        <p:txBody>
          <a:bodyPr rot="10800000"/>
          <a:lstStyle/>
          <a:p>
            <a:endParaRPr lang="en-US"/>
          </a:p>
        </p:txBody>
      </p:sp>
      <p:sp>
        <p:nvSpPr>
          <p:cNvPr id="114713" name="TextBox 4"/>
          <p:cNvSpPr txBox="1">
            <a:spLocks noChangeArrowheads="1"/>
          </p:cNvSpPr>
          <p:nvPr/>
        </p:nvSpPr>
        <p:spPr bwMode="auto">
          <a:xfrm>
            <a:off x="1939636" y="2743200"/>
            <a:ext cx="179189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 dirty="0"/>
              <a:t>S. </a:t>
            </a:r>
            <a:r>
              <a:rPr lang="en-US" sz="1800" i="1" dirty="0" err="1"/>
              <a:t>pneumoniae</a:t>
            </a:r>
            <a:endParaRPr lang="en-US" sz="1800" i="1" dirty="0"/>
          </a:p>
        </p:txBody>
      </p:sp>
      <p:sp>
        <p:nvSpPr>
          <p:cNvPr id="26" name="Oval 23"/>
          <p:cNvSpPr>
            <a:spLocks noChangeArrowheads="1"/>
          </p:cNvSpPr>
          <p:nvPr/>
        </p:nvSpPr>
        <p:spPr bwMode="auto">
          <a:xfrm rot="12165783">
            <a:off x="4355459" y="4388140"/>
            <a:ext cx="4804353" cy="1274763"/>
          </a:xfrm>
          <a:prstGeom prst="ellipse">
            <a:avLst/>
          </a:prstGeom>
          <a:solidFill>
            <a:srgbClr val="816A91">
              <a:alpha val="50196"/>
            </a:srgbClr>
          </a:solidFill>
          <a:ln w="9525">
            <a:noFill/>
            <a:round/>
            <a:headEnd/>
            <a:tailEnd/>
          </a:ln>
        </p:spPr>
        <p:txBody>
          <a:bodyPr rot="10800000"/>
          <a:lstStyle/>
          <a:p>
            <a:endParaRPr lang="en-US"/>
          </a:p>
        </p:txBody>
      </p:sp>
      <p:sp>
        <p:nvSpPr>
          <p:cNvPr id="27" name="Oval 23"/>
          <p:cNvSpPr>
            <a:spLocks noChangeArrowheads="1"/>
          </p:cNvSpPr>
          <p:nvPr/>
        </p:nvSpPr>
        <p:spPr bwMode="auto">
          <a:xfrm rot="8665223">
            <a:off x="3999040" y="1946353"/>
            <a:ext cx="4804353" cy="1274763"/>
          </a:xfrm>
          <a:prstGeom prst="ellipse">
            <a:avLst/>
          </a:prstGeom>
          <a:solidFill>
            <a:srgbClr val="816A91">
              <a:alpha val="50196"/>
            </a:srgbClr>
          </a:solidFill>
          <a:ln w="9525">
            <a:noFill/>
            <a:round/>
            <a:headEnd/>
            <a:tailEnd/>
          </a:ln>
        </p:spPr>
        <p:txBody>
          <a:bodyPr rot="10800000"/>
          <a:lstStyle/>
          <a:p>
            <a:endParaRPr lang="en-US"/>
          </a:p>
        </p:txBody>
      </p:sp>
      <p:sp>
        <p:nvSpPr>
          <p:cNvPr id="114712" name="TextBox 30"/>
          <p:cNvSpPr txBox="1">
            <a:spLocks noChangeArrowheads="1"/>
          </p:cNvSpPr>
          <p:nvPr/>
        </p:nvSpPr>
        <p:spPr bwMode="auto">
          <a:xfrm>
            <a:off x="4038023" y="3657601"/>
            <a:ext cx="1633781" cy="707886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/>
            <a:r>
              <a:rPr lang="en-US" sz="2000" b="1" dirty="0" err="1"/>
              <a:t>Piperacillin</a:t>
            </a:r>
            <a:r>
              <a:rPr lang="en-US" sz="2000" b="1" dirty="0"/>
              <a:t>/</a:t>
            </a:r>
          </a:p>
          <a:p>
            <a:pPr algn="ctr"/>
            <a:r>
              <a:rPr lang="en-US" sz="2000" b="1" dirty="0" err="1"/>
              <a:t>tazobactam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9080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 idx="4294967295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/>
          <a:p>
            <a:pPr algn="l"/>
            <a:endParaRPr lang="en-US" sz="4000" b="1"/>
          </a:p>
        </p:txBody>
      </p:sp>
      <p:sp>
        <p:nvSpPr>
          <p:cNvPr id="36867" name="Text Placeholder 2"/>
          <p:cNvSpPr>
            <a:spLocks noGrp="1"/>
          </p:cNvSpPr>
          <p:nvPr>
            <p:ph type="body" idx="4294967295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/>
          <a:p>
            <a:pPr marL="0" indent="0">
              <a:buFontTx/>
              <a:buNone/>
            </a:pPr>
            <a:endParaRPr lang="en-US" sz="2000">
              <a:solidFill>
                <a:srgbClr val="898989"/>
              </a:solidFill>
            </a:endParaRPr>
          </a:p>
        </p:txBody>
      </p:sp>
      <p:pic>
        <p:nvPicPr>
          <p:cNvPr id="36868" name="Picture 4" descr="http://www.textbookofbacteriology.net/B.coagulans.jpe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0"/>
            <a:ext cx="457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69" name="Picture 6" descr="http://www.healthhype.com/wp-content/uploads/staphylococcus_aureus_light_microscope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57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6"/>
          <p:cNvSpPr/>
          <p:nvPr/>
        </p:nvSpPr>
        <p:spPr>
          <a:xfrm>
            <a:off x="685800" y="6172200"/>
            <a:ext cx="3276600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GRAM POSITIVE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5181600" y="6172200"/>
            <a:ext cx="3276600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GRAM NEGATIVE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685800"/>
            <a:ext cx="4648200" cy="381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b="1" dirty="0"/>
              <a:t>1</a:t>
            </a:r>
            <a:r>
              <a:rPr lang="en-US" sz="2000" b="1" baseline="30000" dirty="0"/>
              <a:t>ST</a:t>
            </a:r>
            <a:r>
              <a:rPr lang="en-US" sz="2000" b="1" dirty="0"/>
              <a:t> Generation </a:t>
            </a:r>
            <a:r>
              <a:rPr lang="en-US" sz="2000" b="1" dirty="0" err="1"/>
              <a:t>Cephalosporins</a:t>
            </a:r>
            <a:endParaRPr lang="en-US" sz="2000" b="1" dirty="0"/>
          </a:p>
        </p:txBody>
      </p:sp>
      <p:sp>
        <p:nvSpPr>
          <p:cNvPr id="11" name="Rectangle 10"/>
          <p:cNvSpPr/>
          <p:nvPr/>
        </p:nvSpPr>
        <p:spPr>
          <a:xfrm>
            <a:off x="1600200" y="1981200"/>
            <a:ext cx="4648200" cy="381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b="1" dirty="0"/>
              <a:t>2</a:t>
            </a:r>
            <a:r>
              <a:rPr lang="en-US" sz="2000" b="1" baseline="30000" dirty="0"/>
              <a:t>nd</a:t>
            </a:r>
            <a:r>
              <a:rPr lang="en-US" sz="2000" b="1" dirty="0"/>
              <a:t>  Generation </a:t>
            </a:r>
            <a:r>
              <a:rPr lang="en-US" sz="2000" b="1" dirty="0" err="1"/>
              <a:t>Cephalosporins</a:t>
            </a:r>
            <a:endParaRPr lang="en-US" sz="2000" b="1" dirty="0"/>
          </a:p>
        </p:txBody>
      </p:sp>
      <p:sp>
        <p:nvSpPr>
          <p:cNvPr id="12" name="Rectangle 11"/>
          <p:cNvSpPr/>
          <p:nvPr/>
        </p:nvSpPr>
        <p:spPr>
          <a:xfrm>
            <a:off x="2895600" y="3352800"/>
            <a:ext cx="4648200" cy="381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b="1" dirty="0"/>
              <a:t>3</a:t>
            </a:r>
            <a:r>
              <a:rPr lang="en-US" sz="2000" b="1" baseline="30000" dirty="0"/>
              <a:t>rd</a:t>
            </a:r>
            <a:r>
              <a:rPr lang="en-US" sz="2000" b="1" dirty="0"/>
              <a:t> Generation </a:t>
            </a:r>
            <a:r>
              <a:rPr lang="en-US" sz="2000" b="1" dirty="0" err="1"/>
              <a:t>Cephalosporins</a:t>
            </a:r>
            <a:endParaRPr lang="en-US" sz="2000" b="1" dirty="0"/>
          </a:p>
        </p:txBody>
      </p:sp>
      <p:sp>
        <p:nvSpPr>
          <p:cNvPr id="13" name="Rectangle 12"/>
          <p:cNvSpPr/>
          <p:nvPr/>
        </p:nvSpPr>
        <p:spPr>
          <a:xfrm>
            <a:off x="1219200" y="4876800"/>
            <a:ext cx="7315200" cy="381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b="1" dirty="0"/>
              <a:t>4</a:t>
            </a:r>
            <a:r>
              <a:rPr lang="en-US" sz="2000" b="1" baseline="30000" dirty="0"/>
              <a:t>th</a:t>
            </a:r>
            <a:r>
              <a:rPr lang="en-US" sz="2000" b="1" dirty="0"/>
              <a:t>  Generation </a:t>
            </a:r>
            <a:r>
              <a:rPr lang="en-US" sz="2000" b="1" dirty="0" err="1"/>
              <a:t>Cephalosporins</a:t>
            </a:r>
            <a:endParaRPr lang="en-US" sz="2000" b="1" dirty="0"/>
          </a:p>
        </p:txBody>
      </p:sp>
      <p:sp>
        <p:nvSpPr>
          <p:cNvPr id="14" name="Rectangle 13"/>
          <p:cNvSpPr/>
          <p:nvPr/>
        </p:nvSpPr>
        <p:spPr>
          <a:xfrm>
            <a:off x="1143000" y="4648200"/>
            <a:ext cx="228600" cy="838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8382000" y="4648200"/>
            <a:ext cx="228600" cy="838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2819400" y="3124200"/>
            <a:ext cx="228600" cy="838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7391400" y="3124200"/>
            <a:ext cx="228600" cy="838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1447800" y="1752600"/>
            <a:ext cx="228600" cy="838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6172200" y="1752600"/>
            <a:ext cx="228600" cy="838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533400" y="457200"/>
            <a:ext cx="228600" cy="838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5105400" y="457200"/>
            <a:ext cx="228600" cy="838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0437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7" name="Rectangle 8"/>
          <p:cNvSpPr>
            <a:spLocks noChangeArrowheads="1"/>
          </p:cNvSpPr>
          <p:nvPr/>
        </p:nvSpPr>
        <p:spPr bwMode="auto">
          <a:xfrm>
            <a:off x="0" y="-228600"/>
            <a:ext cx="9144000" cy="7086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  <a:p>
            <a:r>
              <a:rPr lang="en-US"/>
              <a:t>Gram-positive                                                           Gram-negative</a:t>
            </a:r>
          </a:p>
        </p:txBody>
      </p:sp>
      <p:sp>
        <p:nvSpPr>
          <p:cNvPr id="142338" name="TextBox 3"/>
          <p:cNvSpPr txBox="1">
            <a:spLocks noChangeArrowheads="1"/>
          </p:cNvSpPr>
          <p:nvPr/>
        </p:nvSpPr>
        <p:spPr bwMode="auto">
          <a:xfrm>
            <a:off x="2514023" y="3352800"/>
            <a:ext cx="185602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Strep pyogenes</a:t>
            </a:r>
          </a:p>
        </p:txBody>
      </p:sp>
      <p:sp>
        <p:nvSpPr>
          <p:cNvPr id="142339" name="TextBox 6"/>
          <p:cNvSpPr txBox="1">
            <a:spLocks noChangeArrowheads="1"/>
          </p:cNvSpPr>
          <p:nvPr/>
        </p:nvSpPr>
        <p:spPr bwMode="auto">
          <a:xfrm>
            <a:off x="1143000" y="1828801"/>
            <a:ext cx="163759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Enterococcus</a:t>
            </a:r>
          </a:p>
          <a:p>
            <a:r>
              <a:rPr lang="en-US" sz="1800" i="1"/>
              <a:t>faecalis</a:t>
            </a:r>
          </a:p>
        </p:txBody>
      </p:sp>
      <p:sp>
        <p:nvSpPr>
          <p:cNvPr id="142340" name="TextBox 7"/>
          <p:cNvSpPr txBox="1">
            <a:spLocks noChangeArrowheads="1"/>
          </p:cNvSpPr>
          <p:nvPr/>
        </p:nvSpPr>
        <p:spPr bwMode="auto">
          <a:xfrm>
            <a:off x="0" y="533401"/>
            <a:ext cx="169629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Enterococcus</a:t>
            </a:r>
          </a:p>
          <a:p>
            <a:r>
              <a:rPr lang="en-US" sz="1800" i="1"/>
              <a:t>faecium </a:t>
            </a:r>
            <a:r>
              <a:rPr lang="en-US" sz="1800"/>
              <a:t>(VRE)</a:t>
            </a:r>
          </a:p>
        </p:txBody>
      </p:sp>
      <p:sp>
        <p:nvSpPr>
          <p:cNvPr id="142341" name="TextBox 9"/>
          <p:cNvSpPr txBox="1">
            <a:spLocks noChangeArrowheads="1"/>
          </p:cNvSpPr>
          <p:nvPr/>
        </p:nvSpPr>
        <p:spPr bwMode="auto">
          <a:xfrm>
            <a:off x="1524000" y="4267201"/>
            <a:ext cx="161223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Staph aureus</a:t>
            </a:r>
          </a:p>
          <a:p>
            <a:r>
              <a:rPr lang="en-US" sz="1800"/>
              <a:t>(MSSA)</a:t>
            </a:r>
          </a:p>
        </p:txBody>
      </p:sp>
      <p:sp>
        <p:nvSpPr>
          <p:cNvPr id="142342" name="TextBox 10"/>
          <p:cNvSpPr txBox="1">
            <a:spLocks noChangeArrowheads="1"/>
          </p:cNvSpPr>
          <p:nvPr/>
        </p:nvSpPr>
        <p:spPr bwMode="auto">
          <a:xfrm>
            <a:off x="0" y="5562601"/>
            <a:ext cx="161223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Staph aureus</a:t>
            </a:r>
          </a:p>
          <a:p>
            <a:r>
              <a:rPr lang="en-US" sz="1800"/>
              <a:t>(MRSA)</a:t>
            </a:r>
          </a:p>
        </p:txBody>
      </p:sp>
      <p:sp>
        <p:nvSpPr>
          <p:cNvPr id="142343" name="TextBox 11"/>
          <p:cNvSpPr txBox="1">
            <a:spLocks noChangeArrowheads="1"/>
          </p:cNvSpPr>
          <p:nvPr/>
        </p:nvSpPr>
        <p:spPr bwMode="auto">
          <a:xfrm>
            <a:off x="5029489" y="2667001"/>
            <a:ext cx="108553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Proteus</a:t>
            </a:r>
          </a:p>
          <a:p>
            <a:r>
              <a:rPr lang="en-US" sz="1800" i="1"/>
              <a:t>mirabilis</a:t>
            </a:r>
          </a:p>
        </p:txBody>
      </p:sp>
      <p:sp>
        <p:nvSpPr>
          <p:cNvPr id="142344" name="TextBox 12"/>
          <p:cNvSpPr txBox="1">
            <a:spLocks noChangeArrowheads="1"/>
          </p:cNvSpPr>
          <p:nvPr/>
        </p:nvSpPr>
        <p:spPr bwMode="auto">
          <a:xfrm>
            <a:off x="5791489" y="2438400"/>
            <a:ext cx="86766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E. coli</a:t>
            </a:r>
          </a:p>
        </p:txBody>
      </p:sp>
      <p:sp>
        <p:nvSpPr>
          <p:cNvPr id="142345" name="TextBox 13"/>
          <p:cNvSpPr txBox="1">
            <a:spLocks noChangeArrowheads="1"/>
          </p:cNvSpPr>
          <p:nvPr/>
        </p:nvSpPr>
        <p:spPr bwMode="auto">
          <a:xfrm>
            <a:off x="6248977" y="1905001"/>
            <a:ext cx="151160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Klebsiella</a:t>
            </a:r>
          </a:p>
          <a:p>
            <a:r>
              <a:rPr lang="en-US" sz="1800" i="1"/>
              <a:t>pneumoniae</a:t>
            </a:r>
          </a:p>
        </p:txBody>
      </p:sp>
      <p:sp>
        <p:nvSpPr>
          <p:cNvPr id="142346" name="TextBox 14"/>
          <p:cNvSpPr txBox="1">
            <a:spLocks noChangeArrowheads="1"/>
          </p:cNvSpPr>
          <p:nvPr/>
        </p:nvSpPr>
        <p:spPr bwMode="auto">
          <a:xfrm>
            <a:off x="7010977" y="5486400"/>
            <a:ext cx="171479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Pseudomonas</a:t>
            </a:r>
          </a:p>
        </p:txBody>
      </p:sp>
      <p:sp>
        <p:nvSpPr>
          <p:cNvPr id="142347" name="TextBox 16"/>
          <p:cNvSpPr txBox="1">
            <a:spLocks noChangeArrowheads="1"/>
          </p:cNvSpPr>
          <p:nvPr/>
        </p:nvSpPr>
        <p:spPr bwMode="auto">
          <a:xfrm>
            <a:off x="6705023" y="3581401"/>
            <a:ext cx="167697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H. influenzae</a:t>
            </a:r>
          </a:p>
        </p:txBody>
      </p:sp>
      <p:sp>
        <p:nvSpPr>
          <p:cNvPr id="142349" name="TextBox 18"/>
          <p:cNvSpPr txBox="1">
            <a:spLocks noChangeArrowheads="1"/>
          </p:cNvSpPr>
          <p:nvPr/>
        </p:nvSpPr>
        <p:spPr bwMode="auto">
          <a:xfrm>
            <a:off x="7239000" y="1600200"/>
            <a:ext cx="104732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Serratia</a:t>
            </a:r>
          </a:p>
        </p:txBody>
      </p:sp>
      <p:sp>
        <p:nvSpPr>
          <p:cNvPr id="142350" name="TextBox 19"/>
          <p:cNvSpPr txBox="1">
            <a:spLocks noChangeArrowheads="1"/>
          </p:cNvSpPr>
          <p:nvPr/>
        </p:nvSpPr>
        <p:spPr bwMode="auto">
          <a:xfrm>
            <a:off x="5638512" y="4724401"/>
            <a:ext cx="213446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Enterobacter spp</a:t>
            </a:r>
          </a:p>
        </p:txBody>
      </p:sp>
      <p:sp>
        <p:nvSpPr>
          <p:cNvPr id="142351" name="TextBox 21"/>
          <p:cNvSpPr txBox="1">
            <a:spLocks noChangeArrowheads="1"/>
          </p:cNvSpPr>
          <p:nvPr/>
        </p:nvSpPr>
        <p:spPr bwMode="auto">
          <a:xfrm>
            <a:off x="4419023" y="5257801"/>
            <a:ext cx="145804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Bacteroides</a:t>
            </a:r>
          </a:p>
          <a:p>
            <a:r>
              <a:rPr lang="en-US" sz="1800" i="1"/>
              <a:t> fragilis</a:t>
            </a:r>
          </a:p>
        </p:txBody>
      </p:sp>
      <p:sp>
        <p:nvSpPr>
          <p:cNvPr id="142352" name="Oval 35"/>
          <p:cNvSpPr>
            <a:spLocks noChangeArrowheads="1"/>
          </p:cNvSpPr>
          <p:nvPr/>
        </p:nvSpPr>
        <p:spPr bwMode="auto">
          <a:xfrm rot="-703763">
            <a:off x="1138671" y="3541713"/>
            <a:ext cx="3874943" cy="1517650"/>
          </a:xfrm>
          <a:prstGeom prst="ellipse">
            <a:avLst/>
          </a:prstGeom>
          <a:solidFill>
            <a:srgbClr val="4F6228">
              <a:alpha val="50196"/>
            </a:srgb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4" name="Oval 35"/>
          <p:cNvSpPr>
            <a:spLocks noChangeArrowheads="1"/>
          </p:cNvSpPr>
          <p:nvPr/>
        </p:nvSpPr>
        <p:spPr bwMode="auto">
          <a:xfrm rot="19986688">
            <a:off x="4223276" y="2127005"/>
            <a:ext cx="3373668" cy="1549596"/>
          </a:xfrm>
          <a:prstGeom prst="ellipse">
            <a:avLst/>
          </a:prstGeom>
          <a:solidFill>
            <a:srgbClr val="4F6228">
              <a:alpha val="50196"/>
            </a:srgb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ea typeface="ＭＳ Ｐゴシック" charset="-128"/>
              <a:cs typeface="ＭＳ Ｐゴシック" charset="-128"/>
            </a:endParaRPr>
          </a:p>
        </p:txBody>
      </p:sp>
      <p:sp>
        <p:nvSpPr>
          <p:cNvPr id="142357" name="TextBox 4"/>
          <p:cNvSpPr txBox="1">
            <a:spLocks noChangeArrowheads="1"/>
          </p:cNvSpPr>
          <p:nvPr/>
        </p:nvSpPr>
        <p:spPr bwMode="auto">
          <a:xfrm>
            <a:off x="1939636" y="2743200"/>
            <a:ext cx="179189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S. pneumoniae</a:t>
            </a:r>
          </a:p>
        </p:txBody>
      </p:sp>
      <p:sp>
        <p:nvSpPr>
          <p:cNvPr id="22" name="Oval 35"/>
          <p:cNvSpPr>
            <a:spLocks noChangeArrowheads="1"/>
          </p:cNvSpPr>
          <p:nvPr/>
        </p:nvSpPr>
        <p:spPr bwMode="auto">
          <a:xfrm rot="1425931">
            <a:off x="1849180" y="2613908"/>
            <a:ext cx="3081127" cy="1517286"/>
          </a:xfrm>
          <a:prstGeom prst="ellipse">
            <a:avLst/>
          </a:prstGeom>
          <a:solidFill>
            <a:srgbClr val="4F6228">
              <a:alpha val="50196"/>
            </a:srgb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ea typeface="ＭＳ Ｐゴシック" charset="-128"/>
              <a:cs typeface="ＭＳ Ｐゴシック" charset="-128"/>
            </a:endParaRPr>
          </a:p>
        </p:txBody>
      </p:sp>
      <p:sp>
        <p:nvSpPr>
          <p:cNvPr id="142356" name="TextBox 30"/>
          <p:cNvSpPr txBox="1">
            <a:spLocks noChangeArrowheads="1"/>
          </p:cNvSpPr>
          <p:nvPr/>
        </p:nvSpPr>
        <p:spPr bwMode="auto">
          <a:xfrm>
            <a:off x="4038023" y="3657600"/>
            <a:ext cx="1324677" cy="40011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2000" b="1" dirty="0" err="1"/>
              <a:t>Cefazolin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36122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7" name="Rectangle 8"/>
          <p:cNvSpPr>
            <a:spLocks noChangeArrowheads="1"/>
          </p:cNvSpPr>
          <p:nvPr/>
        </p:nvSpPr>
        <p:spPr bwMode="auto">
          <a:xfrm>
            <a:off x="0" y="-228600"/>
            <a:ext cx="9144000" cy="7086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  <a:p>
            <a:r>
              <a:rPr lang="en-US"/>
              <a:t>Gram-positive                                                           Gram-negative</a:t>
            </a:r>
          </a:p>
        </p:txBody>
      </p:sp>
      <p:sp>
        <p:nvSpPr>
          <p:cNvPr id="147458" name="TextBox 3"/>
          <p:cNvSpPr txBox="1">
            <a:spLocks noChangeArrowheads="1"/>
          </p:cNvSpPr>
          <p:nvPr/>
        </p:nvSpPr>
        <p:spPr bwMode="auto">
          <a:xfrm>
            <a:off x="2514023" y="3352800"/>
            <a:ext cx="185602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Strep pyogenes</a:t>
            </a:r>
          </a:p>
        </p:txBody>
      </p:sp>
      <p:sp>
        <p:nvSpPr>
          <p:cNvPr id="147459" name="TextBox 6"/>
          <p:cNvSpPr txBox="1">
            <a:spLocks noChangeArrowheads="1"/>
          </p:cNvSpPr>
          <p:nvPr/>
        </p:nvSpPr>
        <p:spPr bwMode="auto">
          <a:xfrm>
            <a:off x="1143000" y="1828801"/>
            <a:ext cx="163759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Enterococcus</a:t>
            </a:r>
          </a:p>
          <a:p>
            <a:r>
              <a:rPr lang="en-US" sz="1800" i="1"/>
              <a:t>faecalis</a:t>
            </a:r>
          </a:p>
        </p:txBody>
      </p:sp>
      <p:sp>
        <p:nvSpPr>
          <p:cNvPr id="147460" name="TextBox 7"/>
          <p:cNvSpPr txBox="1">
            <a:spLocks noChangeArrowheads="1"/>
          </p:cNvSpPr>
          <p:nvPr/>
        </p:nvSpPr>
        <p:spPr bwMode="auto">
          <a:xfrm>
            <a:off x="0" y="533401"/>
            <a:ext cx="169629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Enterococcus</a:t>
            </a:r>
          </a:p>
          <a:p>
            <a:r>
              <a:rPr lang="en-US" sz="1800" i="1"/>
              <a:t>faecium </a:t>
            </a:r>
            <a:r>
              <a:rPr lang="en-US" sz="1800"/>
              <a:t>(VRE)</a:t>
            </a:r>
          </a:p>
        </p:txBody>
      </p:sp>
      <p:sp>
        <p:nvSpPr>
          <p:cNvPr id="147461" name="TextBox 9"/>
          <p:cNvSpPr txBox="1">
            <a:spLocks noChangeArrowheads="1"/>
          </p:cNvSpPr>
          <p:nvPr/>
        </p:nvSpPr>
        <p:spPr bwMode="auto">
          <a:xfrm>
            <a:off x="1524000" y="4267201"/>
            <a:ext cx="161223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Staph aureus</a:t>
            </a:r>
          </a:p>
          <a:p>
            <a:r>
              <a:rPr lang="en-US" sz="1800"/>
              <a:t>(MSSA)</a:t>
            </a:r>
          </a:p>
        </p:txBody>
      </p:sp>
      <p:sp>
        <p:nvSpPr>
          <p:cNvPr id="147462" name="TextBox 10"/>
          <p:cNvSpPr txBox="1">
            <a:spLocks noChangeArrowheads="1"/>
          </p:cNvSpPr>
          <p:nvPr/>
        </p:nvSpPr>
        <p:spPr bwMode="auto">
          <a:xfrm>
            <a:off x="0" y="5562601"/>
            <a:ext cx="161223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Staph aureus</a:t>
            </a:r>
          </a:p>
          <a:p>
            <a:r>
              <a:rPr lang="en-US" sz="1800"/>
              <a:t>(MRSA)</a:t>
            </a:r>
          </a:p>
        </p:txBody>
      </p:sp>
      <p:sp>
        <p:nvSpPr>
          <p:cNvPr id="147463" name="TextBox 11"/>
          <p:cNvSpPr txBox="1">
            <a:spLocks noChangeArrowheads="1"/>
          </p:cNvSpPr>
          <p:nvPr/>
        </p:nvSpPr>
        <p:spPr bwMode="auto">
          <a:xfrm>
            <a:off x="5029489" y="2667001"/>
            <a:ext cx="108553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Proteus</a:t>
            </a:r>
          </a:p>
          <a:p>
            <a:r>
              <a:rPr lang="en-US" sz="1800" i="1"/>
              <a:t>mirabilis</a:t>
            </a:r>
          </a:p>
        </p:txBody>
      </p:sp>
      <p:sp>
        <p:nvSpPr>
          <p:cNvPr id="147464" name="TextBox 12"/>
          <p:cNvSpPr txBox="1">
            <a:spLocks noChangeArrowheads="1"/>
          </p:cNvSpPr>
          <p:nvPr/>
        </p:nvSpPr>
        <p:spPr bwMode="auto">
          <a:xfrm>
            <a:off x="5791489" y="2438400"/>
            <a:ext cx="86766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E. coli</a:t>
            </a:r>
          </a:p>
        </p:txBody>
      </p:sp>
      <p:sp>
        <p:nvSpPr>
          <p:cNvPr id="147465" name="TextBox 13"/>
          <p:cNvSpPr txBox="1">
            <a:spLocks noChangeArrowheads="1"/>
          </p:cNvSpPr>
          <p:nvPr/>
        </p:nvSpPr>
        <p:spPr bwMode="auto">
          <a:xfrm>
            <a:off x="6248977" y="1905001"/>
            <a:ext cx="151160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Klebsiella</a:t>
            </a:r>
          </a:p>
          <a:p>
            <a:r>
              <a:rPr lang="en-US" sz="1800" i="1"/>
              <a:t>pneumoniae</a:t>
            </a:r>
          </a:p>
        </p:txBody>
      </p:sp>
      <p:sp>
        <p:nvSpPr>
          <p:cNvPr id="147466" name="TextBox 14"/>
          <p:cNvSpPr txBox="1">
            <a:spLocks noChangeArrowheads="1"/>
          </p:cNvSpPr>
          <p:nvPr/>
        </p:nvSpPr>
        <p:spPr bwMode="auto">
          <a:xfrm>
            <a:off x="7010977" y="5486400"/>
            <a:ext cx="171479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Pseudomonas</a:t>
            </a:r>
          </a:p>
        </p:txBody>
      </p:sp>
      <p:sp>
        <p:nvSpPr>
          <p:cNvPr id="147467" name="TextBox 16"/>
          <p:cNvSpPr txBox="1">
            <a:spLocks noChangeArrowheads="1"/>
          </p:cNvSpPr>
          <p:nvPr/>
        </p:nvSpPr>
        <p:spPr bwMode="auto">
          <a:xfrm>
            <a:off x="6705023" y="3581401"/>
            <a:ext cx="167697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H. influenzae</a:t>
            </a:r>
          </a:p>
        </p:txBody>
      </p:sp>
      <p:sp>
        <p:nvSpPr>
          <p:cNvPr id="147469" name="TextBox 18"/>
          <p:cNvSpPr txBox="1">
            <a:spLocks noChangeArrowheads="1"/>
          </p:cNvSpPr>
          <p:nvPr/>
        </p:nvSpPr>
        <p:spPr bwMode="auto">
          <a:xfrm>
            <a:off x="7239000" y="1600200"/>
            <a:ext cx="104732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 dirty="0" err="1"/>
              <a:t>Serratia</a:t>
            </a:r>
            <a:endParaRPr lang="en-US" sz="1800" i="1" dirty="0"/>
          </a:p>
        </p:txBody>
      </p:sp>
      <p:sp>
        <p:nvSpPr>
          <p:cNvPr id="147470" name="TextBox 19"/>
          <p:cNvSpPr txBox="1">
            <a:spLocks noChangeArrowheads="1"/>
          </p:cNvSpPr>
          <p:nvPr/>
        </p:nvSpPr>
        <p:spPr bwMode="auto">
          <a:xfrm>
            <a:off x="5638512" y="4724401"/>
            <a:ext cx="213446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Enterobacter spp</a:t>
            </a:r>
          </a:p>
        </p:txBody>
      </p:sp>
      <p:sp>
        <p:nvSpPr>
          <p:cNvPr id="147471" name="TextBox 21"/>
          <p:cNvSpPr txBox="1">
            <a:spLocks noChangeArrowheads="1"/>
          </p:cNvSpPr>
          <p:nvPr/>
        </p:nvSpPr>
        <p:spPr bwMode="auto">
          <a:xfrm>
            <a:off x="4419023" y="5257801"/>
            <a:ext cx="145804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Bacteroides</a:t>
            </a:r>
          </a:p>
          <a:p>
            <a:r>
              <a:rPr lang="en-US" sz="1800" i="1"/>
              <a:t> fragilis</a:t>
            </a:r>
          </a:p>
        </p:txBody>
      </p:sp>
      <p:sp>
        <p:nvSpPr>
          <p:cNvPr id="28" name="Oval 35"/>
          <p:cNvSpPr>
            <a:spLocks noChangeArrowheads="1"/>
          </p:cNvSpPr>
          <p:nvPr/>
        </p:nvSpPr>
        <p:spPr bwMode="auto">
          <a:xfrm rot="20195634">
            <a:off x="3868364" y="2037655"/>
            <a:ext cx="3658162" cy="1542448"/>
          </a:xfrm>
          <a:prstGeom prst="ellipse">
            <a:avLst/>
          </a:prstGeom>
          <a:solidFill>
            <a:srgbClr val="FFC000">
              <a:alpha val="43137"/>
            </a:srgb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ea typeface="ＭＳ Ｐゴシック" charset="-128"/>
              <a:cs typeface="ＭＳ Ｐゴシック" charset="-128"/>
            </a:endParaRPr>
          </a:p>
        </p:txBody>
      </p:sp>
      <p:sp>
        <p:nvSpPr>
          <p:cNvPr id="27" name="Oval 35"/>
          <p:cNvSpPr>
            <a:spLocks noChangeArrowheads="1"/>
          </p:cNvSpPr>
          <p:nvPr/>
        </p:nvSpPr>
        <p:spPr bwMode="auto">
          <a:xfrm rot="20896237">
            <a:off x="1138679" y="3541713"/>
            <a:ext cx="3874943" cy="1517650"/>
          </a:xfrm>
          <a:prstGeom prst="ellipse">
            <a:avLst/>
          </a:prstGeom>
          <a:solidFill>
            <a:srgbClr val="FFC000">
              <a:alpha val="43137"/>
            </a:srgb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ea typeface="ＭＳ Ｐゴシック" charset="-128"/>
              <a:cs typeface="ＭＳ Ｐゴシック" charset="-128"/>
            </a:endParaRPr>
          </a:p>
        </p:txBody>
      </p:sp>
      <p:sp>
        <p:nvSpPr>
          <p:cNvPr id="147478" name="Oval 35"/>
          <p:cNvSpPr>
            <a:spLocks noChangeArrowheads="1"/>
          </p:cNvSpPr>
          <p:nvPr/>
        </p:nvSpPr>
        <p:spPr bwMode="auto">
          <a:xfrm rot="-152584">
            <a:off x="3730564" y="2912772"/>
            <a:ext cx="5091545" cy="1543050"/>
          </a:xfrm>
          <a:prstGeom prst="ellipse">
            <a:avLst/>
          </a:prstGeom>
          <a:solidFill>
            <a:srgbClr val="FFC000">
              <a:alpha val="43137"/>
            </a:srgb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7480" name="TextBox 4"/>
          <p:cNvSpPr txBox="1">
            <a:spLocks noChangeArrowheads="1"/>
          </p:cNvSpPr>
          <p:nvPr/>
        </p:nvSpPr>
        <p:spPr bwMode="auto">
          <a:xfrm>
            <a:off x="1939636" y="2743200"/>
            <a:ext cx="179189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S. pneumoniae</a:t>
            </a:r>
          </a:p>
        </p:txBody>
      </p:sp>
      <p:sp>
        <p:nvSpPr>
          <p:cNvPr id="26" name="Oval 35"/>
          <p:cNvSpPr>
            <a:spLocks noChangeArrowheads="1"/>
          </p:cNvSpPr>
          <p:nvPr/>
        </p:nvSpPr>
        <p:spPr bwMode="auto">
          <a:xfrm rot="1404683">
            <a:off x="1792921" y="2521281"/>
            <a:ext cx="2716652" cy="1517286"/>
          </a:xfrm>
          <a:prstGeom prst="ellipse">
            <a:avLst/>
          </a:prstGeom>
          <a:solidFill>
            <a:srgbClr val="FFC000">
              <a:alpha val="43137"/>
            </a:srgb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ea typeface="ＭＳ Ｐゴシック" charset="-128"/>
              <a:cs typeface="ＭＳ Ｐゴシック" charset="-128"/>
            </a:endParaRPr>
          </a:p>
        </p:txBody>
      </p:sp>
      <p:sp>
        <p:nvSpPr>
          <p:cNvPr id="147479" name="TextBox 30"/>
          <p:cNvSpPr txBox="1">
            <a:spLocks noChangeArrowheads="1"/>
          </p:cNvSpPr>
          <p:nvPr/>
        </p:nvSpPr>
        <p:spPr bwMode="auto">
          <a:xfrm>
            <a:off x="3740727" y="3657600"/>
            <a:ext cx="1595684" cy="40011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2000" b="1" dirty="0"/>
              <a:t>Cefuroxime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55081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3" name="Rectangle 8"/>
          <p:cNvSpPr>
            <a:spLocks noChangeArrowheads="1"/>
          </p:cNvSpPr>
          <p:nvPr/>
        </p:nvSpPr>
        <p:spPr bwMode="auto">
          <a:xfrm>
            <a:off x="0" y="-228600"/>
            <a:ext cx="9144000" cy="7086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  <a:p>
            <a:r>
              <a:rPr lang="en-US"/>
              <a:t>Gram-positive                                                           Gram-negative</a:t>
            </a:r>
          </a:p>
        </p:txBody>
      </p:sp>
      <p:sp>
        <p:nvSpPr>
          <p:cNvPr id="182274" name="TextBox 3"/>
          <p:cNvSpPr txBox="1">
            <a:spLocks noChangeArrowheads="1"/>
          </p:cNvSpPr>
          <p:nvPr/>
        </p:nvSpPr>
        <p:spPr bwMode="auto">
          <a:xfrm>
            <a:off x="2514023" y="3352800"/>
            <a:ext cx="185602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Strep pyogenes</a:t>
            </a:r>
          </a:p>
        </p:txBody>
      </p:sp>
      <p:sp>
        <p:nvSpPr>
          <p:cNvPr id="182275" name="TextBox 6"/>
          <p:cNvSpPr txBox="1">
            <a:spLocks noChangeArrowheads="1"/>
          </p:cNvSpPr>
          <p:nvPr/>
        </p:nvSpPr>
        <p:spPr bwMode="auto">
          <a:xfrm>
            <a:off x="1143000" y="1828801"/>
            <a:ext cx="163759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Enterococcus</a:t>
            </a:r>
          </a:p>
          <a:p>
            <a:r>
              <a:rPr lang="en-US" sz="1800" i="1"/>
              <a:t>faecalis</a:t>
            </a:r>
          </a:p>
        </p:txBody>
      </p:sp>
      <p:sp>
        <p:nvSpPr>
          <p:cNvPr id="182276" name="TextBox 7"/>
          <p:cNvSpPr txBox="1">
            <a:spLocks noChangeArrowheads="1"/>
          </p:cNvSpPr>
          <p:nvPr/>
        </p:nvSpPr>
        <p:spPr bwMode="auto">
          <a:xfrm>
            <a:off x="0" y="533401"/>
            <a:ext cx="169629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Enterococcus</a:t>
            </a:r>
          </a:p>
          <a:p>
            <a:r>
              <a:rPr lang="en-US" sz="1800" i="1"/>
              <a:t>faecium </a:t>
            </a:r>
            <a:r>
              <a:rPr lang="en-US" sz="1800"/>
              <a:t>(VRE)</a:t>
            </a:r>
          </a:p>
        </p:txBody>
      </p:sp>
      <p:sp>
        <p:nvSpPr>
          <p:cNvPr id="182277" name="TextBox 9"/>
          <p:cNvSpPr txBox="1">
            <a:spLocks noChangeArrowheads="1"/>
          </p:cNvSpPr>
          <p:nvPr/>
        </p:nvSpPr>
        <p:spPr bwMode="auto">
          <a:xfrm>
            <a:off x="1524000" y="4267201"/>
            <a:ext cx="161223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Staph aureus</a:t>
            </a:r>
          </a:p>
          <a:p>
            <a:r>
              <a:rPr lang="en-US" sz="1800"/>
              <a:t>(MSSA)</a:t>
            </a:r>
          </a:p>
        </p:txBody>
      </p:sp>
      <p:sp>
        <p:nvSpPr>
          <p:cNvPr id="182278" name="TextBox 10"/>
          <p:cNvSpPr txBox="1">
            <a:spLocks noChangeArrowheads="1"/>
          </p:cNvSpPr>
          <p:nvPr/>
        </p:nvSpPr>
        <p:spPr bwMode="auto">
          <a:xfrm>
            <a:off x="0" y="5562601"/>
            <a:ext cx="161223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Staph aureus</a:t>
            </a:r>
          </a:p>
          <a:p>
            <a:r>
              <a:rPr lang="en-US" sz="1800"/>
              <a:t>(MRSA)</a:t>
            </a:r>
          </a:p>
        </p:txBody>
      </p:sp>
      <p:sp>
        <p:nvSpPr>
          <p:cNvPr id="182279" name="TextBox 11"/>
          <p:cNvSpPr txBox="1">
            <a:spLocks noChangeArrowheads="1"/>
          </p:cNvSpPr>
          <p:nvPr/>
        </p:nvSpPr>
        <p:spPr bwMode="auto">
          <a:xfrm>
            <a:off x="5029489" y="2667001"/>
            <a:ext cx="108553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Proteus</a:t>
            </a:r>
          </a:p>
          <a:p>
            <a:r>
              <a:rPr lang="en-US" sz="1800" i="1"/>
              <a:t>mirabilis</a:t>
            </a:r>
          </a:p>
        </p:txBody>
      </p:sp>
      <p:sp>
        <p:nvSpPr>
          <p:cNvPr id="182280" name="TextBox 12"/>
          <p:cNvSpPr txBox="1">
            <a:spLocks noChangeArrowheads="1"/>
          </p:cNvSpPr>
          <p:nvPr/>
        </p:nvSpPr>
        <p:spPr bwMode="auto">
          <a:xfrm>
            <a:off x="5791489" y="2438400"/>
            <a:ext cx="86766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E. coli</a:t>
            </a:r>
          </a:p>
        </p:txBody>
      </p:sp>
      <p:sp>
        <p:nvSpPr>
          <p:cNvPr id="182281" name="TextBox 13"/>
          <p:cNvSpPr txBox="1">
            <a:spLocks noChangeArrowheads="1"/>
          </p:cNvSpPr>
          <p:nvPr/>
        </p:nvSpPr>
        <p:spPr bwMode="auto">
          <a:xfrm>
            <a:off x="6248977" y="1905001"/>
            <a:ext cx="151160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Klebsiella</a:t>
            </a:r>
          </a:p>
          <a:p>
            <a:r>
              <a:rPr lang="en-US" sz="1800" i="1"/>
              <a:t>pneumoniae</a:t>
            </a:r>
          </a:p>
        </p:txBody>
      </p:sp>
      <p:sp>
        <p:nvSpPr>
          <p:cNvPr id="182282" name="TextBox 14"/>
          <p:cNvSpPr txBox="1">
            <a:spLocks noChangeArrowheads="1"/>
          </p:cNvSpPr>
          <p:nvPr/>
        </p:nvSpPr>
        <p:spPr bwMode="auto">
          <a:xfrm>
            <a:off x="7010977" y="5486400"/>
            <a:ext cx="171479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Pseudomonas</a:t>
            </a:r>
          </a:p>
        </p:txBody>
      </p:sp>
      <p:sp>
        <p:nvSpPr>
          <p:cNvPr id="182283" name="TextBox 16"/>
          <p:cNvSpPr txBox="1">
            <a:spLocks noChangeArrowheads="1"/>
          </p:cNvSpPr>
          <p:nvPr/>
        </p:nvSpPr>
        <p:spPr bwMode="auto">
          <a:xfrm>
            <a:off x="6705023" y="3581400"/>
            <a:ext cx="167697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H. influenzae</a:t>
            </a:r>
          </a:p>
        </p:txBody>
      </p:sp>
      <p:sp>
        <p:nvSpPr>
          <p:cNvPr id="182285" name="TextBox 18"/>
          <p:cNvSpPr txBox="1">
            <a:spLocks noChangeArrowheads="1"/>
          </p:cNvSpPr>
          <p:nvPr/>
        </p:nvSpPr>
        <p:spPr bwMode="auto">
          <a:xfrm>
            <a:off x="7239000" y="1600200"/>
            <a:ext cx="104732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Serratia</a:t>
            </a:r>
          </a:p>
        </p:txBody>
      </p:sp>
      <p:sp>
        <p:nvSpPr>
          <p:cNvPr id="182286" name="TextBox 19"/>
          <p:cNvSpPr txBox="1">
            <a:spLocks noChangeArrowheads="1"/>
          </p:cNvSpPr>
          <p:nvPr/>
        </p:nvSpPr>
        <p:spPr bwMode="auto">
          <a:xfrm>
            <a:off x="5638512" y="4724400"/>
            <a:ext cx="213446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Enterobacter spp</a:t>
            </a:r>
          </a:p>
        </p:txBody>
      </p:sp>
      <p:sp>
        <p:nvSpPr>
          <p:cNvPr id="182287" name="TextBox 21"/>
          <p:cNvSpPr txBox="1">
            <a:spLocks noChangeArrowheads="1"/>
          </p:cNvSpPr>
          <p:nvPr/>
        </p:nvSpPr>
        <p:spPr bwMode="auto">
          <a:xfrm>
            <a:off x="4419023" y="5257801"/>
            <a:ext cx="145804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Bacteroides</a:t>
            </a:r>
          </a:p>
          <a:p>
            <a:r>
              <a:rPr lang="en-US" sz="1800" i="1"/>
              <a:t> fragilis</a:t>
            </a:r>
          </a:p>
        </p:txBody>
      </p:sp>
      <p:sp>
        <p:nvSpPr>
          <p:cNvPr id="182288" name="Oval 35"/>
          <p:cNvSpPr>
            <a:spLocks noChangeArrowheads="1"/>
          </p:cNvSpPr>
          <p:nvPr/>
        </p:nvSpPr>
        <p:spPr bwMode="auto">
          <a:xfrm rot="1822415">
            <a:off x="1718830" y="2551113"/>
            <a:ext cx="3244273" cy="1516062"/>
          </a:xfrm>
          <a:prstGeom prst="ellipse">
            <a:avLst/>
          </a:prstGeom>
          <a:solidFill>
            <a:schemeClr val="accent3">
              <a:lumMod val="75000"/>
              <a:alpha val="45098"/>
            </a:scheme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8" name="Oval 35"/>
          <p:cNvSpPr>
            <a:spLocks noChangeArrowheads="1"/>
          </p:cNvSpPr>
          <p:nvPr/>
        </p:nvSpPr>
        <p:spPr bwMode="auto">
          <a:xfrm rot="20896237">
            <a:off x="1138840" y="3541580"/>
            <a:ext cx="3874650" cy="1517286"/>
          </a:xfrm>
          <a:prstGeom prst="ellipse">
            <a:avLst/>
          </a:prstGeom>
          <a:solidFill>
            <a:schemeClr val="accent3">
              <a:lumMod val="75000"/>
              <a:alpha val="45098"/>
            </a:scheme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ea typeface="ＭＳ Ｐゴシック" charset="-128"/>
              <a:cs typeface="ＭＳ Ｐゴシック" charset="-128"/>
            </a:endParaRPr>
          </a:p>
        </p:txBody>
      </p:sp>
      <p:sp>
        <p:nvSpPr>
          <p:cNvPr id="182292" name="Oval 35"/>
          <p:cNvSpPr>
            <a:spLocks noChangeArrowheads="1"/>
          </p:cNvSpPr>
          <p:nvPr/>
        </p:nvSpPr>
        <p:spPr bwMode="auto">
          <a:xfrm rot="-1547717">
            <a:off x="3873500" y="1897064"/>
            <a:ext cx="4406035" cy="1430337"/>
          </a:xfrm>
          <a:prstGeom prst="ellipse">
            <a:avLst/>
          </a:prstGeom>
          <a:solidFill>
            <a:schemeClr val="accent3">
              <a:lumMod val="75000"/>
              <a:alpha val="45098"/>
            </a:scheme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2293" name="Oval 35"/>
          <p:cNvSpPr>
            <a:spLocks noChangeArrowheads="1"/>
          </p:cNvSpPr>
          <p:nvPr/>
        </p:nvSpPr>
        <p:spPr bwMode="auto">
          <a:xfrm rot="-152584">
            <a:off x="3834387" y="3068993"/>
            <a:ext cx="5098762" cy="1543050"/>
          </a:xfrm>
          <a:prstGeom prst="ellipse">
            <a:avLst/>
          </a:prstGeom>
          <a:solidFill>
            <a:schemeClr val="accent3">
              <a:lumMod val="75000"/>
              <a:alpha val="45098"/>
            </a:scheme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1" name="Oval 35"/>
          <p:cNvSpPr>
            <a:spLocks noChangeArrowheads="1"/>
          </p:cNvSpPr>
          <p:nvPr/>
        </p:nvSpPr>
        <p:spPr bwMode="auto">
          <a:xfrm rot="1331008">
            <a:off x="3880891" y="3877371"/>
            <a:ext cx="3848357" cy="1242892"/>
          </a:xfrm>
          <a:prstGeom prst="ellipse">
            <a:avLst/>
          </a:prstGeom>
          <a:solidFill>
            <a:schemeClr val="accent3">
              <a:lumMod val="75000"/>
              <a:alpha val="45098"/>
            </a:scheme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ea typeface="ＭＳ Ｐゴシック" charset="-128"/>
              <a:cs typeface="ＭＳ Ｐゴシック" charset="-128"/>
            </a:endParaRPr>
          </a:p>
        </p:txBody>
      </p:sp>
      <p:sp>
        <p:nvSpPr>
          <p:cNvPr id="182297" name="TextBox 30"/>
          <p:cNvSpPr txBox="1">
            <a:spLocks noChangeArrowheads="1"/>
          </p:cNvSpPr>
          <p:nvPr/>
        </p:nvSpPr>
        <p:spPr bwMode="auto">
          <a:xfrm>
            <a:off x="3948546" y="3505200"/>
            <a:ext cx="1595684" cy="707886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/>
            <a:r>
              <a:rPr lang="en-US" sz="2000" b="1"/>
              <a:t>Ceftriaxone</a:t>
            </a:r>
          </a:p>
          <a:p>
            <a:pPr algn="ctr"/>
            <a:r>
              <a:rPr lang="en-US" sz="2000" b="1"/>
              <a:t>Cefotaxime</a:t>
            </a:r>
            <a:endParaRPr lang="en-US"/>
          </a:p>
        </p:txBody>
      </p:sp>
      <p:sp>
        <p:nvSpPr>
          <p:cNvPr id="182298" name="TextBox 4"/>
          <p:cNvSpPr txBox="1">
            <a:spLocks noChangeArrowheads="1"/>
          </p:cNvSpPr>
          <p:nvPr/>
        </p:nvSpPr>
        <p:spPr bwMode="auto">
          <a:xfrm>
            <a:off x="1939636" y="2743200"/>
            <a:ext cx="179189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S. pneumoniae</a:t>
            </a:r>
          </a:p>
        </p:txBody>
      </p:sp>
    </p:spTree>
    <p:extLst>
      <p:ext uri="{BB962C8B-B14F-4D97-AF65-F5344CB8AC3E}">
        <p14:creationId xmlns:p14="http://schemas.microsoft.com/office/powerpoint/2010/main" val="25091611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3" name="Rectangle 8"/>
          <p:cNvSpPr>
            <a:spLocks noChangeArrowheads="1"/>
          </p:cNvSpPr>
          <p:nvPr/>
        </p:nvSpPr>
        <p:spPr bwMode="auto">
          <a:xfrm>
            <a:off x="0" y="-228600"/>
            <a:ext cx="9144000" cy="7086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  <a:p>
            <a:r>
              <a:rPr lang="en-US"/>
              <a:t>Gram-positive                                                           Gram-negative</a:t>
            </a:r>
          </a:p>
        </p:txBody>
      </p:sp>
      <p:sp>
        <p:nvSpPr>
          <p:cNvPr id="187394" name="TextBox 3"/>
          <p:cNvSpPr txBox="1">
            <a:spLocks noChangeArrowheads="1"/>
          </p:cNvSpPr>
          <p:nvPr/>
        </p:nvSpPr>
        <p:spPr bwMode="auto">
          <a:xfrm>
            <a:off x="2514023" y="3352800"/>
            <a:ext cx="185602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Strep pyogenes</a:t>
            </a:r>
          </a:p>
        </p:txBody>
      </p:sp>
      <p:sp>
        <p:nvSpPr>
          <p:cNvPr id="187395" name="TextBox 6"/>
          <p:cNvSpPr txBox="1">
            <a:spLocks noChangeArrowheads="1"/>
          </p:cNvSpPr>
          <p:nvPr/>
        </p:nvSpPr>
        <p:spPr bwMode="auto">
          <a:xfrm>
            <a:off x="969818" y="1752601"/>
            <a:ext cx="163759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 dirty="0"/>
              <a:t>Enterococcus</a:t>
            </a:r>
          </a:p>
          <a:p>
            <a:r>
              <a:rPr lang="en-US" sz="1800" i="1" dirty="0" err="1"/>
              <a:t>faecalis</a:t>
            </a:r>
            <a:endParaRPr lang="en-US" sz="1800" i="1" dirty="0"/>
          </a:p>
        </p:txBody>
      </p:sp>
      <p:sp>
        <p:nvSpPr>
          <p:cNvPr id="187396" name="TextBox 7"/>
          <p:cNvSpPr txBox="1">
            <a:spLocks noChangeArrowheads="1"/>
          </p:cNvSpPr>
          <p:nvPr/>
        </p:nvSpPr>
        <p:spPr bwMode="auto">
          <a:xfrm>
            <a:off x="0" y="533401"/>
            <a:ext cx="169629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Enterococcus</a:t>
            </a:r>
          </a:p>
          <a:p>
            <a:r>
              <a:rPr lang="en-US" sz="1800" i="1"/>
              <a:t>faecium </a:t>
            </a:r>
            <a:r>
              <a:rPr lang="en-US" sz="1800"/>
              <a:t>(VRE)</a:t>
            </a:r>
          </a:p>
        </p:txBody>
      </p:sp>
      <p:sp>
        <p:nvSpPr>
          <p:cNvPr id="187397" name="TextBox 9"/>
          <p:cNvSpPr txBox="1">
            <a:spLocks noChangeArrowheads="1"/>
          </p:cNvSpPr>
          <p:nvPr/>
        </p:nvSpPr>
        <p:spPr bwMode="auto">
          <a:xfrm>
            <a:off x="1524000" y="4267201"/>
            <a:ext cx="161223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Staph aureus</a:t>
            </a:r>
          </a:p>
          <a:p>
            <a:r>
              <a:rPr lang="en-US" sz="1800"/>
              <a:t>(MSSA)</a:t>
            </a:r>
          </a:p>
        </p:txBody>
      </p:sp>
      <p:sp>
        <p:nvSpPr>
          <p:cNvPr id="187398" name="TextBox 10"/>
          <p:cNvSpPr txBox="1">
            <a:spLocks noChangeArrowheads="1"/>
          </p:cNvSpPr>
          <p:nvPr/>
        </p:nvSpPr>
        <p:spPr bwMode="auto">
          <a:xfrm>
            <a:off x="0" y="5562601"/>
            <a:ext cx="161223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Staph aureus</a:t>
            </a:r>
          </a:p>
          <a:p>
            <a:r>
              <a:rPr lang="en-US" sz="1800"/>
              <a:t>(MRSA)</a:t>
            </a:r>
          </a:p>
        </p:txBody>
      </p:sp>
      <p:sp>
        <p:nvSpPr>
          <p:cNvPr id="187399" name="TextBox 11"/>
          <p:cNvSpPr txBox="1">
            <a:spLocks noChangeArrowheads="1"/>
          </p:cNvSpPr>
          <p:nvPr/>
        </p:nvSpPr>
        <p:spPr bwMode="auto">
          <a:xfrm>
            <a:off x="5029489" y="2667001"/>
            <a:ext cx="108553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Proteus</a:t>
            </a:r>
          </a:p>
          <a:p>
            <a:r>
              <a:rPr lang="en-US" sz="1800" i="1"/>
              <a:t>mirabilis</a:t>
            </a:r>
          </a:p>
        </p:txBody>
      </p:sp>
      <p:sp>
        <p:nvSpPr>
          <p:cNvPr id="187400" name="TextBox 12"/>
          <p:cNvSpPr txBox="1">
            <a:spLocks noChangeArrowheads="1"/>
          </p:cNvSpPr>
          <p:nvPr/>
        </p:nvSpPr>
        <p:spPr bwMode="auto">
          <a:xfrm>
            <a:off x="5791489" y="2438400"/>
            <a:ext cx="86766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E. coli</a:t>
            </a:r>
          </a:p>
        </p:txBody>
      </p:sp>
      <p:sp>
        <p:nvSpPr>
          <p:cNvPr id="187401" name="TextBox 13"/>
          <p:cNvSpPr txBox="1">
            <a:spLocks noChangeArrowheads="1"/>
          </p:cNvSpPr>
          <p:nvPr/>
        </p:nvSpPr>
        <p:spPr bwMode="auto">
          <a:xfrm>
            <a:off x="6248977" y="1905001"/>
            <a:ext cx="151160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Klebsiella</a:t>
            </a:r>
          </a:p>
          <a:p>
            <a:r>
              <a:rPr lang="en-US" sz="1800" i="1"/>
              <a:t>pneumoniae</a:t>
            </a:r>
          </a:p>
        </p:txBody>
      </p:sp>
      <p:sp>
        <p:nvSpPr>
          <p:cNvPr id="187402" name="TextBox 14"/>
          <p:cNvSpPr txBox="1">
            <a:spLocks noChangeArrowheads="1"/>
          </p:cNvSpPr>
          <p:nvPr/>
        </p:nvSpPr>
        <p:spPr bwMode="auto">
          <a:xfrm>
            <a:off x="7010977" y="5486400"/>
            <a:ext cx="171479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Pseudomonas</a:t>
            </a:r>
          </a:p>
        </p:txBody>
      </p:sp>
      <p:sp>
        <p:nvSpPr>
          <p:cNvPr id="187403" name="TextBox 16"/>
          <p:cNvSpPr txBox="1">
            <a:spLocks noChangeArrowheads="1"/>
          </p:cNvSpPr>
          <p:nvPr/>
        </p:nvSpPr>
        <p:spPr bwMode="auto">
          <a:xfrm>
            <a:off x="6705023" y="3581400"/>
            <a:ext cx="167697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H. influenzae</a:t>
            </a:r>
          </a:p>
        </p:txBody>
      </p:sp>
      <p:sp>
        <p:nvSpPr>
          <p:cNvPr id="187405" name="TextBox 18"/>
          <p:cNvSpPr txBox="1">
            <a:spLocks noChangeArrowheads="1"/>
          </p:cNvSpPr>
          <p:nvPr/>
        </p:nvSpPr>
        <p:spPr bwMode="auto">
          <a:xfrm>
            <a:off x="7239000" y="1600200"/>
            <a:ext cx="104732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Serratia</a:t>
            </a:r>
          </a:p>
        </p:txBody>
      </p:sp>
      <p:sp>
        <p:nvSpPr>
          <p:cNvPr id="187406" name="TextBox 19"/>
          <p:cNvSpPr txBox="1">
            <a:spLocks noChangeArrowheads="1"/>
          </p:cNvSpPr>
          <p:nvPr/>
        </p:nvSpPr>
        <p:spPr bwMode="auto">
          <a:xfrm>
            <a:off x="5638512" y="4724400"/>
            <a:ext cx="213446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Enterobacter spp</a:t>
            </a:r>
          </a:p>
        </p:txBody>
      </p:sp>
      <p:sp>
        <p:nvSpPr>
          <p:cNvPr id="187407" name="TextBox 21"/>
          <p:cNvSpPr txBox="1">
            <a:spLocks noChangeArrowheads="1"/>
          </p:cNvSpPr>
          <p:nvPr/>
        </p:nvSpPr>
        <p:spPr bwMode="auto">
          <a:xfrm>
            <a:off x="4419023" y="5257801"/>
            <a:ext cx="145804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 dirty="0" err="1"/>
              <a:t>Bacteroides</a:t>
            </a:r>
            <a:endParaRPr lang="en-US" sz="1800" i="1" dirty="0"/>
          </a:p>
          <a:p>
            <a:r>
              <a:rPr lang="en-US" sz="1800" i="1" dirty="0"/>
              <a:t> </a:t>
            </a:r>
            <a:r>
              <a:rPr lang="en-US" sz="1800" i="1" dirty="0" err="1"/>
              <a:t>fragilis</a:t>
            </a:r>
            <a:endParaRPr lang="en-US" sz="1800" i="1" dirty="0"/>
          </a:p>
        </p:txBody>
      </p:sp>
      <p:sp>
        <p:nvSpPr>
          <p:cNvPr id="187408" name="Oval 35"/>
          <p:cNvSpPr>
            <a:spLocks noChangeArrowheads="1"/>
          </p:cNvSpPr>
          <p:nvPr/>
        </p:nvSpPr>
        <p:spPr bwMode="auto">
          <a:xfrm rot="-1223874">
            <a:off x="3828762" y="1790700"/>
            <a:ext cx="4406034" cy="1430338"/>
          </a:xfrm>
          <a:prstGeom prst="ellipse">
            <a:avLst/>
          </a:prstGeom>
          <a:solidFill>
            <a:srgbClr val="8EB4E3">
              <a:alpha val="50196"/>
            </a:srgb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7409" name="Oval 35"/>
          <p:cNvSpPr>
            <a:spLocks noChangeArrowheads="1"/>
          </p:cNvSpPr>
          <p:nvPr/>
        </p:nvSpPr>
        <p:spPr bwMode="auto">
          <a:xfrm rot="-152584">
            <a:off x="3840123" y="2777693"/>
            <a:ext cx="5023716" cy="1543050"/>
          </a:xfrm>
          <a:prstGeom prst="ellipse">
            <a:avLst/>
          </a:prstGeom>
          <a:solidFill>
            <a:srgbClr val="8EB4E3">
              <a:alpha val="50196"/>
            </a:srgb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9" name="Oval 35"/>
          <p:cNvSpPr>
            <a:spLocks noChangeArrowheads="1"/>
          </p:cNvSpPr>
          <p:nvPr/>
        </p:nvSpPr>
        <p:spPr bwMode="auto">
          <a:xfrm rot="1625129">
            <a:off x="3534583" y="4198024"/>
            <a:ext cx="5295656" cy="1411193"/>
          </a:xfrm>
          <a:prstGeom prst="ellipse">
            <a:avLst/>
          </a:prstGeom>
          <a:solidFill>
            <a:srgbClr val="8EB4E3">
              <a:alpha val="50196"/>
            </a:srgb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ea typeface="ＭＳ Ｐゴシック" charset="-128"/>
              <a:cs typeface="ＭＳ Ｐゴシック" charset="-128"/>
            </a:endParaRPr>
          </a:p>
        </p:txBody>
      </p:sp>
      <p:sp>
        <p:nvSpPr>
          <p:cNvPr id="187414" name="TextBox 4"/>
          <p:cNvSpPr txBox="1">
            <a:spLocks noChangeArrowheads="1"/>
          </p:cNvSpPr>
          <p:nvPr/>
        </p:nvSpPr>
        <p:spPr bwMode="auto">
          <a:xfrm>
            <a:off x="1939636" y="2743200"/>
            <a:ext cx="179189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S. pneumoniae</a:t>
            </a:r>
          </a:p>
        </p:txBody>
      </p:sp>
      <p:sp>
        <p:nvSpPr>
          <p:cNvPr id="26" name="Oval 35"/>
          <p:cNvSpPr>
            <a:spLocks noChangeArrowheads="1"/>
          </p:cNvSpPr>
          <p:nvPr/>
        </p:nvSpPr>
        <p:spPr bwMode="auto">
          <a:xfrm rot="534646">
            <a:off x="2527015" y="3225199"/>
            <a:ext cx="2083096" cy="983094"/>
          </a:xfrm>
          <a:prstGeom prst="ellipse">
            <a:avLst/>
          </a:prstGeom>
          <a:solidFill>
            <a:srgbClr val="8EB4E3">
              <a:alpha val="50196"/>
            </a:srgb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ea typeface="ＭＳ Ｐゴシック" charset="-128"/>
              <a:cs typeface="ＭＳ Ｐゴシック" charset="-128"/>
            </a:endParaRPr>
          </a:p>
        </p:txBody>
      </p:sp>
      <p:sp>
        <p:nvSpPr>
          <p:cNvPr id="187413" name="TextBox 30"/>
          <p:cNvSpPr txBox="1">
            <a:spLocks noChangeArrowheads="1"/>
          </p:cNvSpPr>
          <p:nvPr/>
        </p:nvSpPr>
        <p:spPr bwMode="auto">
          <a:xfrm>
            <a:off x="4225637" y="3429000"/>
            <a:ext cx="1624112" cy="40011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</a:rPr>
              <a:t>Ceftazidime</a:t>
            </a:r>
            <a:endParaRPr lang="en-US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26554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3" name="Rectangle 8"/>
          <p:cNvSpPr>
            <a:spLocks noChangeArrowheads="1"/>
          </p:cNvSpPr>
          <p:nvPr/>
        </p:nvSpPr>
        <p:spPr bwMode="auto">
          <a:xfrm>
            <a:off x="0" y="-228600"/>
            <a:ext cx="9144000" cy="7086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  <a:p>
            <a:r>
              <a:rPr lang="en-US"/>
              <a:t>Gram-positive                                                           Gram-negative</a:t>
            </a:r>
          </a:p>
        </p:txBody>
      </p:sp>
      <p:sp>
        <p:nvSpPr>
          <p:cNvPr id="192514" name="TextBox 3"/>
          <p:cNvSpPr txBox="1">
            <a:spLocks noChangeArrowheads="1"/>
          </p:cNvSpPr>
          <p:nvPr/>
        </p:nvSpPr>
        <p:spPr bwMode="auto">
          <a:xfrm>
            <a:off x="2514023" y="3352800"/>
            <a:ext cx="185602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Strep pyogenes</a:t>
            </a:r>
          </a:p>
        </p:txBody>
      </p:sp>
      <p:sp>
        <p:nvSpPr>
          <p:cNvPr id="192515" name="TextBox 6"/>
          <p:cNvSpPr txBox="1">
            <a:spLocks noChangeArrowheads="1"/>
          </p:cNvSpPr>
          <p:nvPr/>
        </p:nvSpPr>
        <p:spPr bwMode="auto">
          <a:xfrm>
            <a:off x="1143000" y="1828801"/>
            <a:ext cx="163759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Enterococcus</a:t>
            </a:r>
          </a:p>
          <a:p>
            <a:r>
              <a:rPr lang="en-US" sz="1800" i="1"/>
              <a:t>faecalis</a:t>
            </a:r>
          </a:p>
        </p:txBody>
      </p:sp>
      <p:sp>
        <p:nvSpPr>
          <p:cNvPr id="192516" name="TextBox 7"/>
          <p:cNvSpPr txBox="1">
            <a:spLocks noChangeArrowheads="1"/>
          </p:cNvSpPr>
          <p:nvPr/>
        </p:nvSpPr>
        <p:spPr bwMode="auto">
          <a:xfrm>
            <a:off x="0" y="533401"/>
            <a:ext cx="169629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Enterococcus</a:t>
            </a:r>
          </a:p>
          <a:p>
            <a:r>
              <a:rPr lang="en-US" sz="1800" i="1"/>
              <a:t>faecium </a:t>
            </a:r>
            <a:r>
              <a:rPr lang="en-US" sz="1800"/>
              <a:t>(VRE)</a:t>
            </a:r>
          </a:p>
        </p:txBody>
      </p:sp>
      <p:sp>
        <p:nvSpPr>
          <p:cNvPr id="192517" name="TextBox 9"/>
          <p:cNvSpPr txBox="1">
            <a:spLocks noChangeArrowheads="1"/>
          </p:cNvSpPr>
          <p:nvPr/>
        </p:nvSpPr>
        <p:spPr bwMode="auto">
          <a:xfrm>
            <a:off x="1524000" y="4267201"/>
            <a:ext cx="161223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Staph aureus</a:t>
            </a:r>
          </a:p>
          <a:p>
            <a:r>
              <a:rPr lang="en-US" sz="1800"/>
              <a:t>(MSSA)</a:t>
            </a:r>
          </a:p>
        </p:txBody>
      </p:sp>
      <p:sp>
        <p:nvSpPr>
          <p:cNvPr id="192518" name="TextBox 10"/>
          <p:cNvSpPr txBox="1">
            <a:spLocks noChangeArrowheads="1"/>
          </p:cNvSpPr>
          <p:nvPr/>
        </p:nvSpPr>
        <p:spPr bwMode="auto">
          <a:xfrm>
            <a:off x="0" y="5562601"/>
            <a:ext cx="161223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Staph aureus</a:t>
            </a:r>
          </a:p>
          <a:p>
            <a:r>
              <a:rPr lang="en-US" sz="1800"/>
              <a:t>(MRSA)</a:t>
            </a:r>
          </a:p>
        </p:txBody>
      </p:sp>
      <p:sp>
        <p:nvSpPr>
          <p:cNvPr id="192519" name="TextBox 11"/>
          <p:cNvSpPr txBox="1">
            <a:spLocks noChangeArrowheads="1"/>
          </p:cNvSpPr>
          <p:nvPr/>
        </p:nvSpPr>
        <p:spPr bwMode="auto">
          <a:xfrm>
            <a:off x="5029489" y="2667001"/>
            <a:ext cx="108553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Proteus</a:t>
            </a:r>
          </a:p>
          <a:p>
            <a:r>
              <a:rPr lang="en-US" sz="1800" i="1"/>
              <a:t>mirabilis</a:t>
            </a:r>
          </a:p>
        </p:txBody>
      </p:sp>
      <p:sp>
        <p:nvSpPr>
          <p:cNvPr id="192520" name="TextBox 12"/>
          <p:cNvSpPr txBox="1">
            <a:spLocks noChangeArrowheads="1"/>
          </p:cNvSpPr>
          <p:nvPr/>
        </p:nvSpPr>
        <p:spPr bwMode="auto">
          <a:xfrm>
            <a:off x="5791489" y="2438400"/>
            <a:ext cx="86766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E. coli</a:t>
            </a:r>
          </a:p>
        </p:txBody>
      </p:sp>
      <p:sp>
        <p:nvSpPr>
          <p:cNvPr id="192521" name="TextBox 13"/>
          <p:cNvSpPr txBox="1">
            <a:spLocks noChangeArrowheads="1"/>
          </p:cNvSpPr>
          <p:nvPr/>
        </p:nvSpPr>
        <p:spPr bwMode="auto">
          <a:xfrm>
            <a:off x="6248977" y="1905001"/>
            <a:ext cx="151160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Klebsiella</a:t>
            </a:r>
          </a:p>
          <a:p>
            <a:r>
              <a:rPr lang="en-US" sz="1800" i="1"/>
              <a:t>pneumoniae</a:t>
            </a:r>
          </a:p>
        </p:txBody>
      </p:sp>
      <p:sp>
        <p:nvSpPr>
          <p:cNvPr id="192522" name="TextBox 14"/>
          <p:cNvSpPr txBox="1">
            <a:spLocks noChangeArrowheads="1"/>
          </p:cNvSpPr>
          <p:nvPr/>
        </p:nvSpPr>
        <p:spPr bwMode="auto">
          <a:xfrm>
            <a:off x="7010977" y="5486400"/>
            <a:ext cx="171479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Pseudomonas</a:t>
            </a:r>
          </a:p>
        </p:txBody>
      </p:sp>
      <p:sp>
        <p:nvSpPr>
          <p:cNvPr id="192524" name="TextBox 17"/>
          <p:cNvSpPr txBox="1">
            <a:spLocks noChangeArrowheads="1"/>
          </p:cNvSpPr>
          <p:nvPr/>
        </p:nvSpPr>
        <p:spPr bwMode="auto">
          <a:xfrm>
            <a:off x="5715000" y="3962400"/>
            <a:ext cx="175202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N. meningitidis</a:t>
            </a:r>
          </a:p>
        </p:txBody>
      </p:sp>
      <p:sp>
        <p:nvSpPr>
          <p:cNvPr id="192525" name="TextBox 18"/>
          <p:cNvSpPr txBox="1">
            <a:spLocks noChangeArrowheads="1"/>
          </p:cNvSpPr>
          <p:nvPr/>
        </p:nvSpPr>
        <p:spPr bwMode="auto">
          <a:xfrm>
            <a:off x="7239000" y="1600200"/>
            <a:ext cx="104732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Serratia</a:t>
            </a:r>
          </a:p>
        </p:txBody>
      </p:sp>
      <p:sp>
        <p:nvSpPr>
          <p:cNvPr id="192526" name="TextBox 19"/>
          <p:cNvSpPr txBox="1">
            <a:spLocks noChangeArrowheads="1"/>
          </p:cNvSpPr>
          <p:nvPr/>
        </p:nvSpPr>
        <p:spPr bwMode="auto">
          <a:xfrm>
            <a:off x="5638512" y="4724400"/>
            <a:ext cx="213446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Enterobacter spp</a:t>
            </a:r>
          </a:p>
        </p:txBody>
      </p:sp>
      <p:sp>
        <p:nvSpPr>
          <p:cNvPr id="192527" name="TextBox 21"/>
          <p:cNvSpPr txBox="1">
            <a:spLocks noChangeArrowheads="1"/>
          </p:cNvSpPr>
          <p:nvPr/>
        </p:nvSpPr>
        <p:spPr bwMode="auto">
          <a:xfrm>
            <a:off x="4419023" y="5257801"/>
            <a:ext cx="145804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Bacteroides</a:t>
            </a:r>
          </a:p>
          <a:p>
            <a:r>
              <a:rPr lang="en-US" sz="1800" i="1"/>
              <a:t> fragilis</a:t>
            </a:r>
          </a:p>
        </p:txBody>
      </p:sp>
      <p:sp>
        <p:nvSpPr>
          <p:cNvPr id="192528" name="Oval 35"/>
          <p:cNvSpPr>
            <a:spLocks noChangeArrowheads="1"/>
          </p:cNvSpPr>
          <p:nvPr/>
        </p:nvSpPr>
        <p:spPr bwMode="auto">
          <a:xfrm rot="-703763">
            <a:off x="1138671" y="3541713"/>
            <a:ext cx="3874943" cy="1517650"/>
          </a:xfrm>
          <a:prstGeom prst="ellipse">
            <a:avLst/>
          </a:prstGeom>
          <a:solidFill>
            <a:srgbClr val="9900CC">
              <a:alpha val="43137"/>
            </a:srgb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2529" name="Oval 35"/>
          <p:cNvSpPr>
            <a:spLocks noChangeArrowheads="1"/>
          </p:cNvSpPr>
          <p:nvPr/>
        </p:nvSpPr>
        <p:spPr bwMode="auto">
          <a:xfrm rot="-1015699">
            <a:off x="4130387" y="1865313"/>
            <a:ext cx="4247285" cy="1543050"/>
          </a:xfrm>
          <a:prstGeom prst="ellipse">
            <a:avLst/>
          </a:prstGeom>
          <a:solidFill>
            <a:srgbClr val="9900CC">
              <a:alpha val="43137"/>
            </a:srgb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2530" name="Oval 35"/>
          <p:cNvSpPr>
            <a:spLocks noChangeArrowheads="1"/>
          </p:cNvSpPr>
          <p:nvPr/>
        </p:nvSpPr>
        <p:spPr bwMode="auto">
          <a:xfrm rot="780817">
            <a:off x="4097719" y="3122459"/>
            <a:ext cx="4394489" cy="1389062"/>
          </a:xfrm>
          <a:prstGeom prst="ellipse">
            <a:avLst/>
          </a:prstGeom>
          <a:solidFill>
            <a:srgbClr val="9900CC">
              <a:alpha val="43137"/>
            </a:srgb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2531" name="Oval 35"/>
          <p:cNvSpPr>
            <a:spLocks noChangeArrowheads="1"/>
          </p:cNvSpPr>
          <p:nvPr/>
        </p:nvSpPr>
        <p:spPr bwMode="auto">
          <a:xfrm rot="1719261">
            <a:off x="3759489" y="4056063"/>
            <a:ext cx="5234420" cy="1543050"/>
          </a:xfrm>
          <a:prstGeom prst="ellipse">
            <a:avLst/>
          </a:prstGeom>
          <a:solidFill>
            <a:srgbClr val="9900CC">
              <a:alpha val="43137"/>
            </a:srgb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2533" name="TextBox 4"/>
          <p:cNvSpPr txBox="1">
            <a:spLocks noChangeArrowheads="1"/>
          </p:cNvSpPr>
          <p:nvPr/>
        </p:nvSpPr>
        <p:spPr bwMode="auto">
          <a:xfrm>
            <a:off x="1939636" y="2743200"/>
            <a:ext cx="179189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S. pneumoniae</a:t>
            </a:r>
          </a:p>
        </p:txBody>
      </p:sp>
      <p:sp>
        <p:nvSpPr>
          <p:cNvPr id="192534" name="Oval 35"/>
          <p:cNvSpPr>
            <a:spLocks noChangeArrowheads="1"/>
          </p:cNvSpPr>
          <p:nvPr/>
        </p:nvSpPr>
        <p:spPr bwMode="auto">
          <a:xfrm rot="1822415">
            <a:off x="1661103" y="2505075"/>
            <a:ext cx="3081193" cy="1517650"/>
          </a:xfrm>
          <a:prstGeom prst="ellipse">
            <a:avLst/>
          </a:prstGeom>
          <a:solidFill>
            <a:srgbClr val="9900CC">
              <a:alpha val="43137"/>
            </a:srgb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2532" name="TextBox 30"/>
          <p:cNvSpPr txBox="1">
            <a:spLocks noChangeArrowheads="1"/>
          </p:cNvSpPr>
          <p:nvPr/>
        </p:nvSpPr>
        <p:spPr bwMode="auto">
          <a:xfrm>
            <a:off x="4087091" y="3638490"/>
            <a:ext cx="1339204" cy="40011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2000" b="1" dirty="0" err="1"/>
              <a:t>Cefepime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49088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3" name="Rectangle 8"/>
          <p:cNvSpPr>
            <a:spLocks noChangeArrowheads="1"/>
          </p:cNvSpPr>
          <p:nvPr/>
        </p:nvSpPr>
        <p:spPr bwMode="auto">
          <a:xfrm>
            <a:off x="0" y="-228600"/>
            <a:ext cx="9144000" cy="7086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  <a:p>
            <a:r>
              <a:rPr lang="en-US"/>
              <a:t>Gram-positive                                                           Gram-negative</a:t>
            </a:r>
          </a:p>
        </p:txBody>
      </p:sp>
      <p:sp>
        <p:nvSpPr>
          <p:cNvPr id="223234" name="TextBox 3"/>
          <p:cNvSpPr txBox="1">
            <a:spLocks noChangeArrowheads="1"/>
          </p:cNvSpPr>
          <p:nvPr/>
        </p:nvSpPr>
        <p:spPr bwMode="auto">
          <a:xfrm>
            <a:off x="2514023" y="3352800"/>
            <a:ext cx="185602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Strep pyogenes</a:t>
            </a:r>
          </a:p>
        </p:txBody>
      </p:sp>
      <p:sp>
        <p:nvSpPr>
          <p:cNvPr id="223235" name="TextBox 6"/>
          <p:cNvSpPr txBox="1">
            <a:spLocks noChangeArrowheads="1"/>
          </p:cNvSpPr>
          <p:nvPr/>
        </p:nvSpPr>
        <p:spPr bwMode="auto">
          <a:xfrm>
            <a:off x="1143000" y="1828801"/>
            <a:ext cx="163759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Enterococcus</a:t>
            </a:r>
          </a:p>
          <a:p>
            <a:r>
              <a:rPr lang="en-US" sz="1800" i="1"/>
              <a:t>faecalis</a:t>
            </a:r>
          </a:p>
        </p:txBody>
      </p:sp>
      <p:sp>
        <p:nvSpPr>
          <p:cNvPr id="223236" name="TextBox 7"/>
          <p:cNvSpPr txBox="1">
            <a:spLocks noChangeArrowheads="1"/>
          </p:cNvSpPr>
          <p:nvPr/>
        </p:nvSpPr>
        <p:spPr bwMode="auto">
          <a:xfrm>
            <a:off x="0" y="533401"/>
            <a:ext cx="169629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Enterococcus</a:t>
            </a:r>
          </a:p>
          <a:p>
            <a:r>
              <a:rPr lang="en-US" sz="1800" i="1"/>
              <a:t>faecium </a:t>
            </a:r>
            <a:r>
              <a:rPr lang="en-US" sz="1800"/>
              <a:t>(VRE)</a:t>
            </a:r>
          </a:p>
        </p:txBody>
      </p:sp>
      <p:sp>
        <p:nvSpPr>
          <p:cNvPr id="223237" name="TextBox 9"/>
          <p:cNvSpPr txBox="1">
            <a:spLocks noChangeArrowheads="1"/>
          </p:cNvSpPr>
          <p:nvPr/>
        </p:nvSpPr>
        <p:spPr bwMode="auto">
          <a:xfrm>
            <a:off x="1524000" y="4267201"/>
            <a:ext cx="161223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Staph aureus</a:t>
            </a:r>
          </a:p>
          <a:p>
            <a:r>
              <a:rPr lang="en-US" sz="1800"/>
              <a:t>(MSSA)</a:t>
            </a:r>
          </a:p>
        </p:txBody>
      </p:sp>
      <p:sp>
        <p:nvSpPr>
          <p:cNvPr id="223238" name="TextBox 10"/>
          <p:cNvSpPr txBox="1">
            <a:spLocks noChangeArrowheads="1"/>
          </p:cNvSpPr>
          <p:nvPr/>
        </p:nvSpPr>
        <p:spPr bwMode="auto">
          <a:xfrm>
            <a:off x="0" y="5562601"/>
            <a:ext cx="161223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Staph aureus</a:t>
            </a:r>
          </a:p>
          <a:p>
            <a:r>
              <a:rPr lang="en-US" sz="1800"/>
              <a:t>(MRSA)</a:t>
            </a:r>
          </a:p>
        </p:txBody>
      </p:sp>
      <p:sp>
        <p:nvSpPr>
          <p:cNvPr id="223239" name="TextBox 11"/>
          <p:cNvSpPr txBox="1">
            <a:spLocks noChangeArrowheads="1"/>
          </p:cNvSpPr>
          <p:nvPr/>
        </p:nvSpPr>
        <p:spPr bwMode="auto">
          <a:xfrm>
            <a:off x="5029489" y="2667001"/>
            <a:ext cx="108553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Proteus</a:t>
            </a:r>
          </a:p>
          <a:p>
            <a:r>
              <a:rPr lang="en-US" sz="1800" i="1"/>
              <a:t>mirabilis</a:t>
            </a:r>
          </a:p>
        </p:txBody>
      </p:sp>
      <p:sp>
        <p:nvSpPr>
          <p:cNvPr id="223240" name="TextBox 12"/>
          <p:cNvSpPr txBox="1">
            <a:spLocks noChangeArrowheads="1"/>
          </p:cNvSpPr>
          <p:nvPr/>
        </p:nvSpPr>
        <p:spPr bwMode="auto">
          <a:xfrm>
            <a:off x="5791489" y="2438400"/>
            <a:ext cx="86766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E. coli</a:t>
            </a:r>
          </a:p>
        </p:txBody>
      </p:sp>
      <p:sp>
        <p:nvSpPr>
          <p:cNvPr id="223241" name="TextBox 13"/>
          <p:cNvSpPr txBox="1">
            <a:spLocks noChangeArrowheads="1"/>
          </p:cNvSpPr>
          <p:nvPr/>
        </p:nvSpPr>
        <p:spPr bwMode="auto">
          <a:xfrm>
            <a:off x="6248977" y="1905001"/>
            <a:ext cx="151160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Klebsiella</a:t>
            </a:r>
          </a:p>
          <a:p>
            <a:r>
              <a:rPr lang="en-US" sz="1800" i="1"/>
              <a:t>pneumoniae</a:t>
            </a:r>
          </a:p>
        </p:txBody>
      </p:sp>
      <p:sp>
        <p:nvSpPr>
          <p:cNvPr id="223242" name="TextBox 14"/>
          <p:cNvSpPr txBox="1">
            <a:spLocks noChangeArrowheads="1"/>
          </p:cNvSpPr>
          <p:nvPr/>
        </p:nvSpPr>
        <p:spPr bwMode="auto">
          <a:xfrm>
            <a:off x="7010977" y="5486400"/>
            <a:ext cx="171479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Pseudomonas</a:t>
            </a:r>
          </a:p>
        </p:txBody>
      </p:sp>
      <p:sp>
        <p:nvSpPr>
          <p:cNvPr id="223243" name="TextBox 16"/>
          <p:cNvSpPr txBox="1">
            <a:spLocks noChangeArrowheads="1"/>
          </p:cNvSpPr>
          <p:nvPr/>
        </p:nvSpPr>
        <p:spPr bwMode="auto">
          <a:xfrm>
            <a:off x="6705023" y="3581400"/>
            <a:ext cx="167697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H. influenzae</a:t>
            </a:r>
          </a:p>
        </p:txBody>
      </p:sp>
      <p:sp>
        <p:nvSpPr>
          <p:cNvPr id="223245" name="TextBox 18"/>
          <p:cNvSpPr txBox="1">
            <a:spLocks noChangeArrowheads="1"/>
          </p:cNvSpPr>
          <p:nvPr/>
        </p:nvSpPr>
        <p:spPr bwMode="auto">
          <a:xfrm>
            <a:off x="7239000" y="1600200"/>
            <a:ext cx="104732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Serratia</a:t>
            </a:r>
          </a:p>
        </p:txBody>
      </p:sp>
      <p:sp>
        <p:nvSpPr>
          <p:cNvPr id="223246" name="TextBox 19"/>
          <p:cNvSpPr txBox="1">
            <a:spLocks noChangeArrowheads="1"/>
          </p:cNvSpPr>
          <p:nvPr/>
        </p:nvSpPr>
        <p:spPr bwMode="auto">
          <a:xfrm>
            <a:off x="5638512" y="4724400"/>
            <a:ext cx="213446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 dirty="0" err="1"/>
              <a:t>Enterobacter</a:t>
            </a:r>
            <a:r>
              <a:rPr lang="en-US" sz="1800" i="1" dirty="0"/>
              <a:t> </a:t>
            </a:r>
            <a:r>
              <a:rPr lang="en-US" sz="1800" i="1" dirty="0" err="1"/>
              <a:t>spp</a:t>
            </a:r>
            <a:endParaRPr lang="en-US" sz="1800" i="1" dirty="0"/>
          </a:p>
        </p:txBody>
      </p:sp>
      <p:sp>
        <p:nvSpPr>
          <p:cNvPr id="223247" name="TextBox 21"/>
          <p:cNvSpPr txBox="1">
            <a:spLocks noChangeArrowheads="1"/>
          </p:cNvSpPr>
          <p:nvPr/>
        </p:nvSpPr>
        <p:spPr bwMode="auto">
          <a:xfrm>
            <a:off x="4419023" y="5257801"/>
            <a:ext cx="145804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Bacteroides</a:t>
            </a:r>
          </a:p>
          <a:p>
            <a:r>
              <a:rPr lang="en-US" sz="1800" i="1"/>
              <a:t> fragilis</a:t>
            </a:r>
          </a:p>
        </p:txBody>
      </p:sp>
      <p:sp>
        <p:nvSpPr>
          <p:cNvPr id="223248" name="Oval 23"/>
          <p:cNvSpPr>
            <a:spLocks noChangeArrowheads="1"/>
          </p:cNvSpPr>
          <p:nvPr/>
        </p:nvSpPr>
        <p:spPr bwMode="auto">
          <a:xfrm rot="10597553">
            <a:off x="4268819" y="3045619"/>
            <a:ext cx="4642716" cy="1401763"/>
          </a:xfrm>
          <a:prstGeom prst="ellipse">
            <a:avLst/>
          </a:prstGeom>
          <a:solidFill>
            <a:srgbClr val="FF33CC">
              <a:alpha val="43137"/>
            </a:srgb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3249" name="Oval 22"/>
          <p:cNvSpPr>
            <a:spLocks noChangeArrowheads="1"/>
          </p:cNvSpPr>
          <p:nvPr/>
        </p:nvSpPr>
        <p:spPr bwMode="auto">
          <a:xfrm rot="8787713">
            <a:off x="4495512" y="1662113"/>
            <a:ext cx="3965864" cy="1835150"/>
          </a:xfrm>
          <a:prstGeom prst="ellipse">
            <a:avLst/>
          </a:prstGeom>
          <a:solidFill>
            <a:srgbClr val="FF33CC">
              <a:alpha val="43137"/>
            </a:srgb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3250" name="Oval 24"/>
          <p:cNvSpPr>
            <a:spLocks noChangeArrowheads="1"/>
          </p:cNvSpPr>
          <p:nvPr/>
        </p:nvSpPr>
        <p:spPr bwMode="auto">
          <a:xfrm rot="10476590">
            <a:off x="1264227" y="3873500"/>
            <a:ext cx="3990398" cy="1181100"/>
          </a:xfrm>
          <a:prstGeom prst="ellipse">
            <a:avLst/>
          </a:prstGeom>
          <a:solidFill>
            <a:srgbClr val="FF33CC">
              <a:alpha val="43137"/>
            </a:srgb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3251" name="Oval 25"/>
          <p:cNvSpPr>
            <a:spLocks noChangeArrowheads="1"/>
          </p:cNvSpPr>
          <p:nvPr/>
        </p:nvSpPr>
        <p:spPr bwMode="auto">
          <a:xfrm rot="10270976">
            <a:off x="4117399" y="3771901"/>
            <a:ext cx="1382568" cy="2530475"/>
          </a:xfrm>
          <a:prstGeom prst="ellipse">
            <a:avLst/>
          </a:prstGeom>
          <a:solidFill>
            <a:srgbClr val="FF33CC">
              <a:alpha val="43137"/>
            </a:srgb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3252" name="Oval 22"/>
          <p:cNvSpPr>
            <a:spLocks noChangeArrowheads="1"/>
          </p:cNvSpPr>
          <p:nvPr/>
        </p:nvSpPr>
        <p:spPr bwMode="auto">
          <a:xfrm rot="-9279016">
            <a:off x="3839287" y="3698109"/>
            <a:ext cx="3787919" cy="1532840"/>
          </a:xfrm>
          <a:prstGeom prst="ellipse">
            <a:avLst/>
          </a:prstGeom>
          <a:solidFill>
            <a:srgbClr val="FF33CC">
              <a:alpha val="43137"/>
            </a:srgb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3254" name="TextBox 4"/>
          <p:cNvSpPr txBox="1">
            <a:spLocks noChangeArrowheads="1"/>
          </p:cNvSpPr>
          <p:nvPr/>
        </p:nvSpPr>
        <p:spPr bwMode="auto">
          <a:xfrm>
            <a:off x="1939636" y="2743200"/>
            <a:ext cx="179189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S. pneumoniae</a:t>
            </a:r>
          </a:p>
        </p:txBody>
      </p:sp>
      <p:sp>
        <p:nvSpPr>
          <p:cNvPr id="223255" name="Oval 35"/>
          <p:cNvSpPr>
            <a:spLocks noChangeArrowheads="1"/>
          </p:cNvSpPr>
          <p:nvPr/>
        </p:nvSpPr>
        <p:spPr bwMode="auto">
          <a:xfrm rot="1525459">
            <a:off x="1692853" y="2655889"/>
            <a:ext cx="3460750" cy="1366837"/>
          </a:xfrm>
          <a:prstGeom prst="ellipse">
            <a:avLst/>
          </a:prstGeom>
          <a:solidFill>
            <a:srgbClr val="FF33CC">
              <a:alpha val="43137"/>
            </a:srgb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3253" name="TextBox 30"/>
          <p:cNvSpPr txBox="1">
            <a:spLocks noChangeArrowheads="1"/>
          </p:cNvSpPr>
          <p:nvPr/>
        </p:nvSpPr>
        <p:spPr bwMode="auto">
          <a:xfrm>
            <a:off x="4087091" y="3746500"/>
            <a:ext cx="137771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b="1" dirty="0" err="1"/>
              <a:t>Ertapenem</a:t>
            </a:r>
            <a:endParaRPr 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8389454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53" name="Rectangle 8"/>
          <p:cNvSpPr>
            <a:spLocks noChangeArrowheads="1"/>
          </p:cNvSpPr>
          <p:nvPr/>
        </p:nvSpPr>
        <p:spPr bwMode="auto">
          <a:xfrm>
            <a:off x="0" y="-228600"/>
            <a:ext cx="9144000" cy="7086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  <a:p>
            <a:r>
              <a:rPr lang="en-US"/>
              <a:t>Gram-positive                                                           Gram-negative</a:t>
            </a:r>
          </a:p>
        </p:txBody>
      </p:sp>
      <p:sp>
        <p:nvSpPr>
          <p:cNvPr id="228354" name="TextBox 3"/>
          <p:cNvSpPr txBox="1">
            <a:spLocks noChangeArrowheads="1"/>
          </p:cNvSpPr>
          <p:nvPr/>
        </p:nvSpPr>
        <p:spPr bwMode="auto">
          <a:xfrm>
            <a:off x="2514023" y="3352800"/>
            <a:ext cx="185602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Strep pyogenes</a:t>
            </a:r>
          </a:p>
        </p:txBody>
      </p:sp>
      <p:sp>
        <p:nvSpPr>
          <p:cNvPr id="228355" name="TextBox 6"/>
          <p:cNvSpPr txBox="1">
            <a:spLocks noChangeArrowheads="1"/>
          </p:cNvSpPr>
          <p:nvPr/>
        </p:nvSpPr>
        <p:spPr bwMode="auto">
          <a:xfrm>
            <a:off x="1143000" y="1828801"/>
            <a:ext cx="163759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Enterococcus</a:t>
            </a:r>
          </a:p>
          <a:p>
            <a:r>
              <a:rPr lang="en-US" sz="1800" i="1"/>
              <a:t>faecalis</a:t>
            </a:r>
          </a:p>
        </p:txBody>
      </p:sp>
      <p:sp>
        <p:nvSpPr>
          <p:cNvPr id="228356" name="TextBox 7"/>
          <p:cNvSpPr txBox="1">
            <a:spLocks noChangeArrowheads="1"/>
          </p:cNvSpPr>
          <p:nvPr/>
        </p:nvSpPr>
        <p:spPr bwMode="auto">
          <a:xfrm>
            <a:off x="0" y="533401"/>
            <a:ext cx="169629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Enterococcus</a:t>
            </a:r>
          </a:p>
          <a:p>
            <a:r>
              <a:rPr lang="en-US" sz="1800" i="1"/>
              <a:t>faecium </a:t>
            </a:r>
            <a:r>
              <a:rPr lang="en-US" sz="1800"/>
              <a:t>(VRE)</a:t>
            </a:r>
          </a:p>
        </p:txBody>
      </p:sp>
      <p:sp>
        <p:nvSpPr>
          <p:cNvPr id="228357" name="TextBox 9"/>
          <p:cNvSpPr txBox="1">
            <a:spLocks noChangeArrowheads="1"/>
          </p:cNvSpPr>
          <p:nvPr/>
        </p:nvSpPr>
        <p:spPr bwMode="auto">
          <a:xfrm>
            <a:off x="1524000" y="4267201"/>
            <a:ext cx="161223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Staph aureus</a:t>
            </a:r>
          </a:p>
          <a:p>
            <a:r>
              <a:rPr lang="en-US" sz="1800"/>
              <a:t>(MSSA)</a:t>
            </a:r>
          </a:p>
        </p:txBody>
      </p:sp>
      <p:sp>
        <p:nvSpPr>
          <p:cNvPr id="228358" name="TextBox 10"/>
          <p:cNvSpPr txBox="1">
            <a:spLocks noChangeArrowheads="1"/>
          </p:cNvSpPr>
          <p:nvPr/>
        </p:nvSpPr>
        <p:spPr bwMode="auto">
          <a:xfrm>
            <a:off x="0" y="5562601"/>
            <a:ext cx="161223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Staph aureus</a:t>
            </a:r>
          </a:p>
          <a:p>
            <a:r>
              <a:rPr lang="en-US" sz="1800"/>
              <a:t>(MRSA)</a:t>
            </a:r>
          </a:p>
        </p:txBody>
      </p:sp>
      <p:sp>
        <p:nvSpPr>
          <p:cNvPr id="228359" name="TextBox 11"/>
          <p:cNvSpPr txBox="1">
            <a:spLocks noChangeArrowheads="1"/>
          </p:cNvSpPr>
          <p:nvPr/>
        </p:nvSpPr>
        <p:spPr bwMode="auto">
          <a:xfrm>
            <a:off x="5029489" y="2667001"/>
            <a:ext cx="108553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Proteus</a:t>
            </a:r>
          </a:p>
          <a:p>
            <a:r>
              <a:rPr lang="en-US" sz="1800" i="1"/>
              <a:t>mirabilis</a:t>
            </a:r>
          </a:p>
        </p:txBody>
      </p:sp>
      <p:sp>
        <p:nvSpPr>
          <p:cNvPr id="228360" name="TextBox 12"/>
          <p:cNvSpPr txBox="1">
            <a:spLocks noChangeArrowheads="1"/>
          </p:cNvSpPr>
          <p:nvPr/>
        </p:nvSpPr>
        <p:spPr bwMode="auto">
          <a:xfrm>
            <a:off x="5791489" y="2438400"/>
            <a:ext cx="86766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E. coli</a:t>
            </a:r>
          </a:p>
        </p:txBody>
      </p:sp>
      <p:sp>
        <p:nvSpPr>
          <p:cNvPr id="228361" name="TextBox 13"/>
          <p:cNvSpPr txBox="1">
            <a:spLocks noChangeArrowheads="1"/>
          </p:cNvSpPr>
          <p:nvPr/>
        </p:nvSpPr>
        <p:spPr bwMode="auto">
          <a:xfrm>
            <a:off x="6248977" y="1905001"/>
            <a:ext cx="151160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Klebsiella</a:t>
            </a:r>
          </a:p>
          <a:p>
            <a:r>
              <a:rPr lang="en-US" sz="1800" i="1"/>
              <a:t>pneumoniae</a:t>
            </a:r>
          </a:p>
        </p:txBody>
      </p:sp>
      <p:sp>
        <p:nvSpPr>
          <p:cNvPr id="228362" name="TextBox 14"/>
          <p:cNvSpPr txBox="1">
            <a:spLocks noChangeArrowheads="1"/>
          </p:cNvSpPr>
          <p:nvPr/>
        </p:nvSpPr>
        <p:spPr bwMode="auto">
          <a:xfrm>
            <a:off x="7010977" y="5486400"/>
            <a:ext cx="171479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Pseudomonas</a:t>
            </a:r>
          </a:p>
        </p:txBody>
      </p:sp>
      <p:sp>
        <p:nvSpPr>
          <p:cNvPr id="228363" name="TextBox 16"/>
          <p:cNvSpPr txBox="1">
            <a:spLocks noChangeArrowheads="1"/>
          </p:cNvSpPr>
          <p:nvPr/>
        </p:nvSpPr>
        <p:spPr bwMode="auto">
          <a:xfrm>
            <a:off x="6705023" y="3581400"/>
            <a:ext cx="167697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H. influenzae</a:t>
            </a:r>
          </a:p>
        </p:txBody>
      </p:sp>
      <p:sp>
        <p:nvSpPr>
          <p:cNvPr id="228365" name="TextBox 18"/>
          <p:cNvSpPr txBox="1">
            <a:spLocks noChangeArrowheads="1"/>
          </p:cNvSpPr>
          <p:nvPr/>
        </p:nvSpPr>
        <p:spPr bwMode="auto">
          <a:xfrm>
            <a:off x="7239000" y="1600200"/>
            <a:ext cx="104732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Serratia</a:t>
            </a:r>
          </a:p>
        </p:txBody>
      </p:sp>
      <p:sp>
        <p:nvSpPr>
          <p:cNvPr id="228366" name="TextBox 19"/>
          <p:cNvSpPr txBox="1">
            <a:spLocks noChangeArrowheads="1"/>
          </p:cNvSpPr>
          <p:nvPr/>
        </p:nvSpPr>
        <p:spPr bwMode="auto">
          <a:xfrm>
            <a:off x="5638512" y="4724400"/>
            <a:ext cx="213446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Enterobacter spp</a:t>
            </a:r>
          </a:p>
        </p:txBody>
      </p:sp>
      <p:sp>
        <p:nvSpPr>
          <p:cNvPr id="228367" name="TextBox 21"/>
          <p:cNvSpPr txBox="1">
            <a:spLocks noChangeArrowheads="1"/>
          </p:cNvSpPr>
          <p:nvPr/>
        </p:nvSpPr>
        <p:spPr bwMode="auto">
          <a:xfrm>
            <a:off x="4419023" y="5257801"/>
            <a:ext cx="145804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Bacteroides</a:t>
            </a:r>
          </a:p>
          <a:p>
            <a:r>
              <a:rPr lang="en-US" sz="1800" i="1"/>
              <a:t> fragilis</a:t>
            </a:r>
          </a:p>
        </p:txBody>
      </p:sp>
      <p:sp>
        <p:nvSpPr>
          <p:cNvPr id="228368" name="Oval 23"/>
          <p:cNvSpPr>
            <a:spLocks noChangeArrowheads="1"/>
          </p:cNvSpPr>
          <p:nvPr/>
        </p:nvSpPr>
        <p:spPr bwMode="auto">
          <a:xfrm rot="10597553">
            <a:off x="4117781" y="3280843"/>
            <a:ext cx="4961659" cy="1189037"/>
          </a:xfrm>
          <a:prstGeom prst="ellipse">
            <a:avLst/>
          </a:prstGeom>
          <a:solidFill>
            <a:srgbClr val="B2B2B2">
              <a:alpha val="50196"/>
            </a:srgbClr>
          </a:solidFill>
          <a:ln w="9525">
            <a:solidFill>
              <a:srgbClr val="B3B3B3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8369" name="Oval 22"/>
          <p:cNvSpPr>
            <a:spLocks noChangeArrowheads="1"/>
          </p:cNvSpPr>
          <p:nvPr/>
        </p:nvSpPr>
        <p:spPr bwMode="auto">
          <a:xfrm rot="9127784">
            <a:off x="4216977" y="1587500"/>
            <a:ext cx="3965864" cy="1835150"/>
          </a:xfrm>
          <a:prstGeom prst="ellipse">
            <a:avLst/>
          </a:prstGeom>
          <a:solidFill>
            <a:srgbClr val="B2B2B2">
              <a:alpha val="50196"/>
            </a:srgbClr>
          </a:solidFill>
          <a:ln w="9525">
            <a:solidFill>
              <a:srgbClr val="B3B3B3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8370" name="Oval 24"/>
          <p:cNvSpPr>
            <a:spLocks noChangeArrowheads="1"/>
          </p:cNvSpPr>
          <p:nvPr/>
        </p:nvSpPr>
        <p:spPr bwMode="auto">
          <a:xfrm rot="10476590">
            <a:off x="1264227" y="3873500"/>
            <a:ext cx="3990398" cy="1181100"/>
          </a:xfrm>
          <a:prstGeom prst="ellipse">
            <a:avLst/>
          </a:prstGeom>
          <a:solidFill>
            <a:srgbClr val="B2B2B2">
              <a:alpha val="50196"/>
            </a:srgbClr>
          </a:solidFill>
          <a:ln w="9525">
            <a:solidFill>
              <a:srgbClr val="B3B3B3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8371" name="Oval 25"/>
          <p:cNvSpPr>
            <a:spLocks noChangeArrowheads="1"/>
          </p:cNvSpPr>
          <p:nvPr/>
        </p:nvSpPr>
        <p:spPr bwMode="auto">
          <a:xfrm rot="10270976">
            <a:off x="4117399" y="3771901"/>
            <a:ext cx="1382568" cy="2530475"/>
          </a:xfrm>
          <a:prstGeom prst="ellipse">
            <a:avLst/>
          </a:prstGeom>
          <a:solidFill>
            <a:srgbClr val="B2B2B2">
              <a:alpha val="50196"/>
            </a:srgbClr>
          </a:solidFill>
          <a:ln w="9525">
            <a:solidFill>
              <a:srgbClr val="B3B3B3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7" name="Oval 22"/>
          <p:cNvSpPr>
            <a:spLocks noChangeArrowheads="1"/>
          </p:cNvSpPr>
          <p:nvPr/>
        </p:nvSpPr>
        <p:spPr bwMode="auto">
          <a:xfrm rot="11785227">
            <a:off x="3602931" y="4296810"/>
            <a:ext cx="5385941" cy="1835150"/>
          </a:xfrm>
          <a:prstGeom prst="ellipse">
            <a:avLst/>
          </a:prstGeom>
          <a:solidFill>
            <a:srgbClr val="B2B2B2">
              <a:alpha val="50196"/>
            </a:srgbClr>
          </a:solidFill>
          <a:ln w="9525">
            <a:gradFill flip="none" rotWithShape="1">
              <a:gsLst>
                <a:gs pos="88000">
                  <a:srgbClr val="B3B3B3"/>
                </a:gs>
                <a:gs pos="100000">
                  <a:srgbClr val="FFFFFF"/>
                </a:gs>
              </a:gsLst>
              <a:lin ang="0" scaled="1"/>
              <a:tileRect/>
            </a:gra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ea typeface="ＭＳ Ｐゴシック" charset="-128"/>
              <a:cs typeface="ＭＳ Ｐゴシック" charset="-128"/>
            </a:endParaRPr>
          </a:p>
        </p:txBody>
      </p:sp>
      <p:sp>
        <p:nvSpPr>
          <p:cNvPr id="228376" name="TextBox 4"/>
          <p:cNvSpPr txBox="1">
            <a:spLocks noChangeArrowheads="1"/>
          </p:cNvSpPr>
          <p:nvPr/>
        </p:nvSpPr>
        <p:spPr bwMode="auto">
          <a:xfrm>
            <a:off x="1939636" y="2743200"/>
            <a:ext cx="179189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S. pneumoniae</a:t>
            </a:r>
          </a:p>
        </p:txBody>
      </p:sp>
      <p:sp>
        <p:nvSpPr>
          <p:cNvPr id="228377" name="Oval 35"/>
          <p:cNvSpPr>
            <a:spLocks noChangeArrowheads="1"/>
          </p:cNvSpPr>
          <p:nvPr/>
        </p:nvSpPr>
        <p:spPr bwMode="auto">
          <a:xfrm rot="1822415">
            <a:off x="868288" y="2290569"/>
            <a:ext cx="4267489" cy="1538287"/>
          </a:xfrm>
          <a:prstGeom prst="ellipse">
            <a:avLst/>
          </a:prstGeom>
          <a:solidFill>
            <a:srgbClr val="B2B2B2">
              <a:alpha val="50196"/>
            </a:srgbClr>
          </a:solidFill>
          <a:ln w="9525">
            <a:solidFill>
              <a:srgbClr val="B3B3B3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8375" name="TextBox 30"/>
          <p:cNvSpPr txBox="1">
            <a:spLocks noChangeArrowheads="1"/>
          </p:cNvSpPr>
          <p:nvPr/>
        </p:nvSpPr>
        <p:spPr bwMode="auto">
          <a:xfrm>
            <a:off x="4087091" y="3746501"/>
            <a:ext cx="1480168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/>
            <a:r>
              <a:rPr lang="en-US" sz="1800" b="1" dirty="0" err="1"/>
              <a:t>Imipenem</a:t>
            </a:r>
            <a:endParaRPr lang="en-US" sz="1800" b="1" dirty="0"/>
          </a:p>
          <a:p>
            <a:pPr algn="ctr"/>
            <a:r>
              <a:rPr lang="en-US" sz="1800" b="1" dirty="0" err="1"/>
              <a:t>Meropenem</a:t>
            </a:r>
            <a:endParaRPr lang="en-US" sz="1800" b="1" dirty="0"/>
          </a:p>
          <a:p>
            <a:pPr algn="ctr"/>
            <a:r>
              <a:rPr lang="en-US" sz="1800" b="1" dirty="0" err="1"/>
              <a:t>Doripenem</a:t>
            </a:r>
            <a:endParaRPr 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32702446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13" name="Rectangle 8"/>
          <p:cNvSpPr>
            <a:spLocks noChangeArrowheads="1"/>
          </p:cNvSpPr>
          <p:nvPr/>
        </p:nvSpPr>
        <p:spPr bwMode="auto">
          <a:xfrm>
            <a:off x="0" y="-228600"/>
            <a:ext cx="9144000" cy="7086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  <a:p>
            <a:r>
              <a:rPr lang="en-US"/>
              <a:t>Gram-positive                                                           Gram-negative</a:t>
            </a:r>
          </a:p>
        </p:txBody>
      </p:sp>
      <p:sp>
        <p:nvSpPr>
          <p:cNvPr id="218114" name="TextBox 3"/>
          <p:cNvSpPr txBox="1">
            <a:spLocks noChangeArrowheads="1"/>
          </p:cNvSpPr>
          <p:nvPr/>
        </p:nvSpPr>
        <p:spPr bwMode="auto">
          <a:xfrm>
            <a:off x="2514023" y="3352800"/>
            <a:ext cx="185602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Strep pyogenes</a:t>
            </a:r>
          </a:p>
        </p:txBody>
      </p:sp>
      <p:sp>
        <p:nvSpPr>
          <p:cNvPr id="218115" name="TextBox 6"/>
          <p:cNvSpPr txBox="1">
            <a:spLocks noChangeArrowheads="1"/>
          </p:cNvSpPr>
          <p:nvPr/>
        </p:nvSpPr>
        <p:spPr bwMode="auto">
          <a:xfrm>
            <a:off x="1143000" y="1828801"/>
            <a:ext cx="163759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Enterococcus</a:t>
            </a:r>
          </a:p>
          <a:p>
            <a:r>
              <a:rPr lang="en-US" sz="1800" i="1"/>
              <a:t>faecalis</a:t>
            </a:r>
          </a:p>
        </p:txBody>
      </p:sp>
      <p:sp>
        <p:nvSpPr>
          <p:cNvPr id="218116" name="TextBox 7"/>
          <p:cNvSpPr txBox="1">
            <a:spLocks noChangeArrowheads="1"/>
          </p:cNvSpPr>
          <p:nvPr/>
        </p:nvSpPr>
        <p:spPr bwMode="auto">
          <a:xfrm>
            <a:off x="0" y="533401"/>
            <a:ext cx="169629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Enterococcus</a:t>
            </a:r>
          </a:p>
          <a:p>
            <a:r>
              <a:rPr lang="en-US" sz="1800" i="1"/>
              <a:t>faecium </a:t>
            </a:r>
            <a:r>
              <a:rPr lang="en-US" sz="1800"/>
              <a:t>(VRE)</a:t>
            </a:r>
          </a:p>
        </p:txBody>
      </p:sp>
      <p:sp>
        <p:nvSpPr>
          <p:cNvPr id="218117" name="TextBox 9"/>
          <p:cNvSpPr txBox="1">
            <a:spLocks noChangeArrowheads="1"/>
          </p:cNvSpPr>
          <p:nvPr/>
        </p:nvSpPr>
        <p:spPr bwMode="auto">
          <a:xfrm>
            <a:off x="1524000" y="4267201"/>
            <a:ext cx="161223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Staph aureus</a:t>
            </a:r>
          </a:p>
          <a:p>
            <a:r>
              <a:rPr lang="en-US" sz="1800"/>
              <a:t>(MSSA)</a:t>
            </a:r>
          </a:p>
        </p:txBody>
      </p:sp>
      <p:sp>
        <p:nvSpPr>
          <p:cNvPr id="218118" name="TextBox 10"/>
          <p:cNvSpPr txBox="1">
            <a:spLocks noChangeArrowheads="1"/>
          </p:cNvSpPr>
          <p:nvPr/>
        </p:nvSpPr>
        <p:spPr bwMode="auto">
          <a:xfrm>
            <a:off x="0" y="5562601"/>
            <a:ext cx="161223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Staph aureus</a:t>
            </a:r>
          </a:p>
          <a:p>
            <a:r>
              <a:rPr lang="en-US" sz="1800"/>
              <a:t>(MRSA)</a:t>
            </a:r>
          </a:p>
        </p:txBody>
      </p:sp>
      <p:sp>
        <p:nvSpPr>
          <p:cNvPr id="218119" name="TextBox 11"/>
          <p:cNvSpPr txBox="1">
            <a:spLocks noChangeArrowheads="1"/>
          </p:cNvSpPr>
          <p:nvPr/>
        </p:nvSpPr>
        <p:spPr bwMode="auto">
          <a:xfrm>
            <a:off x="5029489" y="2667001"/>
            <a:ext cx="108553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Proteus</a:t>
            </a:r>
          </a:p>
          <a:p>
            <a:r>
              <a:rPr lang="en-US" sz="1800" i="1"/>
              <a:t>mirabilis</a:t>
            </a:r>
          </a:p>
        </p:txBody>
      </p:sp>
      <p:sp>
        <p:nvSpPr>
          <p:cNvPr id="218120" name="TextBox 12"/>
          <p:cNvSpPr txBox="1">
            <a:spLocks noChangeArrowheads="1"/>
          </p:cNvSpPr>
          <p:nvPr/>
        </p:nvSpPr>
        <p:spPr bwMode="auto">
          <a:xfrm>
            <a:off x="5791489" y="2438400"/>
            <a:ext cx="86766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E. coli</a:t>
            </a:r>
          </a:p>
        </p:txBody>
      </p:sp>
      <p:sp>
        <p:nvSpPr>
          <p:cNvPr id="218121" name="TextBox 13"/>
          <p:cNvSpPr txBox="1">
            <a:spLocks noChangeArrowheads="1"/>
          </p:cNvSpPr>
          <p:nvPr/>
        </p:nvSpPr>
        <p:spPr bwMode="auto">
          <a:xfrm>
            <a:off x="6248977" y="1905001"/>
            <a:ext cx="151160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Klebsiella</a:t>
            </a:r>
          </a:p>
          <a:p>
            <a:r>
              <a:rPr lang="en-US" sz="1800" i="1"/>
              <a:t>pneumoniae</a:t>
            </a:r>
          </a:p>
        </p:txBody>
      </p:sp>
      <p:sp>
        <p:nvSpPr>
          <p:cNvPr id="218122" name="TextBox 14"/>
          <p:cNvSpPr txBox="1">
            <a:spLocks noChangeArrowheads="1"/>
          </p:cNvSpPr>
          <p:nvPr/>
        </p:nvSpPr>
        <p:spPr bwMode="auto">
          <a:xfrm>
            <a:off x="7010977" y="5486400"/>
            <a:ext cx="171479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Pseudomonas</a:t>
            </a:r>
          </a:p>
        </p:txBody>
      </p:sp>
      <p:sp>
        <p:nvSpPr>
          <p:cNvPr id="218123" name="TextBox 16"/>
          <p:cNvSpPr txBox="1">
            <a:spLocks noChangeArrowheads="1"/>
          </p:cNvSpPr>
          <p:nvPr/>
        </p:nvSpPr>
        <p:spPr bwMode="auto">
          <a:xfrm>
            <a:off x="6705023" y="3581400"/>
            <a:ext cx="167697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H. influenzae</a:t>
            </a:r>
          </a:p>
        </p:txBody>
      </p:sp>
      <p:sp>
        <p:nvSpPr>
          <p:cNvPr id="218124" name="TextBox 17"/>
          <p:cNvSpPr txBox="1">
            <a:spLocks noChangeArrowheads="1"/>
          </p:cNvSpPr>
          <p:nvPr/>
        </p:nvSpPr>
        <p:spPr bwMode="auto">
          <a:xfrm>
            <a:off x="5715000" y="3962400"/>
            <a:ext cx="175202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N. meningitidis</a:t>
            </a:r>
          </a:p>
        </p:txBody>
      </p:sp>
      <p:sp>
        <p:nvSpPr>
          <p:cNvPr id="218125" name="TextBox 18"/>
          <p:cNvSpPr txBox="1">
            <a:spLocks noChangeArrowheads="1"/>
          </p:cNvSpPr>
          <p:nvPr/>
        </p:nvSpPr>
        <p:spPr bwMode="auto">
          <a:xfrm>
            <a:off x="7239000" y="1600200"/>
            <a:ext cx="104732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Serratia</a:t>
            </a:r>
          </a:p>
        </p:txBody>
      </p:sp>
      <p:sp>
        <p:nvSpPr>
          <p:cNvPr id="218126" name="TextBox 19"/>
          <p:cNvSpPr txBox="1">
            <a:spLocks noChangeArrowheads="1"/>
          </p:cNvSpPr>
          <p:nvPr/>
        </p:nvSpPr>
        <p:spPr bwMode="auto">
          <a:xfrm>
            <a:off x="5638512" y="4724400"/>
            <a:ext cx="213446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Enterobacter spp</a:t>
            </a:r>
          </a:p>
        </p:txBody>
      </p:sp>
      <p:sp>
        <p:nvSpPr>
          <p:cNvPr id="218127" name="TextBox 21"/>
          <p:cNvSpPr txBox="1">
            <a:spLocks noChangeArrowheads="1"/>
          </p:cNvSpPr>
          <p:nvPr/>
        </p:nvSpPr>
        <p:spPr bwMode="auto">
          <a:xfrm>
            <a:off x="4419023" y="5257801"/>
            <a:ext cx="145804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Bacteroides</a:t>
            </a:r>
          </a:p>
          <a:p>
            <a:r>
              <a:rPr lang="en-US" sz="1800" i="1"/>
              <a:t> fragilis</a:t>
            </a:r>
          </a:p>
        </p:txBody>
      </p:sp>
      <p:sp>
        <p:nvSpPr>
          <p:cNvPr id="218128" name="Oval 35"/>
          <p:cNvSpPr>
            <a:spLocks noChangeArrowheads="1"/>
          </p:cNvSpPr>
          <p:nvPr/>
        </p:nvSpPr>
        <p:spPr bwMode="auto">
          <a:xfrm rot="-2181021">
            <a:off x="4075545" y="2036764"/>
            <a:ext cx="4406035" cy="1430337"/>
          </a:xfrm>
          <a:prstGeom prst="ellipse">
            <a:avLst/>
          </a:prstGeom>
          <a:solidFill>
            <a:srgbClr val="00FF00">
              <a:alpha val="34902"/>
            </a:srgb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18129" name="Oval 35"/>
          <p:cNvSpPr>
            <a:spLocks noChangeArrowheads="1"/>
          </p:cNvSpPr>
          <p:nvPr/>
        </p:nvSpPr>
        <p:spPr bwMode="auto">
          <a:xfrm rot="-152584">
            <a:off x="4302125" y="3044825"/>
            <a:ext cx="4427682" cy="1543050"/>
          </a:xfrm>
          <a:prstGeom prst="ellipse">
            <a:avLst/>
          </a:prstGeom>
          <a:solidFill>
            <a:srgbClr val="00FF00">
              <a:alpha val="34902"/>
            </a:srgb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18130" name="Oval 35"/>
          <p:cNvSpPr>
            <a:spLocks noChangeArrowheads="1"/>
          </p:cNvSpPr>
          <p:nvPr/>
        </p:nvSpPr>
        <p:spPr bwMode="auto">
          <a:xfrm rot="1625129">
            <a:off x="4095750" y="4154489"/>
            <a:ext cx="4644159" cy="1411287"/>
          </a:xfrm>
          <a:prstGeom prst="ellipse">
            <a:avLst/>
          </a:prstGeom>
          <a:solidFill>
            <a:srgbClr val="00FF00">
              <a:alpha val="34902"/>
            </a:srgb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18131" name="TextBox 30"/>
          <p:cNvSpPr txBox="1">
            <a:spLocks noChangeArrowheads="1"/>
          </p:cNvSpPr>
          <p:nvPr/>
        </p:nvSpPr>
        <p:spPr bwMode="auto">
          <a:xfrm>
            <a:off x="4273262" y="3711575"/>
            <a:ext cx="137748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b="1" dirty="0" err="1"/>
              <a:t>Aztreonam</a:t>
            </a:r>
            <a:endParaRPr lang="en-US" sz="1800" b="1" dirty="0"/>
          </a:p>
        </p:txBody>
      </p:sp>
      <p:sp>
        <p:nvSpPr>
          <p:cNvPr id="218132" name="TextBox 4"/>
          <p:cNvSpPr txBox="1">
            <a:spLocks noChangeArrowheads="1"/>
          </p:cNvSpPr>
          <p:nvPr/>
        </p:nvSpPr>
        <p:spPr bwMode="auto">
          <a:xfrm>
            <a:off x="1939636" y="2743200"/>
            <a:ext cx="179189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S. pneumoniae</a:t>
            </a:r>
          </a:p>
        </p:txBody>
      </p:sp>
    </p:spTree>
    <p:extLst>
      <p:ext uri="{BB962C8B-B14F-4D97-AF65-F5344CB8AC3E}">
        <p14:creationId xmlns:p14="http://schemas.microsoft.com/office/powerpoint/2010/main" val="21907222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8"/>
          <p:cNvSpPr>
            <a:spLocks noChangeArrowheads="1"/>
          </p:cNvSpPr>
          <p:nvPr/>
        </p:nvSpPr>
        <p:spPr bwMode="auto">
          <a:xfrm>
            <a:off x="0" y="-228600"/>
            <a:ext cx="9144000" cy="7086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  <a:p>
            <a:r>
              <a:rPr lang="en-US"/>
              <a:t>Gram-positive                                                           Gram-negative</a:t>
            </a:r>
          </a:p>
        </p:txBody>
      </p:sp>
      <p:sp>
        <p:nvSpPr>
          <p:cNvPr id="52227" name="TextBox 3"/>
          <p:cNvSpPr txBox="1">
            <a:spLocks noChangeArrowheads="1"/>
          </p:cNvSpPr>
          <p:nvPr/>
        </p:nvSpPr>
        <p:spPr bwMode="auto">
          <a:xfrm>
            <a:off x="2514600" y="3352800"/>
            <a:ext cx="18653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Strep pyogenes</a:t>
            </a:r>
          </a:p>
        </p:txBody>
      </p:sp>
      <p:sp>
        <p:nvSpPr>
          <p:cNvPr id="52228" name="TextBox 4"/>
          <p:cNvSpPr txBox="1">
            <a:spLocks noChangeArrowheads="1"/>
          </p:cNvSpPr>
          <p:nvPr/>
        </p:nvSpPr>
        <p:spPr bwMode="auto">
          <a:xfrm>
            <a:off x="1685925" y="2804382"/>
            <a:ext cx="17922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 dirty="0"/>
              <a:t>S. </a:t>
            </a:r>
            <a:r>
              <a:rPr lang="en-US" sz="1800" i="1" dirty="0" err="1"/>
              <a:t>pneumoniae</a:t>
            </a:r>
            <a:endParaRPr lang="en-US" sz="1800" i="1" dirty="0"/>
          </a:p>
        </p:txBody>
      </p:sp>
      <p:sp>
        <p:nvSpPr>
          <p:cNvPr id="52230" name="TextBox 6"/>
          <p:cNvSpPr txBox="1">
            <a:spLocks noChangeArrowheads="1"/>
          </p:cNvSpPr>
          <p:nvPr/>
        </p:nvSpPr>
        <p:spPr bwMode="auto">
          <a:xfrm>
            <a:off x="1143000" y="1828800"/>
            <a:ext cx="16383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Enterococcus</a:t>
            </a:r>
          </a:p>
          <a:p>
            <a:r>
              <a:rPr lang="en-US" sz="1800" i="1"/>
              <a:t>faecalis</a:t>
            </a:r>
          </a:p>
        </p:txBody>
      </p:sp>
      <p:sp>
        <p:nvSpPr>
          <p:cNvPr id="52231" name="TextBox 7"/>
          <p:cNvSpPr txBox="1">
            <a:spLocks noChangeArrowheads="1"/>
          </p:cNvSpPr>
          <p:nvPr/>
        </p:nvSpPr>
        <p:spPr bwMode="auto">
          <a:xfrm>
            <a:off x="0" y="533400"/>
            <a:ext cx="16859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Enterococcus</a:t>
            </a:r>
          </a:p>
          <a:p>
            <a:r>
              <a:rPr lang="en-US" sz="1800" i="1"/>
              <a:t>faecium </a:t>
            </a:r>
            <a:r>
              <a:rPr lang="en-US" sz="1800"/>
              <a:t>(VRE)</a:t>
            </a:r>
          </a:p>
        </p:txBody>
      </p:sp>
      <p:sp>
        <p:nvSpPr>
          <p:cNvPr id="52232" name="TextBox 9"/>
          <p:cNvSpPr txBox="1">
            <a:spLocks noChangeArrowheads="1"/>
          </p:cNvSpPr>
          <p:nvPr/>
        </p:nvSpPr>
        <p:spPr bwMode="auto">
          <a:xfrm>
            <a:off x="1524000" y="4267200"/>
            <a:ext cx="16129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Staph aureus</a:t>
            </a:r>
          </a:p>
          <a:p>
            <a:r>
              <a:rPr lang="en-US" sz="1800"/>
              <a:t>(MSSA)</a:t>
            </a:r>
          </a:p>
        </p:txBody>
      </p:sp>
      <p:sp>
        <p:nvSpPr>
          <p:cNvPr id="52233" name="TextBox 10"/>
          <p:cNvSpPr txBox="1">
            <a:spLocks noChangeArrowheads="1"/>
          </p:cNvSpPr>
          <p:nvPr/>
        </p:nvSpPr>
        <p:spPr bwMode="auto">
          <a:xfrm>
            <a:off x="0" y="5562600"/>
            <a:ext cx="16129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Staph aureus</a:t>
            </a:r>
          </a:p>
          <a:p>
            <a:r>
              <a:rPr lang="en-US" sz="1800"/>
              <a:t>(MRSA)</a:t>
            </a:r>
          </a:p>
        </p:txBody>
      </p:sp>
      <p:sp>
        <p:nvSpPr>
          <p:cNvPr id="52234" name="TextBox 11"/>
          <p:cNvSpPr txBox="1">
            <a:spLocks noChangeArrowheads="1"/>
          </p:cNvSpPr>
          <p:nvPr/>
        </p:nvSpPr>
        <p:spPr bwMode="auto">
          <a:xfrm>
            <a:off x="5029200" y="2667000"/>
            <a:ext cx="10858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Proteus</a:t>
            </a:r>
          </a:p>
          <a:p>
            <a:r>
              <a:rPr lang="en-US" sz="1800" i="1"/>
              <a:t>mirabilis</a:t>
            </a:r>
          </a:p>
        </p:txBody>
      </p:sp>
      <p:sp>
        <p:nvSpPr>
          <p:cNvPr id="52235" name="TextBox 12"/>
          <p:cNvSpPr txBox="1">
            <a:spLocks noChangeArrowheads="1"/>
          </p:cNvSpPr>
          <p:nvPr/>
        </p:nvSpPr>
        <p:spPr bwMode="auto">
          <a:xfrm>
            <a:off x="5791200" y="2438400"/>
            <a:ext cx="8683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E. coli</a:t>
            </a:r>
          </a:p>
        </p:txBody>
      </p:sp>
      <p:sp>
        <p:nvSpPr>
          <p:cNvPr id="52236" name="TextBox 13"/>
          <p:cNvSpPr txBox="1">
            <a:spLocks noChangeArrowheads="1"/>
          </p:cNvSpPr>
          <p:nvPr/>
        </p:nvSpPr>
        <p:spPr bwMode="auto">
          <a:xfrm>
            <a:off x="6248400" y="1905000"/>
            <a:ext cx="15113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Klebsiella</a:t>
            </a:r>
          </a:p>
          <a:p>
            <a:r>
              <a:rPr lang="en-US" sz="1800" i="1"/>
              <a:t>pneumoniae</a:t>
            </a:r>
          </a:p>
        </p:txBody>
      </p:sp>
      <p:sp>
        <p:nvSpPr>
          <p:cNvPr id="52237" name="TextBox 14"/>
          <p:cNvSpPr txBox="1">
            <a:spLocks noChangeArrowheads="1"/>
          </p:cNvSpPr>
          <p:nvPr/>
        </p:nvSpPr>
        <p:spPr bwMode="auto">
          <a:xfrm>
            <a:off x="7010400" y="5486400"/>
            <a:ext cx="17145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Pseudomonas</a:t>
            </a:r>
          </a:p>
        </p:txBody>
      </p:sp>
      <p:sp>
        <p:nvSpPr>
          <p:cNvPr id="52239" name="TextBox 16"/>
          <p:cNvSpPr txBox="1">
            <a:spLocks noChangeArrowheads="1"/>
          </p:cNvSpPr>
          <p:nvPr/>
        </p:nvSpPr>
        <p:spPr bwMode="auto">
          <a:xfrm>
            <a:off x="5867400" y="3581400"/>
            <a:ext cx="2819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 dirty="0" err="1"/>
              <a:t>Haemophilus</a:t>
            </a:r>
            <a:r>
              <a:rPr lang="en-US" sz="1800" i="1" dirty="0"/>
              <a:t> </a:t>
            </a:r>
            <a:r>
              <a:rPr lang="en-US" sz="1800" i="1" dirty="0" err="1"/>
              <a:t>influenzae</a:t>
            </a:r>
            <a:endParaRPr lang="en-US" sz="1800" i="1" dirty="0"/>
          </a:p>
        </p:txBody>
      </p:sp>
      <p:sp>
        <p:nvSpPr>
          <p:cNvPr id="52241" name="TextBox 18"/>
          <p:cNvSpPr txBox="1">
            <a:spLocks noChangeArrowheads="1"/>
          </p:cNvSpPr>
          <p:nvPr/>
        </p:nvSpPr>
        <p:spPr bwMode="auto">
          <a:xfrm>
            <a:off x="7239000" y="1600200"/>
            <a:ext cx="10477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Serratia</a:t>
            </a:r>
          </a:p>
        </p:txBody>
      </p:sp>
      <p:sp>
        <p:nvSpPr>
          <p:cNvPr id="52242" name="TextBox 19"/>
          <p:cNvSpPr txBox="1">
            <a:spLocks noChangeArrowheads="1"/>
          </p:cNvSpPr>
          <p:nvPr/>
        </p:nvSpPr>
        <p:spPr bwMode="auto">
          <a:xfrm>
            <a:off x="5638800" y="4724400"/>
            <a:ext cx="2133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Enterobacter spp</a:t>
            </a:r>
          </a:p>
        </p:txBody>
      </p:sp>
      <p:sp>
        <p:nvSpPr>
          <p:cNvPr id="52243" name="TextBox 21"/>
          <p:cNvSpPr txBox="1">
            <a:spLocks noChangeArrowheads="1"/>
          </p:cNvSpPr>
          <p:nvPr/>
        </p:nvSpPr>
        <p:spPr bwMode="auto">
          <a:xfrm>
            <a:off x="4419600" y="5257800"/>
            <a:ext cx="14573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Bacteroides</a:t>
            </a:r>
          </a:p>
          <a:p>
            <a:r>
              <a:rPr lang="en-US" sz="1800" i="1"/>
              <a:t> fragilis</a:t>
            </a:r>
          </a:p>
        </p:txBody>
      </p:sp>
      <p:sp>
        <p:nvSpPr>
          <p:cNvPr id="52244" name="Oval 23"/>
          <p:cNvSpPr>
            <a:spLocks noChangeArrowheads="1"/>
          </p:cNvSpPr>
          <p:nvPr/>
        </p:nvSpPr>
        <p:spPr bwMode="auto">
          <a:xfrm rot="1358939">
            <a:off x="839602" y="2183669"/>
            <a:ext cx="4243388" cy="1611313"/>
          </a:xfrm>
          <a:prstGeom prst="ellipse">
            <a:avLst/>
          </a:prstGeom>
          <a:solidFill>
            <a:srgbClr val="FF0000">
              <a:alpha val="29020"/>
            </a:srgb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2245" name="Oval 24"/>
          <p:cNvSpPr>
            <a:spLocks noChangeArrowheads="1"/>
          </p:cNvSpPr>
          <p:nvPr/>
        </p:nvSpPr>
        <p:spPr bwMode="auto">
          <a:xfrm rot="-1476853">
            <a:off x="-151088" y="4030148"/>
            <a:ext cx="5287347" cy="1601787"/>
          </a:xfrm>
          <a:prstGeom prst="ellipse">
            <a:avLst/>
          </a:prstGeom>
          <a:solidFill>
            <a:srgbClr val="FF0000">
              <a:alpha val="29020"/>
            </a:srgb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2246" name="TextBox 22"/>
          <p:cNvSpPr txBox="1">
            <a:spLocks noChangeArrowheads="1"/>
          </p:cNvSpPr>
          <p:nvPr/>
        </p:nvSpPr>
        <p:spPr bwMode="auto">
          <a:xfrm>
            <a:off x="4038600" y="3657600"/>
            <a:ext cx="1544638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b="1"/>
              <a:t>Vancomycin</a:t>
            </a:r>
          </a:p>
        </p:txBody>
      </p:sp>
    </p:spTree>
    <p:extLst>
      <p:ext uri="{BB962C8B-B14F-4D97-AF65-F5344CB8AC3E}">
        <p14:creationId xmlns:p14="http://schemas.microsoft.com/office/powerpoint/2010/main" val="29829250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8"/>
          <p:cNvSpPr>
            <a:spLocks noChangeArrowheads="1"/>
          </p:cNvSpPr>
          <p:nvPr/>
        </p:nvSpPr>
        <p:spPr bwMode="auto">
          <a:xfrm>
            <a:off x="0" y="-228600"/>
            <a:ext cx="9144000" cy="7086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  <a:p>
            <a:r>
              <a:rPr lang="en-US"/>
              <a:t>Gram-positive                                                           Gram-negative</a:t>
            </a:r>
          </a:p>
        </p:txBody>
      </p:sp>
      <p:sp>
        <p:nvSpPr>
          <p:cNvPr id="53251" name="TextBox 3"/>
          <p:cNvSpPr txBox="1">
            <a:spLocks noChangeArrowheads="1"/>
          </p:cNvSpPr>
          <p:nvPr/>
        </p:nvSpPr>
        <p:spPr bwMode="auto">
          <a:xfrm>
            <a:off x="2514600" y="3352800"/>
            <a:ext cx="18653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Strep pyogenes</a:t>
            </a:r>
          </a:p>
        </p:txBody>
      </p:sp>
      <p:sp>
        <p:nvSpPr>
          <p:cNvPr id="53252" name="TextBox 4"/>
          <p:cNvSpPr txBox="1">
            <a:spLocks noChangeArrowheads="1"/>
          </p:cNvSpPr>
          <p:nvPr/>
        </p:nvSpPr>
        <p:spPr bwMode="auto">
          <a:xfrm>
            <a:off x="1697786" y="2667000"/>
            <a:ext cx="17922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S. pneumoniae</a:t>
            </a:r>
          </a:p>
        </p:txBody>
      </p:sp>
      <p:sp>
        <p:nvSpPr>
          <p:cNvPr id="53254" name="TextBox 6"/>
          <p:cNvSpPr txBox="1">
            <a:spLocks noChangeArrowheads="1"/>
          </p:cNvSpPr>
          <p:nvPr/>
        </p:nvSpPr>
        <p:spPr bwMode="auto">
          <a:xfrm>
            <a:off x="1143000" y="1828800"/>
            <a:ext cx="16383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 dirty="0"/>
              <a:t>Enterococcus</a:t>
            </a:r>
          </a:p>
          <a:p>
            <a:r>
              <a:rPr lang="en-US" sz="1800" i="1" dirty="0" err="1"/>
              <a:t>faecalis</a:t>
            </a:r>
            <a:endParaRPr lang="en-US" sz="1800" i="1" dirty="0"/>
          </a:p>
        </p:txBody>
      </p:sp>
      <p:sp>
        <p:nvSpPr>
          <p:cNvPr id="53255" name="TextBox 7"/>
          <p:cNvSpPr txBox="1">
            <a:spLocks noChangeArrowheads="1"/>
          </p:cNvSpPr>
          <p:nvPr/>
        </p:nvSpPr>
        <p:spPr bwMode="auto">
          <a:xfrm>
            <a:off x="0" y="533400"/>
            <a:ext cx="16859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Enterococcus</a:t>
            </a:r>
          </a:p>
          <a:p>
            <a:r>
              <a:rPr lang="en-US" sz="1800" i="1"/>
              <a:t>faecium </a:t>
            </a:r>
            <a:r>
              <a:rPr lang="en-US" sz="1800"/>
              <a:t>(VRE)</a:t>
            </a:r>
          </a:p>
        </p:txBody>
      </p:sp>
      <p:sp>
        <p:nvSpPr>
          <p:cNvPr id="53256" name="TextBox 9"/>
          <p:cNvSpPr txBox="1">
            <a:spLocks noChangeArrowheads="1"/>
          </p:cNvSpPr>
          <p:nvPr/>
        </p:nvSpPr>
        <p:spPr bwMode="auto">
          <a:xfrm>
            <a:off x="1524000" y="4267200"/>
            <a:ext cx="16129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Staph aureus</a:t>
            </a:r>
          </a:p>
          <a:p>
            <a:r>
              <a:rPr lang="en-US" sz="1800"/>
              <a:t>(MSSA)</a:t>
            </a:r>
          </a:p>
        </p:txBody>
      </p:sp>
      <p:sp>
        <p:nvSpPr>
          <p:cNvPr id="53257" name="TextBox 10"/>
          <p:cNvSpPr txBox="1">
            <a:spLocks noChangeArrowheads="1"/>
          </p:cNvSpPr>
          <p:nvPr/>
        </p:nvSpPr>
        <p:spPr bwMode="auto">
          <a:xfrm>
            <a:off x="0" y="5562600"/>
            <a:ext cx="16129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Staph aureus</a:t>
            </a:r>
          </a:p>
          <a:p>
            <a:r>
              <a:rPr lang="en-US" sz="1800"/>
              <a:t>(MRSA)</a:t>
            </a:r>
          </a:p>
        </p:txBody>
      </p:sp>
      <p:sp>
        <p:nvSpPr>
          <p:cNvPr id="53258" name="TextBox 11"/>
          <p:cNvSpPr txBox="1">
            <a:spLocks noChangeArrowheads="1"/>
          </p:cNvSpPr>
          <p:nvPr/>
        </p:nvSpPr>
        <p:spPr bwMode="auto">
          <a:xfrm>
            <a:off x="5029200" y="2667000"/>
            <a:ext cx="10858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Proteus</a:t>
            </a:r>
          </a:p>
          <a:p>
            <a:r>
              <a:rPr lang="en-US" sz="1800" i="1"/>
              <a:t>mirabilis</a:t>
            </a:r>
          </a:p>
        </p:txBody>
      </p:sp>
      <p:sp>
        <p:nvSpPr>
          <p:cNvPr id="53259" name="TextBox 12"/>
          <p:cNvSpPr txBox="1">
            <a:spLocks noChangeArrowheads="1"/>
          </p:cNvSpPr>
          <p:nvPr/>
        </p:nvSpPr>
        <p:spPr bwMode="auto">
          <a:xfrm>
            <a:off x="5791200" y="2438400"/>
            <a:ext cx="8683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E. coli</a:t>
            </a:r>
          </a:p>
        </p:txBody>
      </p:sp>
      <p:sp>
        <p:nvSpPr>
          <p:cNvPr id="53260" name="TextBox 13"/>
          <p:cNvSpPr txBox="1">
            <a:spLocks noChangeArrowheads="1"/>
          </p:cNvSpPr>
          <p:nvPr/>
        </p:nvSpPr>
        <p:spPr bwMode="auto">
          <a:xfrm>
            <a:off x="6248400" y="1905000"/>
            <a:ext cx="15113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Klebsiella</a:t>
            </a:r>
          </a:p>
          <a:p>
            <a:r>
              <a:rPr lang="en-US" sz="1800" i="1"/>
              <a:t>pneumoniae</a:t>
            </a:r>
          </a:p>
        </p:txBody>
      </p:sp>
      <p:sp>
        <p:nvSpPr>
          <p:cNvPr id="53261" name="TextBox 14"/>
          <p:cNvSpPr txBox="1">
            <a:spLocks noChangeArrowheads="1"/>
          </p:cNvSpPr>
          <p:nvPr/>
        </p:nvSpPr>
        <p:spPr bwMode="auto">
          <a:xfrm>
            <a:off x="7010400" y="5486400"/>
            <a:ext cx="17145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Pseudomonas</a:t>
            </a:r>
          </a:p>
        </p:txBody>
      </p:sp>
      <p:sp>
        <p:nvSpPr>
          <p:cNvPr id="53263" name="TextBox 16"/>
          <p:cNvSpPr txBox="1">
            <a:spLocks noChangeArrowheads="1"/>
          </p:cNvSpPr>
          <p:nvPr/>
        </p:nvSpPr>
        <p:spPr bwMode="auto">
          <a:xfrm>
            <a:off x="5867400" y="3581400"/>
            <a:ext cx="2819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Haemophilus influenzae</a:t>
            </a:r>
          </a:p>
        </p:txBody>
      </p:sp>
      <p:sp>
        <p:nvSpPr>
          <p:cNvPr id="53265" name="TextBox 18"/>
          <p:cNvSpPr txBox="1">
            <a:spLocks noChangeArrowheads="1"/>
          </p:cNvSpPr>
          <p:nvPr/>
        </p:nvSpPr>
        <p:spPr bwMode="auto">
          <a:xfrm>
            <a:off x="7239000" y="1600200"/>
            <a:ext cx="10477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Serratia</a:t>
            </a:r>
          </a:p>
        </p:txBody>
      </p:sp>
      <p:sp>
        <p:nvSpPr>
          <p:cNvPr id="53266" name="TextBox 19"/>
          <p:cNvSpPr txBox="1">
            <a:spLocks noChangeArrowheads="1"/>
          </p:cNvSpPr>
          <p:nvPr/>
        </p:nvSpPr>
        <p:spPr bwMode="auto">
          <a:xfrm>
            <a:off x="5638800" y="4724400"/>
            <a:ext cx="2133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Enterobacter spp</a:t>
            </a:r>
          </a:p>
        </p:txBody>
      </p:sp>
      <p:sp>
        <p:nvSpPr>
          <p:cNvPr id="53267" name="TextBox 21"/>
          <p:cNvSpPr txBox="1">
            <a:spLocks noChangeArrowheads="1"/>
          </p:cNvSpPr>
          <p:nvPr/>
        </p:nvSpPr>
        <p:spPr bwMode="auto">
          <a:xfrm>
            <a:off x="4419600" y="5257800"/>
            <a:ext cx="14573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/>
              <a:t>Bacteroides</a:t>
            </a:r>
          </a:p>
          <a:p>
            <a:r>
              <a:rPr lang="en-US" sz="1800" i="1"/>
              <a:t> fragilis</a:t>
            </a:r>
          </a:p>
        </p:txBody>
      </p:sp>
      <p:sp>
        <p:nvSpPr>
          <p:cNvPr id="53268" name="Oval 23"/>
          <p:cNvSpPr>
            <a:spLocks noChangeArrowheads="1"/>
          </p:cNvSpPr>
          <p:nvPr/>
        </p:nvSpPr>
        <p:spPr bwMode="auto">
          <a:xfrm rot="2069191">
            <a:off x="-474199" y="1458401"/>
            <a:ext cx="5730875" cy="1866900"/>
          </a:xfrm>
          <a:prstGeom prst="ellipse">
            <a:avLst/>
          </a:prstGeom>
          <a:solidFill>
            <a:srgbClr val="FFC000">
              <a:alpha val="16863"/>
            </a:srgb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3269" name="Oval 24"/>
          <p:cNvSpPr>
            <a:spLocks noChangeArrowheads="1"/>
          </p:cNvSpPr>
          <p:nvPr/>
        </p:nvSpPr>
        <p:spPr bwMode="auto">
          <a:xfrm rot="-1476853">
            <a:off x="-269875" y="4056063"/>
            <a:ext cx="5411788" cy="1601787"/>
          </a:xfrm>
          <a:prstGeom prst="ellipse">
            <a:avLst/>
          </a:prstGeom>
          <a:solidFill>
            <a:srgbClr val="FFC000">
              <a:alpha val="16863"/>
            </a:srgb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3270" name="TextBox 22"/>
          <p:cNvSpPr txBox="1">
            <a:spLocks noChangeArrowheads="1"/>
          </p:cNvSpPr>
          <p:nvPr/>
        </p:nvSpPr>
        <p:spPr bwMode="auto">
          <a:xfrm>
            <a:off x="4038600" y="3657600"/>
            <a:ext cx="1506538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b="1"/>
              <a:t>Daptomycin</a:t>
            </a:r>
          </a:p>
        </p:txBody>
      </p:sp>
    </p:spTree>
    <p:extLst>
      <p:ext uri="{BB962C8B-B14F-4D97-AF65-F5344CB8AC3E}">
        <p14:creationId xmlns:p14="http://schemas.microsoft.com/office/powerpoint/2010/main" val="31732050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8"/>
          <p:cNvSpPr>
            <a:spLocks noChangeArrowheads="1"/>
          </p:cNvSpPr>
          <p:nvPr/>
        </p:nvSpPr>
        <p:spPr bwMode="auto">
          <a:xfrm>
            <a:off x="0" y="-228600"/>
            <a:ext cx="9144000" cy="7086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  <a:p>
            <a:r>
              <a:rPr lang="en-US"/>
              <a:t>Gram-positive                                                           Gram-negative</a:t>
            </a:r>
          </a:p>
        </p:txBody>
      </p:sp>
      <p:sp>
        <p:nvSpPr>
          <p:cNvPr id="46082" name="TextBox 3"/>
          <p:cNvSpPr txBox="1">
            <a:spLocks noChangeArrowheads="1"/>
          </p:cNvSpPr>
          <p:nvPr/>
        </p:nvSpPr>
        <p:spPr bwMode="auto">
          <a:xfrm>
            <a:off x="2514600" y="3352800"/>
            <a:ext cx="18653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Strep pyogenes</a:t>
            </a:r>
          </a:p>
        </p:txBody>
      </p:sp>
      <p:sp>
        <p:nvSpPr>
          <p:cNvPr id="46083" name="TextBox 4"/>
          <p:cNvSpPr txBox="1">
            <a:spLocks noChangeArrowheads="1"/>
          </p:cNvSpPr>
          <p:nvPr/>
        </p:nvSpPr>
        <p:spPr bwMode="auto">
          <a:xfrm>
            <a:off x="1697038" y="2667000"/>
            <a:ext cx="17922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S. pneumoniae</a:t>
            </a:r>
          </a:p>
        </p:txBody>
      </p:sp>
      <p:sp>
        <p:nvSpPr>
          <p:cNvPr id="46084" name="TextBox 6"/>
          <p:cNvSpPr txBox="1">
            <a:spLocks noChangeArrowheads="1"/>
          </p:cNvSpPr>
          <p:nvPr/>
        </p:nvSpPr>
        <p:spPr bwMode="auto">
          <a:xfrm>
            <a:off x="1143000" y="1828800"/>
            <a:ext cx="16383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Enterococcus</a:t>
            </a:r>
          </a:p>
          <a:p>
            <a:pPr eaLnBrk="1" hangingPunct="1"/>
            <a:r>
              <a:rPr lang="en-US" sz="1800" i="1"/>
              <a:t>faecalis</a:t>
            </a:r>
          </a:p>
        </p:txBody>
      </p:sp>
      <p:sp>
        <p:nvSpPr>
          <p:cNvPr id="46085" name="TextBox 7"/>
          <p:cNvSpPr txBox="1">
            <a:spLocks noChangeArrowheads="1"/>
          </p:cNvSpPr>
          <p:nvPr/>
        </p:nvSpPr>
        <p:spPr bwMode="auto">
          <a:xfrm>
            <a:off x="0" y="533400"/>
            <a:ext cx="16859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Enterococcus</a:t>
            </a:r>
          </a:p>
          <a:p>
            <a:pPr eaLnBrk="1" hangingPunct="1"/>
            <a:r>
              <a:rPr lang="en-US" sz="1800" i="1"/>
              <a:t>faecium </a:t>
            </a:r>
            <a:r>
              <a:rPr lang="en-US" sz="1800"/>
              <a:t>(VRE)</a:t>
            </a:r>
          </a:p>
        </p:txBody>
      </p:sp>
      <p:sp>
        <p:nvSpPr>
          <p:cNvPr id="46086" name="TextBox 9"/>
          <p:cNvSpPr txBox="1">
            <a:spLocks noChangeArrowheads="1"/>
          </p:cNvSpPr>
          <p:nvPr/>
        </p:nvSpPr>
        <p:spPr bwMode="auto">
          <a:xfrm>
            <a:off x="1524000" y="4267200"/>
            <a:ext cx="16129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Staph aureus</a:t>
            </a:r>
          </a:p>
          <a:p>
            <a:pPr eaLnBrk="1" hangingPunct="1"/>
            <a:r>
              <a:rPr lang="en-US" sz="1800"/>
              <a:t>(MSSA)</a:t>
            </a:r>
          </a:p>
        </p:txBody>
      </p:sp>
      <p:sp>
        <p:nvSpPr>
          <p:cNvPr id="46087" name="TextBox 10"/>
          <p:cNvSpPr txBox="1">
            <a:spLocks noChangeArrowheads="1"/>
          </p:cNvSpPr>
          <p:nvPr/>
        </p:nvSpPr>
        <p:spPr bwMode="auto">
          <a:xfrm>
            <a:off x="0" y="5562600"/>
            <a:ext cx="16129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Staph aureus</a:t>
            </a:r>
          </a:p>
          <a:p>
            <a:pPr eaLnBrk="1" hangingPunct="1"/>
            <a:r>
              <a:rPr lang="en-US" sz="1800"/>
              <a:t>(MRSA)</a:t>
            </a:r>
          </a:p>
        </p:txBody>
      </p:sp>
      <p:sp>
        <p:nvSpPr>
          <p:cNvPr id="46088" name="TextBox 11"/>
          <p:cNvSpPr txBox="1">
            <a:spLocks noChangeArrowheads="1"/>
          </p:cNvSpPr>
          <p:nvPr/>
        </p:nvSpPr>
        <p:spPr bwMode="auto">
          <a:xfrm>
            <a:off x="5029200" y="2667000"/>
            <a:ext cx="10858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Proteus</a:t>
            </a:r>
          </a:p>
          <a:p>
            <a:pPr eaLnBrk="1" hangingPunct="1"/>
            <a:r>
              <a:rPr lang="en-US" sz="1800" i="1"/>
              <a:t>mirabilis</a:t>
            </a:r>
          </a:p>
        </p:txBody>
      </p:sp>
      <p:sp>
        <p:nvSpPr>
          <p:cNvPr id="46089" name="TextBox 12"/>
          <p:cNvSpPr txBox="1">
            <a:spLocks noChangeArrowheads="1"/>
          </p:cNvSpPr>
          <p:nvPr/>
        </p:nvSpPr>
        <p:spPr bwMode="auto">
          <a:xfrm>
            <a:off x="5791200" y="2438400"/>
            <a:ext cx="8683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E. coli</a:t>
            </a:r>
          </a:p>
        </p:txBody>
      </p:sp>
      <p:sp>
        <p:nvSpPr>
          <p:cNvPr id="46090" name="TextBox 13"/>
          <p:cNvSpPr txBox="1">
            <a:spLocks noChangeArrowheads="1"/>
          </p:cNvSpPr>
          <p:nvPr/>
        </p:nvSpPr>
        <p:spPr bwMode="auto">
          <a:xfrm>
            <a:off x="6248400" y="1905000"/>
            <a:ext cx="15113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Klebsiella</a:t>
            </a:r>
          </a:p>
          <a:p>
            <a:pPr eaLnBrk="1" hangingPunct="1"/>
            <a:r>
              <a:rPr lang="en-US" sz="1800" i="1"/>
              <a:t>pneumoniae</a:t>
            </a:r>
          </a:p>
        </p:txBody>
      </p:sp>
      <p:sp>
        <p:nvSpPr>
          <p:cNvPr id="46091" name="TextBox 14"/>
          <p:cNvSpPr txBox="1">
            <a:spLocks noChangeArrowheads="1"/>
          </p:cNvSpPr>
          <p:nvPr/>
        </p:nvSpPr>
        <p:spPr bwMode="auto">
          <a:xfrm>
            <a:off x="7010400" y="5486400"/>
            <a:ext cx="17145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Pseudomonas</a:t>
            </a:r>
          </a:p>
        </p:txBody>
      </p:sp>
      <p:sp>
        <p:nvSpPr>
          <p:cNvPr id="46092" name="TextBox 16"/>
          <p:cNvSpPr txBox="1">
            <a:spLocks noChangeArrowheads="1"/>
          </p:cNvSpPr>
          <p:nvPr/>
        </p:nvSpPr>
        <p:spPr bwMode="auto">
          <a:xfrm>
            <a:off x="5867400" y="3581400"/>
            <a:ext cx="2819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Haemophilus influenzae</a:t>
            </a:r>
          </a:p>
        </p:txBody>
      </p:sp>
      <p:sp>
        <p:nvSpPr>
          <p:cNvPr id="46093" name="TextBox 18"/>
          <p:cNvSpPr txBox="1">
            <a:spLocks noChangeArrowheads="1"/>
          </p:cNvSpPr>
          <p:nvPr/>
        </p:nvSpPr>
        <p:spPr bwMode="auto">
          <a:xfrm>
            <a:off x="7239000" y="1600200"/>
            <a:ext cx="10477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Serratia</a:t>
            </a:r>
          </a:p>
        </p:txBody>
      </p:sp>
      <p:sp>
        <p:nvSpPr>
          <p:cNvPr id="46094" name="TextBox 19"/>
          <p:cNvSpPr txBox="1">
            <a:spLocks noChangeArrowheads="1"/>
          </p:cNvSpPr>
          <p:nvPr/>
        </p:nvSpPr>
        <p:spPr bwMode="auto">
          <a:xfrm>
            <a:off x="5638800" y="4724400"/>
            <a:ext cx="2133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Enterobacter spp</a:t>
            </a:r>
          </a:p>
        </p:txBody>
      </p:sp>
      <p:sp>
        <p:nvSpPr>
          <p:cNvPr id="46095" name="TextBox 21"/>
          <p:cNvSpPr txBox="1">
            <a:spLocks noChangeArrowheads="1"/>
          </p:cNvSpPr>
          <p:nvPr/>
        </p:nvSpPr>
        <p:spPr bwMode="auto">
          <a:xfrm>
            <a:off x="4419600" y="5257800"/>
            <a:ext cx="14573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Bacteroides</a:t>
            </a:r>
          </a:p>
          <a:p>
            <a:pPr eaLnBrk="1" hangingPunct="1"/>
            <a:r>
              <a:rPr lang="en-US" sz="1800" i="1"/>
              <a:t> fragilis</a:t>
            </a:r>
          </a:p>
        </p:txBody>
      </p:sp>
      <p:sp>
        <p:nvSpPr>
          <p:cNvPr id="20" name="Oval 23"/>
          <p:cNvSpPr>
            <a:spLocks noChangeArrowheads="1"/>
          </p:cNvSpPr>
          <p:nvPr/>
        </p:nvSpPr>
        <p:spPr bwMode="auto">
          <a:xfrm>
            <a:off x="4164174" y="3313113"/>
            <a:ext cx="4641462" cy="1176900"/>
          </a:xfrm>
          <a:prstGeom prst="ellipse">
            <a:avLst/>
          </a:prstGeom>
          <a:solidFill>
            <a:srgbClr val="E46C0A">
              <a:alpha val="29020"/>
            </a:srgb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" name="Oval 23"/>
          <p:cNvSpPr>
            <a:spLocks noChangeArrowheads="1"/>
          </p:cNvSpPr>
          <p:nvPr/>
        </p:nvSpPr>
        <p:spPr bwMode="auto">
          <a:xfrm rot="1487365">
            <a:off x="800332" y="2119369"/>
            <a:ext cx="4316575" cy="1866900"/>
          </a:xfrm>
          <a:prstGeom prst="ellipse">
            <a:avLst/>
          </a:prstGeom>
          <a:solidFill>
            <a:srgbClr val="E46C0A">
              <a:alpha val="29020"/>
            </a:srgb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096" name="TextBox 22"/>
          <p:cNvSpPr txBox="1">
            <a:spLocks noChangeArrowheads="1"/>
          </p:cNvSpPr>
          <p:nvPr/>
        </p:nvSpPr>
        <p:spPr bwMode="auto">
          <a:xfrm>
            <a:off x="3853552" y="3697069"/>
            <a:ext cx="1941557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800" b="1" dirty="0" err="1"/>
              <a:t>Azithromycin</a:t>
            </a:r>
            <a:r>
              <a:rPr lang="en-US" sz="1800" b="1" dirty="0"/>
              <a:t> &amp; </a:t>
            </a:r>
          </a:p>
          <a:p>
            <a:pPr algn="ctr" eaLnBrk="1" hangingPunct="1"/>
            <a:r>
              <a:rPr lang="en-US" sz="1800" b="1" dirty="0" err="1"/>
              <a:t>Clarithromycin</a:t>
            </a:r>
            <a:endParaRPr 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37883475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8"/>
          <p:cNvSpPr>
            <a:spLocks noChangeArrowheads="1"/>
          </p:cNvSpPr>
          <p:nvPr/>
        </p:nvSpPr>
        <p:spPr bwMode="auto">
          <a:xfrm>
            <a:off x="0" y="-228600"/>
            <a:ext cx="9144000" cy="7086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  <a:p>
            <a:r>
              <a:rPr lang="en-US"/>
              <a:t>Gram-positive                                                           Gram-negative</a:t>
            </a:r>
          </a:p>
        </p:txBody>
      </p:sp>
      <p:sp>
        <p:nvSpPr>
          <p:cNvPr id="45058" name="TextBox 3"/>
          <p:cNvSpPr txBox="1">
            <a:spLocks noChangeArrowheads="1"/>
          </p:cNvSpPr>
          <p:nvPr/>
        </p:nvSpPr>
        <p:spPr bwMode="auto">
          <a:xfrm>
            <a:off x="2514600" y="3352800"/>
            <a:ext cx="18653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Strep pyogenes</a:t>
            </a:r>
          </a:p>
        </p:txBody>
      </p:sp>
      <p:sp>
        <p:nvSpPr>
          <p:cNvPr id="45059" name="TextBox 4"/>
          <p:cNvSpPr txBox="1">
            <a:spLocks noChangeArrowheads="1"/>
          </p:cNvSpPr>
          <p:nvPr/>
        </p:nvSpPr>
        <p:spPr bwMode="auto">
          <a:xfrm>
            <a:off x="1697038" y="2667000"/>
            <a:ext cx="17922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S. pneumoniae</a:t>
            </a:r>
          </a:p>
        </p:txBody>
      </p:sp>
      <p:sp>
        <p:nvSpPr>
          <p:cNvPr id="45060" name="TextBox 6"/>
          <p:cNvSpPr txBox="1">
            <a:spLocks noChangeArrowheads="1"/>
          </p:cNvSpPr>
          <p:nvPr/>
        </p:nvSpPr>
        <p:spPr bwMode="auto">
          <a:xfrm>
            <a:off x="1143000" y="1828800"/>
            <a:ext cx="16383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Enterococcus</a:t>
            </a:r>
          </a:p>
          <a:p>
            <a:pPr eaLnBrk="1" hangingPunct="1"/>
            <a:r>
              <a:rPr lang="en-US" sz="1800" i="1"/>
              <a:t>faecalis</a:t>
            </a:r>
          </a:p>
        </p:txBody>
      </p:sp>
      <p:sp>
        <p:nvSpPr>
          <p:cNvPr id="45061" name="TextBox 7"/>
          <p:cNvSpPr txBox="1">
            <a:spLocks noChangeArrowheads="1"/>
          </p:cNvSpPr>
          <p:nvPr/>
        </p:nvSpPr>
        <p:spPr bwMode="auto">
          <a:xfrm>
            <a:off x="0" y="533400"/>
            <a:ext cx="16859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Enterococcus</a:t>
            </a:r>
          </a:p>
          <a:p>
            <a:pPr eaLnBrk="1" hangingPunct="1"/>
            <a:r>
              <a:rPr lang="en-US" sz="1800" i="1"/>
              <a:t>faecium </a:t>
            </a:r>
            <a:r>
              <a:rPr lang="en-US" sz="1800"/>
              <a:t>(VRE)</a:t>
            </a:r>
          </a:p>
        </p:txBody>
      </p:sp>
      <p:sp>
        <p:nvSpPr>
          <p:cNvPr id="45062" name="TextBox 9"/>
          <p:cNvSpPr txBox="1">
            <a:spLocks noChangeArrowheads="1"/>
          </p:cNvSpPr>
          <p:nvPr/>
        </p:nvSpPr>
        <p:spPr bwMode="auto">
          <a:xfrm>
            <a:off x="1524000" y="4267200"/>
            <a:ext cx="16129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Staph aureus</a:t>
            </a:r>
          </a:p>
          <a:p>
            <a:pPr eaLnBrk="1" hangingPunct="1"/>
            <a:r>
              <a:rPr lang="en-US" sz="1800"/>
              <a:t>(MSSA)</a:t>
            </a:r>
          </a:p>
        </p:txBody>
      </p:sp>
      <p:sp>
        <p:nvSpPr>
          <p:cNvPr id="45063" name="TextBox 10"/>
          <p:cNvSpPr txBox="1">
            <a:spLocks noChangeArrowheads="1"/>
          </p:cNvSpPr>
          <p:nvPr/>
        </p:nvSpPr>
        <p:spPr bwMode="auto">
          <a:xfrm>
            <a:off x="0" y="5562600"/>
            <a:ext cx="16129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Staph aureus</a:t>
            </a:r>
          </a:p>
          <a:p>
            <a:pPr eaLnBrk="1" hangingPunct="1"/>
            <a:r>
              <a:rPr lang="en-US" sz="1800"/>
              <a:t>(MRSA)</a:t>
            </a:r>
          </a:p>
        </p:txBody>
      </p:sp>
      <p:sp>
        <p:nvSpPr>
          <p:cNvPr id="45064" name="TextBox 11"/>
          <p:cNvSpPr txBox="1">
            <a:spLocks noChangeArrowheads="1"/>
          </p:cNvSpPr>
          <p:nvPr/>
        </p:nvSpPr>
        <p:spPr bwMode="auto">
          <a:xfrm>
            <a:off x="5029200" y="2667000"/>
            <a:ext cx="10858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Proteus</a:t>
            </a:r>
          </a:p>
          <a:p>
            <a:pPr eaLnBrk="1" hangingPunct="1"/>
            <a:r>
              <a:rPr lang="en-US" sz="1800" i="1"/>
              <a:t>mirabilis</a:t>
            </a:r>
          </a:p>
        </p:txBody>
      </p:sp>
      <p:sp>
        <p:nvSpPr>
          <p:cNvPr id="45065" name="TextBox 12"/>
          <p:cNvSpPr txBox="1">
            <a:spLocks noChangeArrowheads="1"/>
          </p:cNvSpPr>
          <p:nvPr/>
        </p:nvSpPr>
        <p:spPr bwMode="auto">
          <a:xfrm>
            <a:off x="5791200" y="2438400"/>
            <a:ext cx="8683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E. coli</a:t>
            </a:r>
          </a:p>
        </p:txBody>
      </p:sp>
      <p:sp>
        <p:nvSpPr>
          <p:cNvPr id="45066" name="TextBox 13"/>
          <p:cNvSpPr txBox="1">
            <a:spLocks noChangeArrowheads="1"/>
          </p:cNvSpPr>
          <p:nvPr/>
        </p:nvSpPr>
        <p:spPr bwMode="auto">
          <a:xfrm>
            <a:off x="6248400" y="1905000"/>
            <a:ext cx="15113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Klebsiella</a:t>
            </a:r>
          </a:p>
          <a:p>
            <a:pPr eaLnBrk="1" hangingPunct="1"/>
            <a:r>
              <a:rPr lang="en-US" sz="1800" i="1"/>
              <a:t>pneumoniae</a:t>
            </a:r>
          </a:p>
        </p:txBody>
      </p:sp>
      <p:sp>
        <p:nvSpPr>
          <p:cNvPr id="45067" name="TextBox 14"/>
          <p:cNvSpPr txBox="1">
            <a:spLocks noChangeArrowheads="1"/>
          </p:cNvSpPr>
          <p:nvPr/>
        </p:nvSpPr>
        <p:spPr bwMode="auto">
          <a:xfrm>
            <a:off x="7010400" y="5486400"/>
            <a:ext cx="17145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Pseudomonas</a:t>
            </a:r>
          </a:p>
        </p:txBody>
      </p:sp>
      <p:sp>
        <p:nvSpPr>
          <p:cNvPr id="45068" name="TextBox 16"/>
          <p:cNvSpPr txBox="1">
            <a:spLocks noChangeArrowheads="1"/>
          </p:cNvSpPr>
          <p:nvPr/>
        </p:nvSpPr>
        <p:spPr bwMode="auto">
          <a:xfrm>
            <a:off x="5867400" y="3581400"/>
            <a:ext cx="2819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Haemophilus influenzae</a:t>
            </a:r>
          </a:p>
        </p:txBody>
      </p:sp>
      <p:sp>
        <p:nvSpPr>
          <p:cNvPr id="45069" name="TextBox 18"/>
          <p:cNvSpPr txBox="1">
            <a:spLocks noChangeArrowheads="1"/>
          </p:cNvSpPr>
          <p:nvPr/>
        </p:nvSpPr>
        <p:spPr bwMode="auto">
          <a:xfrm>
            <a:off x="7239000" y="1600200"/>
            <a:ext cx="10477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Serratia</a:t>
            </a:r>
          </a:p>
        </p:txBody>
      </p:sp>
      <p:sp>
        <p:nvSpPr>
          <p:cNvPr id="45070" name="TextBox 19"/>
          <p:cNvSpPr txBox="1">
            <a:spLocks noChangeArrowheads="1"/>
          </p:cNvSpPr>
          <p:nvPr/>
        </p:nvSpPr>
        <p:spPr bwMode="auto">
          <a:xfrm>
            <a:off x="5638800" y="4724400"/>
            <a:ext cx="2133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Enterobacter spp</a:t>
            </a:r>
          </a:p>
        </p:txBody>
      </p:sp>
      <p:sp>
        <p:nvSpPr>
          <p:cNvPr id="45071" name="TextBox 21"/>
          <p:cNvSpPr txBox="1">
            <a:spLocks noChangeArrowheads="1"/>
          </p:cNvSpPr>
          <p:nvPr/>
        </p:nvSpPr>
        <p:spPr bwMode="auto">
          <a:xfrm>
            <a:off x="4419600" y="5257800"/>
            <a:ext cx="14573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Bacteroides</a:t>
            </a:r>
          </a:p>
          <a:p>
            <a:pPr eaLnBrk="1" hangingPunct="1"/>
            <a:r>
              <a:rPr lang="en-US" sz="1800" i="1"/>
              <a:t> fragilis</a:t>
            </a:r>
          </a:p>
        </p:txBody>
      </p:sp>
      <p:sp>
        <p:nvSpPr>
          <p:cNvPr id="18" name="Oval 23"/>
          <p:cNvSpPr>
            <a:spLocks noChangeArrowheads="1"/>
          </p:cNvSpPr>
          <p:nvPr/>
        </p:nvSpPr>
        <p:spPr bwMode="auto">
          <a:xfrm rot="1245524">
            <a:off x="1748319" y="2349800"/>
            <a:ext cx="3281846" cy="1866900"/>
          </a:xfrm>
          <a:prstGeom prst="ellipse">
            <a:avLst/>
          </a:prstGeom>
          <a:solidFill>
            <a:srgbClr val="31859C">
              <a:alpha val="30980"/>
            </a:srgb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" name="Oval 24"/>
          <p:cNvSpPr>
            <a:spLocks noChangeArrowheads="1"/>
          </p:cNvSpPr>
          <p:nvPr/>
        </p:nvSpPr>
        <p:spPr bwMode="auto">
          <a:xfrm rot="20123147">
            <a:off x="-269875" y="4056063"/>
            <a:ext cx="5411788" cy="1601787"/>
          </a:xfrm>
          <a:prstGeom prst="ellipse">
            <a:avLst/>
          </a:prstGeom>
          <a:solidFill>
            <a:srgbClr val="31859C">
              <a:alpha val="30980"/>
            </a:srgb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5072" name="TextBox 22"/>
          <p:cNvSpPr txBox="1">
            <a:spLocks noChangeArrowheads="1"/>
          </p:cNvSpPr>
          <p:nvPr/>
        </p:nvSpPr>
        <p:spPr bwMode="auto">
          <a:xfrm>
            <a:off x="3793331" y="3779436"/>
            <a:ext cx="1557338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1" dirty="0"/>
              <a:t>Clindamycin</a:t>
            </a:r>
          </a:p>
        </p:txBody>
      </p:sp>
    </p:spTree>
    <p:extLst>
      <p:ext uri="{BB962C8B-B14F-4D97-AF65-F5344CB8AC3E}">
        <p14:creationId xmlns:p14="http://schemas.microsoft.com/office/powerpoint/2010/main" val="19456644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8"/>
          <p:cNvSpPr>
            <a:spLocks noChangeArrowheads="1"/>
          </p:cNvSpPr>
          <p:nvPr/>
        </p:nvSpPr>
        <p:spPr bwMode="auto">
          <a:xfrm>
            <a:off x="0" y="-228600"/>
            <a:ext cx="9144000" cy="7086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  <a:p>
            <a:r>
              <a:rPr lang="en-US"/>
              <a:t>Gram-positive                                                           Gram-negative</a:t>
            </a:r>
          </a:p>
        </p:txBody>
      </p:sp>
      <p:sp>
        <p:nvSpPr>
          <p:cNvPr id="44034" name="TextBox 3"/>
          <p:cNvSpPr txBox="1">
            <a:spLocks noChangeArrowheads="1"/>
          </p:cNvSpPr>
          <p:nvPr/>
        </p:nvSpPr>
        <p:spPr bwMode="auto">
          <a:xfrm>
            <a:off x="2514600" y="3352800"/>
            <a:ext cx="18653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Strep pyogenes</a:t>
            </a:r>
          </a:p>
        </p:txBody>
      </p:sp>
      <p:sp>
        <p:nvSpPr>
          <p:cNvPr id="44035" name="TextBox 4"/>
          <p:cNvSpPr txBox="1">
            <a:spLocks noChangeArrowheads="1"/>
          </p:cNvSpPr>
          <p:nvPr/>
        </p:nvSpPr>
        <p:spPr bwMode="auto">
          <a:xfrm>
            <a:off x="1697038" y="2667000"/>
            <a:ext cx="17922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S. pneumoniae</a:t>
            </a:r>
          </a:p>
        </p:txBody>
      </p:sp>
      <p:sp>
        <p:nvSpPr>
          <p:cNvPr id="44036" name="TextBox 6"/>
          <p:cNvSpPr txBox="1">
            <a:spLocks noChangeArrowheads="1"/>
          </p:cNvSpPr>
          <p:nvPr/>
        </p:nvSpPr>
        <p:spPr bwMode="auto">
          <a:xfrm>
            <a:off x="1143000" y="1828800"/>
            <a:ext cx="16383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Enterococcus</a:t>
            </a:r>
          </a:p>
          <a:p>
            <a:pPr eaLnBrk="1" hangingPunct="1"/>
            <a:r>
              <a:rPr lang="en-US" sz="1800" i="1"/>
              <a:t>faecalis</a:t>
            </a:r>
          </a:p>
        </p:txBody>
      </p:sp>
      <p:sp>
        <p:nvSpPr>
          <p:cNvPr id="44037" name="TextBox 7"/>
          <p:cNvSpPr txBox="1">
            <a:spLocks noChangeArrowheads="1"/>
          </p:cNvSpPr>
          <p:nvPr/>
        </p:nvSpPr>
        <p:spPr bwMode="auto">
          <a:xfrm>
            <a:off x="0" y="533400"/>
            <a:ext cx="16859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Enterococcus</a:t>
            </a:r>
          </a:p>
          <a:p>
            <a:pPr eaLnBrk="1" hangingPunct="1"/>
            <a:r>
              <a:rPr lang="en-US" sz="1800" i="1"/>
              <a:t>faecium </a:t>
            </a:r>
            <a:r>
              <a:rPr lang="en-US" sz="1800"/>
              <a:t>(VRE)</a:t>
            </a:r>
          </a:p>
        </p:txBody>
      </p:sp>
      <p:sp>
        <p:nvSpPr>
          <p:cNvPr id="44038" name="TextBox 9"/>
          <p:cNvSpPr txBox="1">
            <a:spLocks noChangeArrowheads="1"/>
          </p:cNvSpPr>
          <p:nvPr/>
        </p:nvSpPr>
        <p:spPr bwMode="auto">
          <a:xfrm>
            <a:off x="1524000" y="4267200"/>
            <a:ext cx="16129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Staph aureus</a:t>
            </a:r>
          </a:p>
          <a:p>
            <a:pPr eaLnBrk="1" hangingPunct="1"/>
            <a:r>
              <a:rPr lang="en-US" sz="1800"/>
              <a:t>(MSSA)</a:t>
            </a:r>
          </a:p>
        </p:txBody>
      </p:sp>
      <p:sp>
        <p:nvSpPr>
          <p:cNvPr id="44039" name="TextBox 10"/>
          <p:cNvSpPr txBox="1">
            <a:spLocks noChangeArrowheads="1"/>
          </p:cNvSpPr>
          <p:nvPr/>
        </p:nvSpPr>
        <p:spPr bwMode="auto">
          <a:xfrm>
            <a:off x="0" y="5562600"/>
            <a:ext cx="16129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Staph aureus</a:t>
            </a:r>
          </a:p>
          <a:p>
            <a:pPr eaLnBrk="1" hangingPunct="1"/>
            <a:r>
              <a:rPr lang="en-US" sz="1800"/>
              <a:t>(MRSA)</a:t>
            </a:r>
          </a:p>
        </p:txBody>
      </p:sp>
      <p:sp>
        <p:nvSpPr>
          <p:cNvPr id="44040" name="TextBox 11"/>
          <p:cNvSpPr txBox="1">
            <a:spLocks noChangeArrowheads="1"/>
          </p:cNvSpPr>
          <p:nvPr/>
        </p:nvSpPr>
        <p:spPr bwMode="auto">
          <a:xfrm>
            <a:off x="5029200" y="2667000"/>
            <a:ext cx="10858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Proteus</a:t>
            </a:r>
          </a:p>
          <a:p>
            <a:pPr eaLnBrk="1" hangingPunct="1"/>
            <a:r>
              <a:rPr lang="en-US" sz="1800" i="1"/>
              <a:t>mirabilis</a:t>
            </a:r>
          </a:p>
        </p:txBody>
      </p:sp>
      <p:sp>
        <p:nvSpPr>
          <p:cNvPr id="44041" name="TextBox 12"/>
          <p:cNvSpPr txBox="1">
            <a:spLocks noChangeArrowheads="1"/>
          </p:cNvSpPr>
          <p:nvPr/>
        </p:nvSpPr>
        <p:spPr bwMode="auto">
          <a:xfrm>
            <a:off x="5791200" y="2438400"/>
            <a:ext cx="8683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E. coli</a:t>
            </a:r>
          </a:p>
        </p:txBody>
      </p:sp>
      <p:sp>
        <p:nvSpPr>
          <p:cNvPr id="44042" name="TextBox 13"/>
          <p:cNvSpPr txBox="1">
            <a:spLocks noChangeArrowheads="1"/>
          </p:cNvSpPr>
          <p:nvPr/>
        </p:nvSpPr>
        <p:spPr bwMode="auto">
          <a:xfrm>
            <a:off x="6248400" y="1905000"/>
            <a:ext cx="15113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Klebsiella</a:t>
            </a:r>
          </a:p>
          <a:p>
            <a:pPr eaLnBrk="1" hangingPunct="1"/>
            <a:r>
              <a:rPr lang="en-US" sz="1800" i="1"/>
              <a:t>pneumoniae</a:t>
            </a:r>
          </a:p>
        </p:txBody>
      </p:sp>
      <p:sp>
        <p:nvSpPr>
          <p:cNvPr id="44043" name="TextBox 14"/>
          <p:cNvSpPr txBox="1">
            <a:spLocks noChangeArrowheads="1"/>
          </p:cNvSpPr>
          <p:nvPr/>
        </p:nvSpPr>
        <p:spPr bwMode="auto">
          <a:xfrm>
            <a:off x="7010400" y="5486400"/>
            <a:ext cx="17145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Pseudomonas</a:t>
            </a:r>
          </a:p>
        </p:txBody>
      </p:sp>
      <p:sp>
        <p:nvSpPr>
          <p:cNvPr id="44044" name="TextBox 16"/>
          <p:cNvSpPr txBox="1">
            <a:spLocks noChangeArrowheads="1"/>
          </p:cNvSpPr>
          <p:nvPr/>
        </p:nvSpPr>
        <p:spPr bwMode="auto">
          <a:xfrm>
            <a:off x="5867400" y="3581400"/>
            <a:ext cx="2819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Haemophilus influenzae</a:t>
            </a:r>
          </a:p>
        </p:txBody>
      </p:sp>
      <p:sp>
        <p:nvSpPr>
          <p:cNvPr id="44045" name="TextBox 18"/>
          <p:cNvSpPr txBox="1">
            <a:spLocks noChangeArrowheads="1"/>
          </p:cNvSpPr>
          <p:nvPr/>
        </p:nvSpPr>
        <p:spPr bwMode="auto">
          <a:xfrm>
            <a:off x="7239000" y="1600200"/>
            <a:ext cx="10477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Serratia</a:t>
            </a:r>
          </a:p>
        </p:txBody>
      </p:sp>
      <p:sp>
        <p:nvSpPr>
          <p:cNvPr id="44046" name="TextBox 19"/>
          <p:cNvSpPr txBox="1">
            <a:spLocks noChangeArrowheads="1"/>
          </p:cNvSpPr>
          <p:nvPr/>
        </p:nvSpPr>
        <p:spPr bwMode="auto">
          <a:xfrm>
            <a:off x="5638800" y="4724400"/>
            <a:ext cx="2133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Enterobacter spp</a:t>
            </a:r>
          </a:p>
        </p:txBody>
      </p:sp>
      <p:sp>
        <p:nvSpPr>
          <p:cNvPr id="44047" name="TextBox 21"/>
          <p:cNvSpPr txBox="1">
            <a:spLocks noChangeArrowheads="1"/>
          </p:cNvSpPr>
          <p:nvPr/>
        </p:nvSpPr>
        <p:spPr bwMode="auto">
          <a:xfrm>
            <a:off x="4419600" y="5257800"/>
            <a:ext cx="14573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Bacteroides</a:t>
            </a:r>
          </a:p>
          <a:p>
            <a:pPr eaLnBrk="1" hangingPunct="1"/>
            <a:r>
              <a:rPr lang="en-US" sz="1800" i="1"/>
              <a:t> fragilis</a:t>
            </a:r>
          </a:p>
        </p:txBody>
      </p:sp>
      <p:sp>
        <p:nvSpPr>
          <p:cNvPr id="18" name="Oval 23"/>
          <p:cNvSpPr>
            <a:spLocks noChangeArrowheads="1"/>
          </p:cNvSpPr>
          <p:nvPr/>
        </p:nvSpPr>
        <p:spPr bwMode="auto">
          <a:xfrm rot="2069191">
            <a:off x="-474199" y="1458401"/>
            <a:ext cx="5730875" cy="1866900"/>
          </a:xfrm>
          <a:prstGeom prst="ellipse">
            <a:avLst/>
          </a:prstGeom>
          <a:solidFill>
            <a:srgbClr val="B7DEE8">
              <a:alpha val="32941"/>
            </a:srgb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" name="Oval 24"/>
          <p:cNvSpPr>
            <a:spLocks noChangeArrowheads="1"/>
          </p:cNvSpPr>
          <p:nvPr/>
        </p:nvSpPr>
        <p:spPr bwMode="auto">
          <a:xfrm rot="20123147">
            <a:off x="-269875" y="4056063"/>
            <a:ext cx="5411788" cy="1601787"/>
          </a:xfrm>
          <a:prstGeom prst="ellipse">
            <a:avLst/>
          </a:prstGeom>
          <a:solidFill>
            <a:srgbClr val="B7DEE8">
              <a:alpha val="32941"/>
            </a:srgb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4048" name="TextBox 22"/>
          <p:cNvSpPr txBox="1">
            <a:spLocks noChangeArrowheads="1"/>
          </p:cNvSpPr>
          <p:nvPr/>
        </p:nvSpPr>
        <p:spPr bwMode="auto">
          <a:xfrm>
            <a:off x="4038600" y="3657600"/>
            <a:ext cx="118427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1"/>
              <a:t>Linezolid</a:t>
            </a:r>
          </a:p>
        </p:txBody>
      </p:sp>
    </p:spTree>
    <p:extLst>
      <p:ext uri="{BB962C8B-B14F-4D97-AF65-F5344CB8AC3E}">
        <p14:creationId xmlns:p14="http://schemas.microsoft.com/office/powerpoint/2010/main" val="20962860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8"/>
          <p:cNvSpPr>
            <a:spLocks noChangeArrowheads="1"/>
          </p:cNvSpPr>
          <p:nvPr/>
        </p:nvSpPr>
        <p:spPr bwMode="auto">
          <a:xfrm>
            <a:off x="0" y="-228600"/>
            <a:ext cx="9144000" cy="7086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  <a:p>
            <a:r>
              <a:rPr lang="en-US"/>
              <a:t>Gram-positive                                                           Gram-negative</a:t>
            </a:r>
          </a:p>
        </p:txBody>
      </p:sp>
      <p:sp>
        <p:nvSpPr>
          <p:cNvPr id="51202" name="TextBox 3"/>
          <p:cNvSpPr txBox="1">
            <a:spLocks noChangeArrowheads="1"/>
          </p:cNvSpPr>
          <p:nvPr/>
        </p:nvSpPr>
        <p:spPr bwMode="auto">
          <a:xfrm>
            <a:off x="2514600" y="3352800"/>
            <a:ext cx="18653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Strep pyogenes</a:t>
            </a:r>
          </a:p>
        </p:txBody>
      </p:sp>
      <p:sp>
        <p:nvSpPr>
          <p:cNvPr id="51203" name="TextBox 4"/>
          <p:cNvSpPr txBox="1">
            <a:spLocks noChangeArrowheads="1"/>
          </p:cNvSpPr>
          <p:nvPr/>
        </p:nvSpPr>
        <p:spPr bwMode="auto">
          <a:xfrm>
            <a:off x="1697038" y="2667000"/>
            <a:ext cx="17922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S. pneumoniae</a:t>
            </a:r>
          </a:p>
        </p:txBody>
      </p:sp>
      <p:sp>
        <p:nvSpPr>
          <p:cNvPr id="51204" name="TextBox 6"/>
          <p:cNvSpPr txBox="1">
            <a:spLocks noChangeArrowheads="1"/>
          </p:cNvSpPr>
          <p:nvPr/>
        </p:nvSpPr>
        <p:spPr bwMode="auto">
          <a:xfrm>
            <a:off x="1143000" y="1828800"/>
            <a:ext cx="16383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Enterococcus</a:t>
            </a:r>
          </a:p>
          <a:p>
            <a:pPr eaLnBrk="1" hangingPunct="1"/>
            <a:r>
              <a:rPr lang="en-US" sz="1800" i="1"/>
              <a:t>faecalis</a:t>
            </a:r>
          </a:p>
        </p:txBody>
      </p:sp>
      <p:sp>
        <p:nvSpPr>
          <p:cNvPr id="51205" name="TextBox 7"/>
          <p:cNvSpPr txBox="1">
            <a:spLocks noChangeArrowheads="1"/>
          </p:cNvSpPr>
          <p:nvPr/>
        </p:nvSpPr>
        <p:spPr bwMode="auto">
          <a:xfrm>
            <a:off x="0" y="533400"/>
            <a:ext cx="16859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Enterococcus</a:t>
            </a:r>
          </a:p>
          <a:p>
            <a:pPr eaLnBrk="1" hangingPunct="1"/>
            <a:r>
              <a:rPr lang="en-US" sz="1800" i="1"/>
              <a:t>faecium </a:t>
            </a:r>
            <a:r>
              <a:rPr lang="en-US" sz="1800"/>
              <a:t>(VRE)</a:t>
            </a:r>
          </a:p>
        </p:txBody>
      </p:sp>
      <p:sp>
        <p:nvSpPr>
          <p:cNvPr id="51206" name="TextBox 9"/>
          <p:cNvSpPr txBox="1">
            <a:spLocks noChangeArrowheads="1"/>
          </p:cNvSpPr>
          <p:nvPr/>
        </p:nvSpPr>
        <p:spPr bwMode="auto">
          <a:xfrm>
            <a:off x="1524000" y="4267200"/>
            <a:ext cx="16129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Staph aureus</a:t>
            </a:r>
          </a:p>
          <a:p>
            <a:pPr eaLnBrk="1" hangingPunct="1"/>
            <a:r>
              <a:rPr lang="en-US" sz="1800"/>
              <a:t>(MSSA)</a:t>
            </a:r>
          </a:p>
        </p:txBody>
      </p:sp>
      <p:sp>
        <p:nvSpPr>
          <p:cNvPr id="51207" name="TextBox 10"/>
          <p:cNvSpPr txBox="1">
            <a:spLocks noChangeArrowheads="1"/>
          </p:cNvSpPr>
          <p:nvPr/>
        </p:nvSpPr>
        <p:spPr bwMode="auto">
          <a:xfrm>
            <a:off x="0" y="5562600"/>
            <a:ext cx="16129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Staph aureus</a:t>
            </a:r>
          </a:p>
          <a:p>
            <a:pPr eaLnBrk="1" hangingPunct="1"/>
            <a:r>
              <a:rPr lang="en-US" sz="1800"/>
              <a:t>(MRSA)</a:t>
            </a:r>
          </a:p>
        </p:txBody>
      </p:sp>
      <p:sp>
        <p:nvSpPr>
          <p:cNvPr id="51208" name="TextBox 11"/>
          <p:cNvSpPr txBox="1">
            <a:spLocks noChangeArrowheads="1"/>
          </p:cNvSpPr>
          <p:nvPr/>
        </p:nvSpPr>
        <p:spPr bwMode="auto">
          <a:xfrm>
            <a:off x="5029200" y="2667000"/>
            <a:ext cx="10858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Proteus</a:t>
            </a:r>
          </a:p>
          <a:p>
            <a:pPr eaLnBrk="1" hangingPunct="1"/>
            <a:r>
              <a:rPr lang="en-US" sz="1800" i="1"/>
              <a:t>mirabilis</a:t>
            </a:r>
          </a:p>
        </p:txBody>
      </p:sp>
      <p:sp>
        <p:nvSpPr>
          <p:cNvPr id="51209" name="TextBox 12"/>
          <p:cNvSpPr txBox="1">
            <a:spLocks noChangeArrowheads="1"/>
          </p:cNvSpPr>
          <p:nvPr/>
        </p:nvSpPr>
        <p:spPr bwMode="auto">
          <a:xfrm>
            <a:off x="5791200" y="2438400"/>
            <a:ext cx="8683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E. coli</a:t>
            </a:r>
          </a:p>
        </p:txBody>
      </p:sp>
      <p:sp>
        <p:nvSpPr>
          <p:cNvPr id="51210" name="TextBox 13"/>
          <p:cNvSpPr txBox="1">
            <a:spLocks noChangeArrowheads="1"/>
          </p:cNvSpPr>
          <p:nvPr/>
        </p:nvSpPr>
        <p:spPr bwMode="auto">
          <a:xfrm>
            <a:off x="6248400" y="1905000"/>
            <a:ext cx="15113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Klebsiella</a:t>
            </a:r>
          </a:p>
          <a:p>
            <a:pPr eaLnBrk="1" hangingPunct="1"/>
            <a:r>
              <a:rPr lang="en-US" sz="1800" i="1"/>
              <a:t>pneumoniae</a:t>
            </a:r>
          </a:p>
        </p:txBody>
      </p:sp>
      <p:sp>
        <p:nvSpPr>
          <p:cNvPr id="51211" name="TextBox 14"/>
          <p:cNvSpPr txBox="1">
            <a:spLocks noChangeArrowheads="1"/>
          </p:cNvSpPr>
          <p:nvPr/>
        </p:nvSpPr>
        <p:spPr bwMode="auto">
          <a:xfrm>
            <a:off x="7010400" y="5486400"/>
            <a:ext cx="17145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Pseudomonas</a:t>
            </a:r>
          </a:p>
        </p:txBody>
      </p:sp>
      <p:sp>
        <p:nvSpPr>
          <p:cNvPr id="51212" name="TextBox 16"/>
          <p:cNvSpPr txBox="1">
            <a:spLocks noChangeArrowheads="1"/>
          </p:cNvSpPr>
          <p:nvPr/>
        </p:nvSpPr>
        <p:spPr bwMode="auto">
          <a:xfrm>
            <a:off x="5867400" y="3581400"/>
            <a:ext cx="2819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Haemophilus influenzae</a:t>
            </a:r>
          </a:p>
        </p:txBody>
      </p:sp>
      <p:sp>
        <p:nvSpPr>
          <p:cNvPr id="51213" name="TextBox 18"/>
          <p:cNvSpPr txBox="1">
            <a:spLocks noChangeArrowheads="1"/>
          </p:cNvSpPr>
          <p:nvPr/>
        </p:nvSpPr>
        <p:spPr bwMode="auto">
          <a:xfrm>
            <a:off x="7239000" y="1600200"/>
            <a:ext cx="10477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Serratia</a:t>
            </a:r>
          </a:p>
        </p:txBody>
      </p:sp>
      <p:sp>
        <p:nvSpPr>
          <p:cNvPr id="51214" name="TextBox 19"/>
          <p:cNvSpPr txBox="1">
            <a:spLocks noChangeArrowheads="1"/>
          </p:cNvSpPr>
          <p:nvPr/>
        </p:nvSpPr>
        <p:spPr bwMode="auto">
          <a:xfrm>
            <a:off x="5638800" y="4724400"/>
            <a:ext cx="2133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Enterobacter spp</a:t>
            </a:r>
          </a:p>
        </p:txBody>
      </p:sp>
      <p:sp>
        <p:nvSpPr>
          <p:cNvPr id="51215" name="TextBox 21"/>
          <p:cNvSpPr txBox="1">
            <a:spLocks noChangeArrowheads="1"/>
          </p:cNvSpPr>
          <p:nvPr/>
        </p:nvSpPr>
        <p:spPr bwMode="auto">
          <a:xfrm>
            <a:off x="4419600" y="5257800"/>
            <a:ext cx="14573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Bacteroides</a:t>
            </a:r>
          </a:p>
          <a:p>
            <a:pPr eaLnBrk="1" hangingPunct="1"/>
            <a:r>
              <a:rPr lang="en-US" sz="1800" i="1"/>
              <a:t> fragilis</a:t>
            </a:r>
          </a:p>
        </p:txBody>
      </p:sp>
      <p:sp>
        <p:nvSpPr>
          <p:cNvPr id="18" name="Oval 23"/>
          <p:cNvSpPr>
            <a:spLocks noChangeArrowheads="1"/>
          </p:cNvSpPr>
          <p:nvPr/>
        </p:nvSpPr>
        <p:spPr bwMode="auto">
          <a:xfrm rot="8570288">
            <a:off x="4096710" y="1532350"/>
            <a:ext cx="4981167" cy="1866900"/>
          </a:xfrm>
          <a:prstGeom prst="ellipse">
            <a:avLst/>
          </a:prstGeom>
          <a:solidFill>
            <a:srgbClr val="FFCC66">
              <a:alpha val="48000"/>
            </a:srgb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" name="Oval 24"/>
          <p:cNvSpPr>
            <a:spLocks noChangeArrowheads="1"/>
          </p:cNvSpPr>
          <p:nvPr/>
        </p:nvSpPr>
        <p:spPr bwMode="auto">
          <a:xfrm rot="12309700">
            <a:off x="4694699" y="4171296"/>
            <a:ext cx="4420559" cy="1601787"/>
          </a:xfrm>
          <a:prstGeom prst="ellipse">
            <a:avLst/>
          </a:prstGeom>
          <a:solidFill>
            <a:srgbClr val="FFCC66">
              <a:alpha val="48000"/>
            </a:srgb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" name="Oval 23"/>
          <p:cNvSpPr>
            <a:spLocks noChangeArrowheads="1"/>
          </p:cNvSpPr>
          <p:nvPr/>
        </p:nvSpPr>
        <p:spPr bwMode="auto">
          <a:xfrm rot="10125553">
            <a:off x="1423716" y="3756475"/>
            <a:ext cx="3426368" cy="1337813"/>
          </a:xfrm>
          <a:prstGeom prst="ellipse">
            <a:avLst/>
          </a:prstGeom>
          <a:solidFill>
            <a:srgbClr val="FFCC66">
              <a:alpha val="48000"/>
            </a:srgb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1" name="Oval 24"/>
          <p:cNvSpPr>
            <a:spLocks noChangeArrowheads="1"/>
          </p:cNvSpPr>
          <p:nvPr/>
        </p:nvSpPr>
        <p:spPr bwMode="auto">
          <a:xfrm rot="10236426">
            <a:off x="5254155" y="2960858"/>
            <a:ext cx="2969737" cy="1601787"/>
          </a:xfrm>
          <a:prstGeom prst="ellipse">
            <a:avLst/>
          </a:prstGeom>
          <a:solidFill>
            <a:srgbClr val="FFCC66">
              <a:alpha val="48000"/>
            </a:srgb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" name="Oval 24"/>
          <p:cNvSpPr>
            <a:spLocks noChangeArrowheads="1"/>
          </p:cNvSpPr>
          <p:nvPr/>
        </p:nvSpPr>
        <p:spPr bwMode="auto">
          <a:xfrm rot="12309700">
            <a:off x="1632454" y="2527442"/>
            <a:ext cx="3008891" cy="1601787"/>
          </a:xfrm>
          <a:prstGeom prst="ellipse">
            <a:avLst/>
          </a:prstGeom>
          <a:solidFill>
            <a:srgbClr val="FFCC66">
              <a:alpha val="48000"/>
            </a:srgb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1216" name="TextBox 22"/>
          <p:cNvSpPr txBox="1">
            <a:spLocks noChangeArrowheads="1"/>
          </p:cNvSpPr>
          <p:nvPr/>
        </p:nvSpPr>
        <p:spPr bwMode="auto">
          <a:xfrm>
            <a:off x="4038600" y="3657600"/>
            <a:ext cx="1595438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1" dirty="0"/>
              <a:t>Levofloxacin</a:t>
            </a:r>
          </a:p>
        </p:txBody>
      </p:sp>
    </p:spTree>
    <p:extLst>
      <p:ext uri="{BB962C8B-B14F-4D97-AF65-F5344CB8AC3E}">
        <p14:creationId xmlns:p14="http://schemas.microsoft.com/office/powerpoint/2010/main" val="22044401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8"/>
          <p:cNvSpPr>
            <a:spLocks noChangeArrowheads="1"/>
          </p:cNvSpPr>
          <p:nvPr/>
        </p:nvSpPr>
        <p:spPr bwMode="auto">
          <a:xfrm>
            <a:off x="0" y="-228600"/>
            <a:ext cx="9144000" cy="7086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  <a:p>
            <a:r>
              <a:rPr lang="en-US"/>
              <a:t>Gram-positive                                                           Gram-negative</a:t>
            </a:r>
          </a:p>
        </p:txBody>
      </p:sp>
      <p:sp>
        <p:nvSpPr>
          <p:cNvPr id="51202" name="TextBox 3"/>
          <p:cNvSpPr txBox="1">
            <a:spLocks noChangeArrowheads="1"/>
          </p:cNvSpPr>
          <p:nvPr/>
        </p:nvSpPr>
        <p:spPr bwMode="auto">
          <a:xfrm>
            <a:off x="2514600" y="3352800"/>
            <a:ext cx="18653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Strep pyogenes</a:t>
            </a:r>
          </a:p>
        </p:txBody>
      </p:sp>
      <p:sp>
        <p:nvSpPr>
          <p:cNvPr id="51203" name="TextBox 4"/>
          <p:cNvSpPr txBox="1">
            <a:spLocks noChangeArrowheads="1"/>
          </p:cNvSpPr>
          <p:nvPr/>
        </p:nvSpPr>
        <p:spPr bwMode="auto">
          <a:xfrm>
            <a:off x="1697038" y="2667000"/>
            <a:ext cx="17922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S. pneumoniae</a:t>
            </a:r>
          </a:p>
        </p:txBody>
      </p:sp>
      <p:sp>
        <p:nvSpPr>
          <p:cNvPr id="51204" name="TextBox 6"/>
          <p:cNvSpPr txBox="1">
            <a:spLocks noChangeArrowheads="1"/>
          </p:cNvSpPr>
          <p:nvPr/>
        </p:nvSpPr>
        <p:spPr bwMode="auto">
          <a:xfrm>
            <a:off x="1143000" y="1828800"/>
            <a:ext cx="16383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Enterococcus</a:t>
            </a:r>
          </a:p>
          <a:p>
            <a:pPr eaLnBrk="1" hangingPunct="1"/>
            <a:r>
              <a:rPr lang="en-US" sz="1800" i="1"/>
              <a:t>faecalis</a:t>
            </a:r>
          </a:p>
        </p:txBody>
      </p:sp>
      <p:sp>
        <p:nvSpPr>
          <p:cNvPr id="51205" name="TextBox 7"/>
          <p:cNvSpPr txBox="1">
            <a:spLocks noChangeArrowheads="1"/>
          </p:cNvSpPr>
          <p:nvPr/>
        </p:nvSpPr>
        <p:spPr bwMode="auto">
          <a:xfrm>
            <a:off x="0" y="533400"/>
            <a:ext cx="16859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Enterococcus</a:t>
            </a:r>
          </a:p>
          <a:p>
            <a:pPr eaLnBrk="1" hangingPunct="1"/>
            <a:r>
              <a:rPr lang="en-US" sz="1800" i="1"/>
              <a:t>faecium </a:t>
            </a:r>
            <a:r>
              <a:rPr lang="en-US" sz="1800"/>
              <a:t>(VRE)</a:t>
            </a:r>
          </a:p>
        </p:txBody>
      </p:sp>
      <p:sp>
        <p:nvSpPr>
          <p:cNvPr id="51206" name="TextBox 9"/>
          <p:cNvSpPr txBox="1">
            <a:spLocks noChangeArrowheads="1"/>
          </p:cNvSpPr>
          <p:nvPr/>
        </p:nvSpPr>
        <p:spPr bwMode="auto">
          <a:xfrm>
            <a:off x="1524000" y="4267200"/>
            <a:ext cx="16129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Staph aureus</a:t>
            </a:r>
          </a:p>
          <a:p>
            <a:pPr eaLnBrk="1" hangingPunct="1"/>
            <a:r>
              <a:rPr lang="en-US" sz="1800"/>
              <a:t>(MSSA)</a:t>
            </a:r>
          </a:p>
        </p:txBody>
      </p:sp>
      <p:sp>
        <p:nvSpPr>
          <p:cNvPr id="51207" name="TextBox 10"/>
          <p:cNvSpPr txBox="1">
            <a:spLocks noChangeArrowheads="1"/>
          </p:cNvSpPr>
          <p:nvPr/>
        </p:nvSpPr>
        <p:spPr bwMode="auto">
          <a:xfrm>
            <a:off x="0" y="5562600"/>
            <a:ext cx="16129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Staph aureus</a:t>
            </a:r>
          </a:p>
          <a:p>
            <a:pPr eaLnBrk="1" hangingPunct="1"/>
            <a:r>
              <a:rPr lang="en-US" sz="1800"/>
              <a:t>(MRSA)</a:t>
            </a:r>
          </a:p>
        </p:txBody>
      </p:sp>
      <p:sp>
        <p:nvSpPr>
          <p:cNvPr id="51208" name="TextBox 11"/>
          <p:cNvSpPr txBox="1">
            <a:spLocks noChangeArrowheads="1"/>
          </p:cNvSpPr>
          <p:nvPr/>
        </p:nvSpPr>
        <p:spPr bwMode="auto">
          <a:xfrm>
            <a:off x="5029200" y="2667000"/>
            <a:ext cx="10858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Proteus</a:t>
            </a:r>
          </a:p>
          <a:p>
            <a:pPr eaLnBrk="1" hangingPunct="1"/>
            <a:r>
              <a:rPr lang="en-US" sz="1800" i="1"/>
              <a:t>mirabilis</a:t>
            </a:r>
          </a:p>
        </p:txBody>
      </p:sp>
      <p:sp>
        <p:nvSpPr>
          <p:cNvPr id="51209" name="TextBox 12"/>
          <p:cNvSpPr txBox="1">
            <a:spLocks noChangeArrowheads="1"/>
          </p:cNvSpPr>
          <p:nvPr/>
        </p:nvSpPr>
        <p:spPr bwMode="auto">
          <a:xfrm>
            <a:off x="5791200" y="2438400"/>
            <a:ext cx="8683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E. coli</a:t>
            </a:r>
          </a:p>
        </p:txBody>
      </p:sp>
      <p:sp>
        <p:nvSpPr>
          <p:cNvPr id="51210" name="TextBox 13"/>
          <p:cNvSpPr txBox="1">
            <a:spLocks noChangeArrowheads="1"/>
          </p:cNvSpPr>
          <p:nvPr/>
        </p:nvSpPr>
        <p:spPr bwMode="auto">
          <a:xfrm>
            <a:off x="6248400" y="1905000"/>
            <a:ext cx="15113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Klebsiella</a:t>
            </a:r>
          </a:p>
          <a:p>
            <a:pPr eaLnBrk="1" hangingPunct="1"/>
            <a:r>
              <a:rPr lang="en-US" sz="1800" i="1"/>
              <a:t>pneumoniae</a:t>
            </a:r>
          </a:p>
        </p:txBody>
      </p:sp>
      <p:sp>
        <p:nvSpPr>
          <p:cNvPr id="51211" name="TextBox 14"/>
          <p:cNvSpPr txBox="1">
            <a:spLocks noChangeArrowheads="1"/>
          </p:cNvSpPr>
          <p:nvPr/>
        </p:nvSpPr>
        <p:spPr bwMode="auto">
          <a:xfrm>
            <a:off x="7010400" y="5486400"/>
            <a:ext cx="17145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Pseudomonas</a:t>
            </a:r>
          </a:p>
        </p:txBody>
      </p:sp>
      <p:sp>
        <p:nvSpPr>
          <p:cNvPr id="51212" name="TextBox 16"/>
          <p:cNvSpPr txBox="1">
            <a:spLocks noChangeArrowheads="1"/>
          </p:cNvSpPr>
          <p:nvPr/>
        </p:nvSpPr>
        <p:spPr bwMode="auto">
          <a:xfrm>
            <a:off x="5867400" y="3581400"/>
            <a:ext cx="2819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Haemophilus influenzae</a:t>
            </a:r>
          </a:p>
        </p:txBody>
      </p:sp>
      <p:sp>
        <p:nvSpPr>
          <p:cNvPr id="51213" name="TextBox 18"/>
          <p:cNvSpPr txBox="1">
            <a:spLocks noChangeArrowheads="1"/>
          </p:cNvSpPr>
          <p:nvPr/>
        </p:nvSpPr>
        <p:spPr bwMode="auto">
          <a:xfrm>
            <a:off x="7239000" y="1600200"/>
            <a:ext cx="10477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Serratia</a:t>
            </a:r>
          </a:p>
        </p:txBody>
      </p:sp>
      <p:sp>
        <p:nvSpPr>
          <p:cNvPr id="51214" name="TextBox 19"/>
          <p:cNvSpPr txBox="1">
            <a:spLocks noChangeArrowheads="1"/>
          </p:cNvSpPr>
          <p:nvPr/>
        </p:nvSpPr>
        <p:spPr bwMode="auto">
          <a:xfrm>
            <a:off x="5638800" y="4724400"/>
            <a:ext cx="2133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Enterobacter spp</a:t>
            </a:r>
          </a:p>
        </p:txBody>
      </p:sp>
      <p:sp>
        <p:nvSpPr>
          <p:cNvPr id="51215" name="TextBox 21"/>
          <p:cNvSpPr txBox="1">
            <a:spLocks noChangeArrowheads="1"/>
          </p:cNvSpPr>
          <p:nvPr/>
        </p:nvSpPr>
        <p:spPr bwMode="auto">
          <a:xfrm>
            <a:off x="4419600" y="5257800"/>
            <a:ext cx="14573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Bacteroides</a:t>
            </a:r>
          </a:p>
          <a:p>
            <a:pPr eaLnBrk="1" hangingPunct="1"/>
            <a:r>
              <a:rPr lang="en-US" sz="1800" i="1"/>
              <a:t> fragilis</a:t>
            </a:r>
          </a:p>
        </p:txBody>
      </p:sp>
      <p:sp>
        <p:nvSpPr>
          <p:cNvPr id="18" name="Oval 23"/>
          <p:cNvSpPr>
            <a:spLocks noChangeArrowheads="1"/>
          </p:cNvSpPr>
          <p:nvPr/>
        </p:nvSpPr>
        <p:spPr bwMode="auto">
          <a:xfrm rot="8570288">
            <a:off x="4096710" y="1532350"/>
            <a:ext cx="4981167" cy="1866900"/>
          </a:xfrm>
          <a:prstGeom prst="ellipse">
            <a:avLst/>
          </a:prstGeom>
          <a:solidFill>
            <a:srgbClr val="FFCC66">
              <a:alpha val="48000"/>
            </a:srgb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" name="Oval 24"/>
          <p:cNvSpPr>
            <a:spLocks noChangeArrowheads="1"/>
          </p:cNvSpPr>
          <p:nvPr/>
        </p:nvSpPr>
        <p:spPr bwMode="auto">
          <a:xfrm rot="12309700">
            <a:off x="4694699" y="4171296"/>
            <a:ext cx="4420559" cy="1601787"/>
          </a:xfrm>
          <a:prstGeom prst="ellipse">
            <a:avLst/>
          </a:prstGeom>
          <a:solidFill>
            <a:srgbClr val="FFCC66">
              <a:alpha val="48000"/>
            </a:srgb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" name="Oval 23"/>
          <p:cNvSpPr>
            <a:spLocks noChangeArrowheads="1"/>
          </p:cNvSpPr>
          <p:nvPr/>
        </p:nvSpPr>
        <p:spPr bwMode="auto">
          <a:xfrm rot="10125553">
            <a:off x="1423716" y="3756475"/>
            <a:ext cx="3426368" cy="1337813"/>
          </a:xfrm>
          <a:prstGeom prst="ellipse">
            <a:avLst/>
          </a:prstGeom>
          <a:solidFill>
            <a:srgbClr val="FFCC66">
              <a:alpha val="48000"/>
            </a:srgb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1" name="Oval 24"/>
          <p:cNvSpPr>
            <a:spLocks noChangeArrowheads="1"/>
          </p:cNvSpPr>
          <p:nvPr/>
        </p:nvSpPr>
        <p:spPr bwMode="auto">
          <a:xfrm rot="10236426">
            <a:off x="5254155" y="2960858"/>
            <a:ext cx="2969737" cy="1601787"/>
          </a:xfrm>
          <a:prstGeom prst="ellipse">
            <a:avLst/>
          </a:prstGeom>
          <a:solidFill>
            <a:srgbClr val="FFCC66">
              <a:alpha val="48000"/>
            </a:srgb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1216" name="TextBox 22"/>
          <p:cNvSpPr txBox="1">
            <a:spLocks noChangeArrowheads="1"/>
          </p:cNvSpPr>
          <p:nvPr/>
        </p:nvSpPr>
        <p:spPr bwMode="auto">
          <a:xfrm>
            <a:off x="4038600" y="3657600"/>
            <a:ext cx="165960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1" dirty="0"/>
              <a:t>Ciprofloxacin</a:t>
            </a:r>
          </a:p>
        </p:txBody>
      </p:sp>
    </p:spTree>
    <p:extLst>
      <p:ext uri="{BB962C8B-B14F-4D97-AF65-F5344CB8AC3E}">
        <p14:creationId xmlns:p14="http://schemas.microsoft.com/office/powerpoint/2010/main" val="42688309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8"/>
          <p:cNvSpPr>
            <a:spLocks noChangeArrowheads="1"/>
          </p:cNvSpPr>
          <p:nvPr/>
        </p:nvSpPr>
        <p:spPr bwMode="auto">
          <a:xfrm>
            <a:off x="0" y="-228600"/>
            <a:ext cx="9144000" cy="7086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  <a:p>
            <a:r>
              <a:rPr lang="en-US"/>
              <a:t>Gram-positive                                                           Gram-negative</a:t>
            </a:r>
          </a:p>
        </p:txBody>
      </p:sp>
      <p:sp>
        <p:nvSpPr>
          <p:cNvPr id="51202" name="TextBox 3"/>
          <p:cNvSpPr txBox="1">
            <a:spLocks noChangeArrowheads="1"/>
          </p:cNvSpPr>
          <p:nvPr/>
        </p:nvSpPr>
        <p:spPr bwMode="auto">
          <a:xfrm>
            <a:off x="2514600" y="3352800"/>
            <a:ext cx="18653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Strep pyogenes</a:t>
            </a:r>
          </a:p>
        </p:txBody>
      </p:sp>
      <p:sp>
        <p:nvSpPr>
          <p:cNvPr id="51203" name="TextBox 4"/>
          <p:cNvSpPr txBox="1">
            <a:spLocks noChangeArrowheads="1"/>
          </p:cNvSpPr>
          <p:nvPr/>
        </p:nvSpPr>
        <p:spPr bwMode="auto">
          <a:xfrm>
            <a:off x="1697038" y="2667000"/>
            <a:ext cx="17922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S. pneumoniae</a:t>
            </a:r>
          </a:p>
        </p:txBody>
      </p:sp>
      <p:sp>
        <p:nvSpPr>
          <p:cNvPr id="51204" name="TextBox 6"/>
          <p:cNvSpPr txBox="1">
            <a:spLocks noChangeArrowheads="1"/>
          </p:cNvSpPr>
          <p:nvPr/>
        </p:nvSpPr>
        <p:spPr bwMode="auto">
          <a:xfrm>
            <a:off x="1143000" y="1828800"/>
            <a:ext cx="16383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Enterococcus</a:t>
            </a:r>
          </a:p>
          <a:p>
            <a:pPr eaLnBrk="1" hangingPunct="1"/>
            <a:r>
              <a:rPr lang="en-US" sz="1800" i="1"/>
              <a:t>faecalis</a:t>
            </a:r>
          </a:p>
        </p:txBody>
      </p:sp>
      <p:sp>
        <p:nvSpPr>
          <p:cNvPr id="51205" name="TextBox 7"/>
          <p:cNvSpPr txBox="1">
            <a:spLocks noChangeArrowheads="1"/>
          </p:cNvSpPr>
          <p:nvPr/>
        </p:nvSpPr>
        <p:spPr bwMode="auto">
          <a:xfrm>
            <a:off x="0" y="533400"/>
            <a:ext cx="16859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Enterococcus</a:t>
            </a:r>
          </a:p>
          <a:p>
            <a:pPr eaLnBrk="1" hangingPunct="1"/>
            <a:r>
              <a:rPr lang="en-US" sz="1800" i="1"/>
              <a:t>faecium </a:t>
            </a:r>
            <a:r>
              <a:rPr lang="en-US" sz="1800"/>
              <a:t>(VRE)</a:t>
            </a:r>
          </a:p>
        </p:txBody>
      </p:sp>
      <p:sp>
        <p:nvSpPr>
          <p:cNvPr id="51206" name="TextBox 9"/>
          <p:cNvSpPr txBox="1">
            <a:spLocks noChangeArrowheads="1"/>
          </p:cNvSpPr>
          <p:nvPr/>
        </p:nvSpPr>
        <p:spPr bwMode="auto">
          <a:xfrm>
            <a:off x="1524000" y="4267200"/>
            <a:ext cx="16129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Staph aureus</a:t>
            </a:r>
          </a:p>
          <a:p>
            <a:pPr eaLnBrk="1" hangingPunct="1"/>
            <a:r>
              <a:rPr lang="en-US" sz="1800"/>
              <a:t>(MSSA)</a:t>
            </a:r>
          </a:p>
        </p:txBody>
      </p:sp>
      <p:sp>
        <p:nvSpPr>
          <p:cNvPr id="51207" name="TextBox 10"/>
          <p:cNvSpPr txBox="1">
            <a:spLocks noChangeArrowheads="1"/>
          </p:cNvSpPr>
          <p:nvPr/>
        </p:nvSpPr>
        <p:spPr bwMode="auto">
          <a:xfrm>
            <a:off x="0" y="5562600"/>
            <a:ext cx="16129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Staph aureus</a:t>
            </a:r>
          </a:p>
          <a:p>
            <a:pPr eaLnBrk="1" hangingPunct="1"/>
            <a:r>
              <a:rPr lang="en-US" sz="1800"/>
              <a:t>(MRSA)</a:t>
            </a:r>
          </a:p>
        </p:txBody>
      </p:sp>
      <p:sp>
        <p:nvSpPr>
          <p:cNvPr id="51208" name="TextBox 11"/>
          <p:cNvSpPr txBox="1">
            <a:spLocks noChangeArrowheads="1"/>
          </p:cNvSpPr>
          <p:nvPr/>
        </p:nvSpPr>
        <p:spPr bwMode="auto">
          <a:xfrm>
            <a:off x="5029200" y="2667000"/>
            <a:ext cx="10858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Proteus</a:t>
            </a:r>
          </a:p>
          <a:p>
            <a:pPr eaLnBrk="1" hangingPunct="1"/>
            <a:r>
              <a:rPr lang="en-US" sz="1800" i="1"/>
              <a:t>mirabilis</a:t>
            </a:r>
          </a:p>
        </p:txBody>
      </p:sp>
      <p:sp>
        <p:nvSpPr>
          <p:cNvPr id="51209" name="TextBox 12"/>
          <p:cNvSpPr txBox="1">
            <a:spLocks noChangeArrowheads="1"/>
          </p:cNvSpPr>
          <p:nvPr/>
        </p:nvSpPr>
        <p:spPr bwMode="auto">
          <a:xfrm>
            <a:off x="5791200" y="2438400"/>
            <a:ext cx="8683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E. coli</a:t>
            </a:r>
          </a:p>
        </p:txBody>
      </p:sp>
      <p:sp>
        <p:nvSpPr>
          <p:cNvPr id="51210" name="TextBox 13"/>
          <p:cNvSpPr txBox="1">
            <a:spLocks noChangeArrowheads="1"/>
          </p:cNvSpPr>
          <p:nvPr/>
        </p:nvSpPr>
        <p:spPr bwMode="auto">
          <a:xfrm>
            <a:off x="6248400" y="1905000"/>
            <a:ext cx="15113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Klebsiella</a:t>
            </a:r>
          </a:p>
          <a:p>
            <a:pPr eaLnBrk="1" hangingPunct="1"/>
            <a:r>
              <a:rPr lang="en-US" sz="1800" i="1"/>
              <a:t>pneumoniae</a:t>
            </a:r>
          </a:p>
        </p:txBody>
      </p:sp>
      <p:sp>
        <p:nvSpPr>
          <p:cNvPr id="51211" name="TextBox 14"/>
          <p:cNvSpPr txBox="1">
            <a:spLocks noChangeArrowheads="1"/>
          </p:cNvSpPr>
          <p:nvPr/>
        </p:nvSpPr>
        <p:spPr bwMode="auto">
          <a:xfrm>
            <a:off x="7010400" y="5486400"/>
            <a:ext cx="17145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Pseudomonas</a:t>
            </a:r>
          </a:p>
        </p:txBody>
      </p:sp>
      <p:sp>
        <p:nvSpPr>
          <p:cNvPr id="51212" name="TextBox 16"/>
          <p:cNvSpPr txBox="1">
            <a:spLocks noChangeArrowheads="1"/>
          </p:cNvSpPr>
          <p:nvPr/>
        </p:nvSpPr>
        <p:spPr bwMode="auto">
          <a:xfrm>
            <a:off x="5867400" y="3581400"/>
            <a:ext cx="2819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Haemophilus influenzae</a:t>
            </a:r>
          </a:p>
        </p:txBody>
      </p:sp>
      <p:sp>
        <p:nvSpPr>
          <p:cNvPr id="51213" name="TextBox 18"/>
          <p:cNvSpPr txBox="1">
            <a:spLocks noChangeArrowheads="1"/>
          </p:cNvSpPr>
          <p:nvPr/>
        </p:nvSpPr>
        <p:spPr bwMode="auto">
          <a:xfrm>
            <a:off x="7239000" y="1600200"/>
            <a:ext cx="10477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Serratia</a:t>
            </a:r>
          </a:p>
        </p:txBody>
      </p:sp>
      <p:sp>
        <p:nvSpPr>
          <p:cNvPr id="51214" name="TextBox 19"/>
          <p:cNvSpPr txBox="1">
            <a:spLocks noChangeArrowheads="1"/>
          </p:cNvSpPr>
          <p:nvPr/>
        </p:nvSpPr>
        <p:spPr bwMode="auto">
          <a:xfrm>
            <a:off x="5638800" y="4724400"/>
            <a:ext cx="2133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Enterobacter spp</a:t>
            </a:r>
          </a:p>
        </p:txBody>
      </p:sp>
      <p:sp>
        <p:nvSpPr>
          <p:cNvPr id="51215" name="TextBox 21"/>
          <p:cNvSpPr txBox="1">
            <a:spLocks noChangeArrowheads="1"/>
          </p:cNvSpPr>
          <p:nvPr/>
        </p:nvSpPr>
        <p:spPr bwMode="auto">
          <a:xfrm>
            <a:off x="4419600" y="5257800"/>
            <a:ext cx="14573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Bacteroides</a:t>
            </a:r>
          </a:p>
          <a:p>
            <a:pPr eaLnBrk="1" hangingPunct="1"/>
            <a:r>
              <a:rPr lang="en-US" sz="1800" i="1"/>
              <a:t> fragilis</a:t>
            </a:r>
          </a:p>
        </p:txBody>
      </p:sp>
      <p:sp>
        <p:nvSpPr>
          <p:cNvPr id="18" name="Oval 23"/>
          <p:cNvSpPr>
            <a:spLocks noChangeArrowheads="1"/>
          </p:cNvSpPr>
          <p:nvPr/>
        </p:nvSpPr>
        <p:spPr bwMode="auto">
          <a:xfrm rot="8570288">
            <a:off x="4096710" y="1532350"/>
            <a:ext cx="4981167" cy="1866900"/>
          </a:xfrm>
          <a:prstGeom prst="ellipse">
            <a:avLst/>
          </a:prstGeom>
          <a:solidFill>
            <a:srgbClr val="FFCC66">
              <a:alpha val="48000"/>
            </a:srgb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" name="Oval 23"/>
          <p:cNvSpPr>
            <a:spLocks noChangeArrowheads="1"/>
          </p:cNvSpPr>
          <p:nvPr/>
        </p:nvSpPr>
        <p:spPr bwMode="auto">
          <a:xfrm rot="10125553">
            <a:off x="1423716" y="3756475"/>
            <a:ext cx="3426368" cy="1337813"/>
          </a:xfrm>
          <a:prstGeom prst="ellipse">
            <a:avLst/>
          </a:prstGeom>
          <a:solidFill>
            <a:srgbClr val="FFCC66">
              <a:alpha val="48000"/>
            </a:srgb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1" name="Oval 24"/>
          <p:cNvSpPr>
            <a:spLocks noChangeArrowheads="1"/>
          </p:cNvSpPr>
          <p:nvPr/>
        </p:nvSpPr>
        <p:spPr bwMode="auto">
          <a:xfrm rot="10236426">
            <a:off x="5254155" y="2960858"/>
            <a:ext cx="2969737" cy="1601787"/>
          </a:xfrm>
          <a:prstGeom prst="ellipse">
            <a:avLst/>
          </a:prstGeom>
          <a:solidFill>
            <a:srgbClr val="FFCC66">
              <a:alpha val="48000"/>
            </a:srgb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" name="Oval 24"/>
          <p:cNvSpPr>
            <a:spLocks noChangeArrowheads="1"/>
          </p:cNvSpPr>
          <p:nvPr/>
        </p:nvSpPr>
        <p:spPr bwMode="auto">
          <a:xfrm rot="12309700">
            <a:off x="1632454" y="2527442"/>
            <a:ext cx="3008891" cy="1601787"/>
          </a:xfrm>
          <a:prstGeom prst="ellipse">
            <a:avLst/>
          </a:prstGeom>
          <a:solidFill>
            <a:srgbClr val="FFCC66">
              <a:alpha val="48000"/>
            </a:srgb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3" name="Oval 23"/>
          <p:cNvSpPr>
            <a:spLocks noChangeArrowheads="1"/>
          </p:cNvSpPr>
          <p:nvPr/>
        </p:nvSpPr>
        <p:spPr bwMode="auto">
          <a:xfrm rot="15978249">
            <a:off x="3508097" y="4056631"/>
            <a:ext cx="2676851" cy="1751737"/>
          </a:xfrm>
          <a:prstGeom prst="ellipse">
            <a:avLst/>
          </a:prstGeom>
          <a:solidFill>
            <a:schemeClr val="accent3">
              <a:lumMod val="60000"/>
              <a:lumOff val="40000"/>
              <a:alpha val="48000"/>
            </a:scheme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1216" name="TextBox 22"/>
          <p:cNvSpPr txBox="1">
            <a:spLocks noChangeArrowheads="1"/>
          </p:cNvSpPr>
          <p:nvPr/>
        </p:nvSpPr>
        <p:spPr bwMode="auto">
          <a:xfrm>
            <a:off x="4038600" y="3657600"/>
            <a:ext cx="158273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1" dirty="0" err="1"/>
              <a:t>Moxifloxacin</a:t>
            </a:r>
            <a:endParaRPr 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31814638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8"/>
          <p:cNvSpPr>
            <a:spLocks noChangeArrowheads="1"/>
          </p:cNvSpPr>
          <p:nvPr/>
        </p:nvSpPr>
        <p:spPr bwMode="auto">
          <a:xfrm>
            <a:off x="0" y="-228600"/>
            <a:ext cx="9144000" cy="7086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  <a:p>
            <a:r>
              <a:rPr lang="en-US"/>
              <a:t>Gram-positive                                                           Gram-negative</a:t>
            </a:r>
          </a:p>
        </p:txBody>
      </p:sp>
      <p:sp>
        <p:nvSpPr>
          <p:cNvPr id="50178" name="TextBox 3"/>
          <p:cNvSpPr txBox="1">
            <a:spLocks noChangeArrowheads="1"/>
          </p:cNvSpPr>
          <p:nvPr/>
        </p:nvSpPr>
        <p:spPr bwMode="auto">
          <a:xfrm>
            <a:off x="2514600" y="3352800"/>
            <a:ext cx="18653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Strep pyogenes</a:t>
            </a:r>
          </a:p>
        </p:txBody>
      </p:sp>
      <p:sp>
        <p:nvSpPr>
          <p:cNvPr id="50179" name="TextBox 4"/>
          <p:cNvSpPr txBox="1">
            <a:spLocks noChangeArrowheads="1"/>
          </p:cNvSpPr>
          <p:nvPr/>
        </p:nvSpPr>
        <p:spPr bwMode="auto">
          <a:xfrm>
            <a:off x="1697038" y="2667000"/>
            <a:ext cx="17922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S. pneumoniae</a:t>
            </a:r>
          </a:p>
        </p:txBody>
      </p:sp>
      <p:sp>
        <p:nvSpPr>
          <p:cNvPr id="50180" name="TextBox 6"/>
          <p:cNvSpPr txBox="1">
            <a:spLocks noChangeArrowheads="1"/>
          </p:cNvSpPr>
          <p:nvPr/>
        </p:nvSpPr>
        <p:spPr bwMode="auto">
          <a:xfrm>
            <a:off x="1143000" y="1828800"/>
            <a:ext cx="16383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Enterococcus</a:t>
            </a:r>
          </a:p>
          <a:p>
            <a:pPr eaLnBrk="1" hangingPunct="1"/>
            <a:r>
              <a:rPr lang="en-US" sz="1800" i="1"/>
              <a:t>faecalis</a:t>
            </a:r>
          </a:p>
        </p:txBody>
      </p:sp>
      <p:sp>
        <p:nvSpPr>
          <p:cNvPr id="50181" name="TextBox 7"/>
          <p:cNvSpPr txBox="1">
            <a:spLocks noChangeArrowheads="1"/>
          </p:cNvSpPr>
          <p:nvPr/>
        </p:nvSpPr>
        <p:spPr bwMode="auto">
          <a:xfrm>
            <a:off x="0" y="533400"/>
            <a:ext cx="16859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Enterococcus</a:t>
            </a:r>
          </a:p>
          <a:p>
            <a:pPr eaLnBrk="1" hangingPunct="1"/>
            <a:r>
              <a:rPr lang="en-US" sz="1800" i="1"/>
              <a:t>faecium </a:t>
            </a:r>
            <a:r>
              <a:rPr lang="en-US" sz="1800"/>
              <a:t>(VRE)</a:t>
            </a:r>
          </a:p>
        </p:txBody>
      </p:sp>
      <p:sp>
        <p:nvSpPr>
          <p:cNvPr id="50182" name="TextBox 9"/>
          <p:cNvSpPr txBox="1">
            <a:spLocks noChangeArrowheads="1"/>
          </p:cNvSpPr>
          <p:nvPr/>
        </p:nvSpPr>
        <p:spPr bwMode="auto">
          <a:xfrm>
            <a:off x="1524000" y="4267200"/>
            <a:ext cx="16129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Staph aureus</a:t>
            </a:r>
          </a:p>
          <a:p>
            <a:pPr eaLnBrk="1" hangingPunct="1"/>
            <a:r>
              <a:rPr lang="en-US" sz="1800"/>
              <a:t>(MSSA)</a:t>
            </a:r>
          </a:p>
        </p:txBody>
      </p:sp>
      <p:sp>
        <p:nvSpPr>
          <p:cNvPr id="50183" name="TextBox 10"/>
          <p:cNvSpPr txBox="1">
            <a:spLocks noChangeArrowheads="1"/>
          </p:cNvSpPr>
          <p:nvPr/>
        </p:nvSpPr>
        <p:spPr bwMode="auto">
          <a:xfrm>
            <a:off x="0" y="5562600"/>
            <a:ext cx="16129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Staph aureus</a:t>
            </a:r>
          </a:p>
          <a:p>
            <a:pPr eaLnBrk="1" hangingPunct="1"/>
            <a:r>
              <a:rPr lang="en-US" sz="1800"/>
              <a:t>(MRSA)</a:t>
            </a:r>
          </a:p>
        </p:txBody>
      </p:sp>
      <p:sp>
        <p:nvSpPr>
          <p:cNvPr id="50184" name="TextBox 11"/>
          <p:cNvSpPr txBox="1">
            <a:spLocks noChangeArrowheads="1"/>
          </p:cNvSpPr>
          <p:nvPr/>
        </p:nvSpPr>
        <p:spPr bwMode="auto">
          <a:xfrm>
            <a:off x="5029200" y="2667000"/>
            <a:ext cx="10858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Proteus</a:t>
            </a:r>
          </a:p>
          <a:p>
            <a:pPr eaLnBrk="1" hangingPunct="1"/>
            <a:r>
              <a:rPr lang="en-US" sz="1800" i="1"/>
              <a:t>mirabilis</a:t>
            </a:r>
          </a:p>
        </p:txBody>
      </p:sp>
      <p:sp>
        <p:nvSpPr>
          <p:cNvPr id="50185" name="TextBox 12"/>
          <p:cNvSpPr txBox="1">
            <a:spLocks noChangeArrowheads="1"/>
          </p:cNvSpPr>
          <p:nvPr/>
        </p:nvSpPr>
        <p:spPr bwMode="auto">
          <a:xfrm>
            <a:off x="5791200" y="2438400"/>
            <a:ext cx="8683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E. coli</a:t>
            </a:r>
          </a:p>
        </p:txBody>
      </p:sp>
      <p:sp>
        <p:nvSpPr>
          <p:cNvPr id="50186" name="TextBox 13"/>
          <p:cNvSpPr txBox="1">
            <a:spLocks noChangeArrowheads="1"/>
          </p:cNvSpPr>
          <p:nvPr/>
        </p:nvSpPr>
        <p:spPr bwMode="auto">
          <a:xfrm>
            <a:off x="6248400" y="1905000"/>
            <a:ext cx="15113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Klebsiella</a:t>
            </a:r>
          </a:p>
          <a:p>
            <a:pPr eaLnBrk="1" hangingPunct="1"/>
            <a:r>
              <a:rPr lang="en-US" sz="1800" i="1"/>
              <a:t>pneumoniae</a:t>
            </a:r>
          </a:p>
        </p:txBody>
      </p:sp>
      <p:sp>
        <p:nvSpPr>
          <p:cNvPr id="50187" name="TextBox 14"/>
          <p:cNvSpPr txBox="1">
            <a:spLocks noChangeArrowheads="1"/>
          </p:cNvSpPr>
          <p:nvPr/>
        </p:nvSpPr>
        <p:spPr bwMode="auto">
          <a:xfrm>
            <a:off x="7010400" y="5486400"/>
            <a:ext cx="17145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Pseudomonas</a:t>
            </a:r>
          </a:p>
        </p:txBody>
      </p:sp>
      <p:sp>
        <p:nvSpPr>
          <p:cNvPr id="50188" name="TextBox 16"/>
          <p:cNvSpPr txBox="1">
            <a:spLocks noChangeArrowheads="1"/>
          </p:cNvSpPr>
          <p:nvPr/>
        </p:nvSpPr>
        <p:spPr bwMode="auto">
          <a:xfrm>
            <a:off x="5867400" y="3581400"/>
            <a:ext cx="2819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Haemophilus influenzae</a:t>
            </a:r>
          </a:p>
        </p:txBody>
      </p:sp>
      <p:sp>
        <p:nvSpPr>
          <p:cNvPr id="50189" name="TextBox 18"/>
          <p:cNvSpPr txBox="1">
            <a:spLocks noChangeArrowheads="1"/>
          </p:cNvSpPr>
          <p:nvPr/>
        </p:nvSpPr>
        <p:spPr bwMode="auto">
          <a:xfrm>
            <a:off x="7239000" y="1600200"/>
            <a:ext cx="10477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Serratia</a:t>
            </a:r>
          </a:p>
        </p:txBody>
      </p:sp>
      <p:sp>
        <p:nvSpPr>
          <p:cNvPr id="50190" name="TextBox 19"/>
          <p:cNvSpPr txBox="1">
            <a:spLocks noChangeArrowheads="1"/>
          </p:cNvSpPr>
          <p:nvPr/>
        </p:nvSpPr>
        <p:spPr bwMode="auto">
          <a:xfrm>
            <a:off x="5638800" y="4724400"/>
            <a:ext cx="2133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Enterobacter spp</a:t>
            </a:r>
          </a:p>
        </p:txBody>
      </p:sp>
      <p:sp>
        <p:nvSpPr>
          <p:cNvPr id="50191" name="TextBox 21"/>
          <p:cNvSpPr txBox="1">
            <a:spLocks noChangeArrowheads="1"/>
          </p:cNvSpPr>
          <p:nvPr/>
        </p:nvSpPr>
        <p:spPr bwMode="auto">
          <a:xfrm>
            <a:off x="4419600" y="5257800"/>
            <a:ext cx="14573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Bacteroides</a:t>
            </a:r>
          </a:p>
          <a:p>
            <a:pPr eaLnBrk="1" hangingPunct="1"/>
            <a:r>
              <a:rPr lang="en-US" sz="1800" i="1"/>
              <a:t> fragilis</a:t>
            </a:r>
          </a:p>
        </p:txBody>
      </p:sp>
      <p:sp>
        <p:nvSpPr>
          <p:cNvPr id="18" name="Oval 23"/>
          <p:cNvSpPr>
            <a:spLocks noChangeArrowheads="1"/>
          </p:cNvSpPr>
          <p:nvPr/>
        </p:nvSpPr>
        <p:spPr bwMode="auto">
          <a:xfrm rot="8648108">
            <a:off x="3848661" y="1898389"/>
            <a:ext cx="4981167" cy="1556772"/>
          </a:xfrm>
          <a:prstGeom prst="ellipse">
            <a:avLst/>
          </a:prstGeom>
          <a:solidFill>
            <a:srgbClr val="FF66FF">
              <a:alpha val="48000"/>
            </a:srgb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" name="Oval 24"/>
          <p:cNvSpPr>
            <a:spLocks noChangeArrowheads="1"/>
          </p:cNvSpPr>
          <p:nvPr/>
        </p:nvSpPr>
        <p:spPr bwMode="auto">
          <a:xfrm rot="12309700">
            <a:off x="4763533" y="3862872"/>
            <a:ext cx="2969737" cy="1601787"/>
          </a:xfrm>
          <a:prstGeom prst="ellipse">
            <a:avLst/>
          </a:prstGeom>
          <a:solidFill>
            <a:srgbClr val="FF66FF">
              <a:alpha val="48000"/>
            </a:srgb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" name="Oval 23"/>
          <p:cNvSpPr>
            <a:spLocks noChangeArrowheads="1"/>
          </p:cNvSpPr>
          <p:nvPr/>
        </p:nvSpPr>
        <p:spPr bwMode="auto">
          <a:xfrm rot="9398865">
            <a:off x="-125906" y="4147296"/>
            <a:ext cx="5396612" cy="1532032"/>
          </a:xfrm>
          <a:prstGeom prst="ellipse">
            <a:avLst/>
          </a:prstGeom>
          <a:solidFill>
            <a:srgbClr val="FF66FF">
              <a:alpha val="48000"/>
            </a:srgb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0192" name="TextBox 22"/>
          <p:cNvSpPr txBox="1">
            <a:spLocks noChangeArrowheads="1"/>
          </p:cNvSpPr>
          <p:nvPr/>
        </p:nvSpPr>
        <p:spPr bwMode="auto">
          <a:xfrm>
            <a:off x="4038600" y="3657600"/>
            <a:ext cx="123666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1" dirty="0"/>
              <a:t>TMP/SMX</a:t>
            </a:r>
          </a:p>
        </p:txBody>
      </p:sp>
      <p:sp>
        <p:nvSpPr>
          <p:cNvPr id="21" name="Oval 24"/>
          <p:cNvSpPr>
            <a:spLocks noChangeArrowheads="1"/>
          </p:cNvSpPr>
          <p:nvPr/>
        </p:nvSpPr>
        <p:spPr bwMode="auto">
          <a:xfrm rot="10236426">
            <a:off x="5231078" y="3111288"/>
            <a:ext cx="2969737" cy="1318983"/>
          </a:xfrm>
          <a:prstGeom prst="ellipse">
            <a:avLst/>
          </a:prstGeom>
          <a:solidFill>
            <a:srgbClr val="FF66FF">
              <a:alpha val="48000"/>
            </a:srgb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7779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8"/>
          <p:cNvSpPr>
            <a:spLocks noChangeArrowheads="1"/>
          </p:cNvSpPr>
          <p:nvPr/>
        </p:nvSpPr>
        <p:spPr bwMode="auto">
          <a:xfrm>
            <a:off x="0" y="-228600"/>
            <a:ext cx="9144000" cy="7086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  <a:p>
            <a:r>
              <a:rPr lang="en-US"/>
              <a:t>Gram-positive                                                           Gram-negative</a:t>
            </a:r>
          </a:p>
        </p:txBody>
      </p:sp>
      <p:sp>
        <p:nvSpPr>
          <p:cNvPr id="41986" name="TextBox 3"/>
          <p:cNvSpPr txBox="1">
            <a:spLocks noChangeArrowheads="1"/>
          </p:cNvSpPr>
          <p:nvPr/>
        </p:nvSpPr>
        <p:spPr bwMode="auto">
          <a:xfrm>
            <a:off x="2514600" y="3352800"/>
            <a:ext cx="18653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Strep pyogenes</a:t>
            </a:r>
          </a:p>
        </p:txBody>
      </p:sp>
      <p:sp>
        <p:nvSpPr>
          <p:cNvPr id="41987" name="TextBox 4"/>
          <p:cNvSpPr txBox="1">
            <a:spLocks noChangeArrowheads="1"/>
          </p:cNvSpPr>
          <p:nvPr/>
        </p:nvSpPr>
        <p:spPr bwMode="auto">
          <a:xfrm>
            <a:off x="1685925" y="2805113"/>
            <a:ext cx="17922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S. pneumoniae</a:t>
            </a:r>
          </a:p>
        </p:txBody>
      </p:sp>
      <p:sp>
        <p:nvSpPr>
          <p:cNvPr id="41988" name="TextBox 6"/>
          <p:cNvSpPr txBox="1">
            <a:spLocks noChangeArrowheads="1"/>
          </p:cNvSpPr>
          <p:nvPr/>
        </p:nvSpPr>
        <p:spPr bwMode="auto">
          <a:xfrm>
            <a:off x="1143000" y="1828800"/>
            <a:ext cx="16383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Enterococcus</a:t>
            </a:r>
          </a:p>
          <a:p>
            <a:pPr eaLnBrk="1" hangingPunct="1"/>
            <a:r>
              <a:rPr lang="en-US" sz="1800" i="1"/>
              <a:t>faecalis</a:t>
            </a:r>
          </a:p>
        </p:txBody>
      </p:sp>
      <p:sp>
        <p:nvSpPr>
          <p:cNvPr id="41989" name="TextBox 7"/>
          <p:cNvSpPr txBox="1">
            <a:spLocks noChangeArrowheads="1"/>
          </p:cNvSpPr>
          <p:nvPr/>
        </p:nvSpPr>
        <p:spPr bwMode="auto">
          <a:xfrm>
            <a:off x="0" y="533400"/>
            <a:ext cx="16859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Enterococcus</a:t>
            </a:r>
          </a:p>
          <a:p>
            <a:pPr eaLnBrk="1" hangingPunct="1"/>
            <a:r>
              <a:rPr lang="en-US" sz="1800" i="1"/>
              <a:t>faecium </a:t>
            </a:r>
            <a:r>
              <a:rPr lang="en-US" sz="1800"/>
              <a:t>(VRE)</a:t>
            </a:r>
          </a:p>
        </p:txBody>
      </p:sp>
      <p:sp>
        <p:nvSpPr>
          <p:cNvPr id="41990" name="TextBox 9"/>
          <p:cNvSpPr txBox="1">
            <a:spLocks noChangeArrowheads="1"/>
          </p:cNvSpPr>
          <p:nvPr/>
        </p:nvSpPr>
        <p:spPr bwMode="auto">
          <a:xfrm>
            <a:off x="1524000" y="4267200"/>
            <a:ext cx="16129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Staph aureus</a:t>
            </a:r>
          </a:p>
          <a:p>
            <a:pPr eaLnBrk="1" hangingPunct="1"/>
            <a:r>
              <a:rPr lang="en-US" sz="1800"/>
              <a:t>(MSSA)</a:t>
            </a:r>
          </a:p>
        </p:txBody>
      </p:sp>
      <p:sp>
        <p:nvSpPr>
          <p:cNvPr id="41991" name="TextBox 10"/>
          <p:cNvSpPr txBox="1">
            <a:spLocks noChangeArrowheads="1"/>
          </p:cNvSpPr>
          <p:nvPr/>
        </p:nvSpPr>
        <p:spPr bwMode="auto">
          <a:xfrm>
            <a:off x="0" y="5562600"/>
            <a:ext cx="16129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Staph aureus</a:t>
            </a:r>
          </a:p>
          <a:p>
            <a:pPr eaLnBrk="1" hangingPunct="1"/>
            <a:r>
              <a:rPr lang="en-US" sz="1800"/>
              <a:t>(MRSA)</a:t>
            </a:r>
          </a:p>
        </p:txBody>
      </p:sp>
      <p:sp>
        <p:nvSpPr>
          <p:cNvPr id="41992" name="TextBox 11"/>
          <p:cNvSpPr txBox="1">
            <a:spLocks noChangeArrowheads="1"/>
          </p:cNvSpPr>
          <p:nvPr/>
        </p:nvSpPr>
        <p:spPr bwMode="auto">
          <a:xfrm>
            <a:off x="5029200" y="2667000"/>
            <a:ext cx="10858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Proteus</a:t>
            </a:r>
          </a:p>
          <a:p>
            <a:pPr eaLnBrk="1" hangingPunct="1"/>
            <a:r>
              <a:rPr lang="en-US" sz="1800" i="1"/>
              <a:t>mirabilis</a:t>
            </a:r>
          </a:p>
        </p:txBody>
      </p:sp>
      <p:sp>
        <p:nvSpPr>
          <p:cNvPr id="41993" name="TextBox 12"/>
          <p:cNvSpPr txBox="1">
            <a:spLocks noChangeArrowheads="1"/>
          </p:cNvSpPr>
          <p:nvPr/>
        </p:nvSpPr>
        <p:spPr bwMode="auto">
          <a:xfrm>
            <a:off x="5791200" y="2438400"/>
            <a:ext cx="8683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E. coli</a:t>
            </a:r>
          </a:p>
        </p:txBody>
      </p:sp>
      <p:sp>
        <p:nvSpPr>
          <p:cNvPr id="41994" name="TextBox 13"/>
          <p:cNvSpPr txBox="1">
            <a:spLocks noChangeArrowheads="1"/>
          </p:cNvSpPr>
          <p:nvPr/>
        </p:nvSpPr>
        <p:spPr bwMode="auto">
          <a:xfrm>
            <a:off x="6248400" y="1905000"/>
            <a:ext cx="15113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Klebsiella</a:t>
            </a:r>
          </a:p>
          <a:p>
            <a:pPr eaLnBrk="1" hangingPunct="1"/>
            <a:r>
              <a:rPr lang="en-US" sz="1800" i="1"/>
              <a:t>pneumoniae</a:t>
            </a:r>
          </a:p>
        </p:txBody>
      </p:sp>
      <p:sp>
        <p:nvSpPr>
          <p:cNvPr id="41995" name="TextBox 14"/>
          <p:cNvSpPr txBox="1">
            <a:spLocks noChangeArrowheads="1"/>
          </p:cNvSpPr>
          <p:nvPr/>
        </p:nvSpPr>
        <p:spPr bwMode="auto">
          <a:xfrm>
            <a:off x="7010400" y="5486400"/>
            <a:ext cx="17145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Pseudomonas</a:t>
            </a:r>
          </a:p>
        </p:txBody>
      </p:sp>
      <p:sp>
        <p:nvSpPr>
          <p:cNvPr id="41996" name="TextBox 16"/>
          <p:cNvSpPr txBox="1">
            <a:spLocks noChangeArrowheads="1"/>
          </p:cNvSpPr>
          <p:nvPr/>
        </p:nvSpPr>
        <p:spPr bwMode="auto">
          <a:xfrm>
            <a:off x="5867400" y="3581400"/>
            <a:ext cx="2819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Haemophilus influenzae</a:t>
            </a:r>
          </a:p>
        </p:txBody>
      </p:sp>
      <p:sp>
        <p:nvSpPr>
          <p:cNvPr id="41997" name="TextBox 18"/>
          <p:cNvSpPr txBox="1">
            <a:spLocks noChangeArrowheads="1"/>
          </p:cNvSpPr>
          <p:nvPr/>
        </p:nvSpPr>
        <p:spPr bwMode="auto">
          <a:xfrm>
            <a:off x="7239000" y="1600200"/>
            <a:ext cx="10477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Serratia</a:t>
            </a:r>
          </a:p>
        </p:txBody>
      </p:sp>
      <p:sp>
        <p:nvSpPr>
          <p:cNvPr id="41998" name="TextBox 19"/>
          <p:cNvSpPr txBox="1">
            <a:spLocks noChangeArrowheads="1"/>
          </p:cNvSpPr>
          <p:nvPr/>
        </p:nvSpPr>
        <p:spPr bwMode="auto">
          <a:xfrm>
            <a:off x="5638800" y="4724400"/>
            <a:ext cx="2133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Enterobacter spp</a:t>
            </a:r>
          </a:p>
        </p:txBody>
      </p:sp>
      <p:sp>
        <p:nvSpPr>
          <p:cNvPr id="41999" name="TextBox 21"/>
          <p:cNvSpPr txBox="1">
            <a:spLocks noChangeArrowheads="1"/>
          </p:cNvSpPr>
          <p:nvPr/>
        </p:nvSpPr>
        <p:spPr bwMode="auto">
          <a:xfrm>
            <a:off x="4419600" y="5257800"/>
            <a:ext cx="14573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Bacteroides</a:t>
            </a:r>
          </a:p>
          <a:p>
            <a:pPr eaLnBrk="1" hangingPunct="1"/>
            <a:r>
              <a:rPr lang="en-US" sz="1800" i="1"/>
              <a:t> fragilis</a:t>
            </a:r>
          </a:p>
        </p:txBody>
      </p:sp>
      <p:sp>
        <p:nvSpPr>
          <p:cNvPr id="18" name="Oval 17"/>
          <p:cNvSpPr/>
          <p:nvPr/>
        </p:nvSpPr>
        <p:spPr bwMode="auto">
          <a:xfrm>
            <a:off x="4038600" y="3352800"/>
            <a:ext cx="1524000" cy="2895600"/>
          </a:xfrm>
          <a:prstGeom prst="ellipse">
            <a:avLst/>
          </a:prstGeom>
          <a:solidFill>
            <a:schemeClr val="accent1">
              <a:alpha val="3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42000" name="TextBox 22"/>
          <p:cNvSpPr txBox="1">
            <a:spLocks noChangeArrowheads="1"/>
          </p:cNvSpPr>
          <p:nvPr/>
        </p:nvSpPr>
        <p:spPr bwMode="auto">
          <a:xfrm>
            <a:off x="4038600" y="3657600"/>
            <a:ext cx="173647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1" dirty="0" err="1"/>
              <a:t>Metronidazole</a:t>
            </a:r>
            <a:endParaRPr 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12809174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8"/>
          <p:cNvSpPr>
            <a:spLocks noChangeArrowheads="1"/>
          </p:cNvSpPr>
          <p:nvPr/>
        </p:nvSpPr>
        <p:spPr bwMode="auto">
          <a:xfrm>
            <a:off x="0" y="-228600"/>
            <a:ext cx="9144000" cy="7086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  <a:p>
            <a:r>
              <a:rPr lang="en-US"/>
              <a:t>Gram-positive                                                           Gram-negative</a:t>
            </a:r>
          </a:p>
        </p:txBody>
      </p:sp>
      <p:sp>
        <p:nvSpPr>
          <p:cNvPr id="41986" name="TextBox 3"/>
          <p:cNvSpPr txBox="1">
            <a:spLocks noChangeArrowheads="1"/>
          </p:cNvSpPr>
          <p:nvPr/>
        </p:nvSpPr>
        <p:spPr bwMode="auto">
          <a:xfrm>
            <a:off x="2514600" y="3352800"/>
            <a:ext cx="18653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Strep pyogenes</a:t>
            </a:r>
          </a:p>
        </p:txBody>
      </p:sp>
      <p:sp>
        <p:nvSpPr>
          <p:cNvPr id="41987" name="TextBox 4"/>
          <p:cNvSpPr txBox="1">
            <a:spLocks noChangeArrowheads="1"/>
          </p:cNvSpPr>
          <p:nvPr/>
        </p:nvSpPr>
        <p:spPr bwMode="auto">
          <a:xfrm>
            <a:off x="1685925" y="2805113"/>
            <a:ext cx="17922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S. pneumoniae</a:t>
            </a:r>
          </a:p>
        </p:txBody>
      </p:sp>
      <p:sp>
        <p:nvSpPr>
          <p:cNvPr id="41988" name="TextBox 6"/>
          <p:cNvSpPr txBox="1">
            <a:spLocks noChangeArrowheads="1"/>
          </p:cNvSpPr>
          <p:nvPr/>
        </p:nvSpPr>
        <p:spPr bwMode="auto">
          <a:xfrm>
            <a:off x="1143000" y="1828800"/>
            <a:ext cx="16383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Enterococcus</a:t>
            </a:r>
          </a:p>
          <a:p>
            <a:pPr eaLnBrk="1" hangingPunct="1"/>
            <a:r>
              <a:rPr lang="en-US" sz="1800" i="1"/>
              <a:t>faecalis</a:t>
            </a:r>
          </a:p>
        </p:txBody>
      </p:sp>
      <p:sp>
        <p:nvSpPr>
          <p:cNvPr id="41989" name="TextBox 7"/>
          <p:cNvSpPr txBox="1">
            <a:spLocks noChangeArrowheads="1"/>
          </p:cNvSpPr>
          <p:nvPr/>
        </p:nvSpPr>
        <p:spPr bwMode="auto">
          <a:xfrm>
            <a:off x="0" y="533400"/>
            <a:ext cx="16859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Enterococcus</a:t>
            </a:r>
          </a:p>
          <a:p>
            <a:pPr eaLnBrk="1" hangingPunct="1"/>
            <a:r>
              <a:rPr lang="en-US" sz="1800" i="1"/>
              <a:t>faecium </a:t>
            </a:r>
            <a:r>
              <a:rPr lang="en-US" sz="1800"/>
              <a:t>(VRE)</a:t>
            </a:r>
          </a:p>
        </p:txBody>
      </p:sp>
      <p:sp>
        <p:nvSpPr>
          <p:cNvPr id="41990" name="TextBox 9"/>
          <p:cNvSpPr txBox="1">
            <a:spLocks noChangeArrowheads="1"/>
          </p:cNvSpPr>
          <p:nvPr/>
        </p:nvSpPr>
        <p:spPr bwMode="auto">
          <a:xfrm>
            <a:off x="1524000" y="4267200"/>
            <a:ext cx="16129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Staph aureus</a:t>
            </a:r>
          </a:p>
          <a:p>
            <a:pPr eaLnBrk="1" hangingPunct="1"/>
            <a:r>
              <a:rPr lang="en-US" sz="1800"/>
              <a:t>(MSSA)</a:t>
            </a:r>
          </a:p>
        </p:txBody>
      </p:sp>
      <p:sp>
        <p:nvSpPr>
          <p:cNvPr id="41991" name="TextBox 10"/>
          <p:cNvSpPr txBox="1">
            <a:spLocks noChangeArrowheads="1"/>
          </p:cNvSpPr>
          <p:nvPr/>
        </p:nvSpPr>
        <p:spPr bwMode="auto">
          <a:xfrm>
            <a:off x="0" y="5562600"/>
            <a:ext cx="16129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Staph aureus</a:t>
            </a:r>
          </a:p>
          <a:p>
            <a:pPr eaLnBrk="1" hangingPunct="1"/>
            <a:r>
              <a:rPr lang="en-US" sz="1800"/>
              <a:t>(MRSA)</a:t>
            </a:r>
          </a:p>
        </p:txBody>
      </p:sp>
      <p:sp>
        <p:nvSpPr>
          <p:cNvPr id="41992" name="TextBox 11"/>
          <p:cNvSpPr txBox="1">
            <a:spLocks noChangeArrowheads="1"/>
          </p:cNvSpPr>
          <p:nvPr/>
        </p:nvSpPr>
        <p:spPr bwMode="auto">
          <a:xfrm>
            <a:off x="5029200" y="2667000"/>
            <a:ext cx="10858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Proteus</a:t>
            </a:r>
          </a:p>
          <a:p>
            <a:pPr eaLnBrk="1" hangingPunct="1"/>
            <a:r>
              <a:rPr lang="en-US" sz="1800" i="1"/>
              <a:t>mirabilis</a:t>
            </a:r>
          </a:p>
        </p:txBody>
      </p:sp>
      <p:sp>
        <p:nvSpPr>
          <p:cNvPr id="41993" name="TextBox 12"/>
          <p:cNvSpPr txBox="1">
            <a:spLocks noChangeArrowheads="1"/>
          </p:cNvSpPr>
          <p:nvPr/>
        </p:nvSpPr>
        <p:spPr bwMode="auto">
          <a:xfrm>
            <a:off x="5791200" y="2438400"/>
            <a:ext cx="8683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E. coli</a:t>
            </a:r>
          </a:p>
        </p:txBody>
      </p:sp>
      <p:sp>
        <p:nvSpPr>
          <p:cNvPr id="41994" name="TextBox 13"/>
          <p:cNvSpPr txBox="1">
            <a:spLocks noChangeArrowheads="1"/>
          </p:cNvSpPr>
          <p:nvPr/>
        </p:nvSpPr>
        <p:spPr bwMode="auto">
          <a:xfrm>
            <a:off x="6248400" y="1905000"/>
            <a:ext cx="15113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Klebsiella</a:t>
            </a:r>
          </a:p>
          <a:p>
            <a:pPr eaLnBrk="1" hangingPunct="1"/>
            <a:r>
              <a:rPr lang="en-US" sz="1800" i="1"/>
              <a:t>pneumoniae</a:t>
            </a:r>
          </a:p>
        </p:txBody>
      </p:sp>
      <p:sp>
        <p:nvSpPr>
          <p:cNvPr id="41995" name="TextBox 14"/>
          <p:cNvSpPr txBox="1">
            <a:spLocks noChangeArrowheads="1"/>
          </p:cNvSpPr>
          <p:nvPr/>
        </p:nvSpPr>
        <p:spPr bwMode="auto">
          <a:xfrm>
            <a:off x="7010400" y="5486400"/>
            <a:ext cx="17145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Pseudomonas</a:t>
            </a:r>
          </a:p>
        </p:txBody>
      </p:sp>
      <p:sp>
        <p:nvSpPr>
          <p:cNvPr id="41996" name="TextBox 16"/>
          <p:cNvSpPr txBox="1">
            <a:spLocks noChangeArrowheads="1"/>
          </p:cNvSpPr>
          <p:nvPr/>
        </p:nvSpPr>
        <p:spPr bwMode="auto">
          <a:xfrm>
            <a:off x="5867400" y="3581400"/>
            <a:ext cx="2819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Haemophilus influenzae</a:t>
            </a:r>
          </a:p>
        </p:txBody>
      </p:sp>
      <p:sp>
        <p:nvSpPr>
          <p:cNvPr id="41997" name="TextBox 18"/>
          <p:cNvSpPr txBox="1">
            <a:spLocks noChangeArrowheads="1"/>
          </p:cNvSpPr>
          <p:nvPr/>
        </p:nvSpPr>
        <p:spPr bwMode="auto">
          <a:xfrm>
            <a:off x="7239000" y="1600200"/>
            <a:ext cx="10477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Serratia</a:t>
            </a:r>
          </a:p>
        </p:txBody>
      </p:sp>
      <p:sp>
        <p:nvSpPr>
          <p:cNvPr id="41998" name="TextBox 19"/>
          <p:cNvSpPr txBox="1">
            <a:spLocks noChangeArrowheads="1"/>
          </p:cNvSpPr>
          <p:nvPr/>
        </p:nvSpPr>
        <p:spPr bwMode="auto">
          <a:xfrm>
            <a:off x="5638800" y="4724400"/>
            <a:ext cx="2133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Enterobacter spp</a:t>
            </a:r>
          </a:p>
        </p:txBody>
      </p:sp>
      <p:sp>
        <p:nvSpPr>
          <p:cNvPr id="41999" name="TextBox 21"/>
          <p:cNvSpPr txBox="1">
            <a:spLocks noChangeArrowheads="1"/>
          </p:cNvSpPr>
          <p:nvPr/>
        </p:nvSpPr>
        <p:spPr bwMode="auto">
          <a:xfrm>
            <a:off x="4419600" y="5257800"/>
            <a:ext cx="14573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Bacteroides</a:t>
            </a:r>
          </a:p>
          <a:p>
            <a:pPr eaLnBrk="1" hangingPunct="1"/>
            <a:r>
              <a:rPr lang="en-US" sz="1800" i="1"/>
              <a:t> fragilis</a:t>
            </a:r>
          </a:p>
        </p:txBody>
      </p:sp>
      <p:sp>
        <p:nvSpPr>
          <p:cNvPr id="19" name="Oval 23"/>
          <p:cNvSpPr>
            <a:spLocks noChangeArrowheads="1"/>
          </p:cNvSpPr>
          <p:nvPr/>
        </p:nvSpPr>
        <p:spPr bwMode="auto">
          <a:xfrm rot="8570288">
            <a:off x="3960737" y="1776375"/>
            <a:ext cx="4819394" cy="1866900"/>
          </a:xfrm>
          <a:prstGeom prst="ellipse">
            <a:avLst/>
          </a:prstGeom>
          <a:solidFill>
            <a:srgbClr val="B2B2B2">
              <a:alpha val="25882"/>
            </a:srgb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" name="Oval 23"/>
          <p:cNvSpPr>
            <a:spLocks noChangeArrowheads="1"/>
          </p:cNvSpPr>
          <p:nvPr/>
        </p:nvSpPr>
        <p:spPr bwMode="auto">
          <a:xfrm rot="2460000">
            <a:off x="-144155" y="1373628"/>
            <a:ext cx="5780172" cy="2546275"/>
          </a:xfrm>
          <a:prstGeom prst="ellipse">
            <a:avLst/>
          </a:prstGeom>
          <a:solidFill>
            <a:srgbClr val="B2B2B2">
              <a:alpha val="25882"/>
            </a:srgb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000" name="TextBox 22"/>
          <p:cNvSpPr txBox="1">
            <a:spLocks noChangeArrowheads="1"/>
          </p:cNvSpPr>
          <p:nvPr/>
        </p:nvSpPr>
        <p:spPr bwMode="auto">
          <a:xfrm>
            <a:off x="3916878" y="3863467"/>
            <a:ext cx="148005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1" dirty="0" err="1"/>
              <a:t>Fosfomycin</a:t>
            </a:r>
            <a:endParaRPr 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14214840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8"/>
          <p:cNvSpPr>
            <a:spLocks noChangeArrowheads="1"/>
          </p:cNvSpPr>
          <p:nvPr/>
        </p:nvSpPr>
        <p:spPr bwMode="auto">
          <a:xfrm>
            <a:off x="0" y="-228600"/>
            <a:ext cx="9144000" cy="7086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  <a:p>
            <a:r>
              <a:rPr lang="en-US"/>
              <a:t>Gram-positive                                                           Gram-negative</a:t>
            </a:r>
          </a:p>
        </p:txBody>
      </p:sp>
      <p:sp>
        <p:nvSpPr>
          <p:cNvPr id="49154" name="TextBox 3"/>
          <p:cNvSpPr txBox="1">
            <a:spLocks noChangeArrowheads="1"/>
          </p:cNvSpPr>
          <p:nvPr/>
        </p:nvSpPr>
        <p:spPr bwMode="auto">
          <a:xfrm>
            <a:off x="2514600" y="3352800"/>
            <a:ext cx="18653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Strep pyogenes</a:t>
            </a:r>
          </a:p>
        </p:txBody>
      </p:sp>
      <p:sp>
        <p:nvSpPr>
          <p:cNvPr id="49155" name="TextBox 4"/>
          <p:cNvSpPr txBox="1">
            <a:spLocks noChangeArrowheads="1"/>
          </p:cNvSpPr>
          <p:nvPr/>
        </p:nvSpPr>
        <p:spPr bwMode="auto">
          <a:xfrm>
            <a:off x="1697038" y="2667000"/>
            <a:ext cx="17922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S. pneumoniae</a:t>
            </a:r>
          </a:p>
        </p:txBody>
      </p:sp>
      <p:sp>
        <p:nvSpPr>
          <p:cNvPr id="49156" name="TextBox 6"/>
          <p:cNvSpPr txBox="1">
            <a:spLocks noChangeArrowheads="1"/>
          </p:cNvSpPr>
          <p:nvPr/>
        </p:nvSpPr>
        <p:spPr bwMode="auto">
          <a:xfrm>
            <a:off x="1143000" y="1828800"/>
            <a:ext cx="16383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Enterococcus</a:t>
            </a:r>
          </a:p>
          <a:p>
            <a:pPr eaLnBrk="1" hangingPunct="1"/>
            <a:r>
              <a:rPr lang="en-US" sz="1800" i="1"/>
              <a:t>faecalis</a:t>
            </a:r>
          </a:p>
        </p:txBody>
      </p:sp>
      <p:sp>
        <p:nvSpPr>
          <p:cNvPr id="49157" name="TextBox 7"/>
          <p:cNvSpPr txBox="1">
            <a:spLocks noChangeArrowheads="1"/>
          </p:cNvSpPr>
          <p:nvPr/>
        </p:nvSpPr>
        <p:spPr bwMode="auto">
          <a:xfrm>
            <a:off x="0" y="533400"/>
            <a:ext cx="16859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Enterococcus</a:t>
            </a:r>
          </a:p>
          <a:p>
            <a:pPr eaLnBrk="1" hangingPunct="1"/>
            <a:r>
              <a:rPr lang="en-US" sz="1800" i="1"/>
              <a:t>faecium </a:t>
            </a:r>
            <a:r>
              <a:rPr lang="en-US" sz="1800"/>
              <a:t>(VRE)</a:t>
            </a:r>
          </a:p>
        </p:txBody>
      </p:sp>
      <p:sp>
        <p:nvSpPr>
          <p:cNvPr id="49158" name="TextBox 9"/>
          <p:cNvSpPr txBox="1">
            <a:spLocks noChangeArrowheads="1"/>
          </p:cNvSpPr>
          <p:nvPr/>
        </p:nvSpPr>
        <p:spPr bwMode="auto">
          <a:xfrm>
            <a:off x="1524000" y="4267200"/>
            <a:ext cx="16129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Staph aureus</a:t>
            </a:r>
          </a:p>
          <a:p>
            <a:pPr eaLnBrk="1" hangingPunct="1"/>
            <a:r>
              <a:rPr lang="en-US" sz="1800"/>
              <a:t>(MSSA)</a:t>
            </a:r>
          </a:p>
        </p:txBody>
      </p:sp>
      <p:sp>
        <p:nvSpPr>
          <p:cNvPr id="49159" name="TextBox 10"/>
          <p:cNvSpPr txBox="1">
            <a:spLocks noChangeArrowheads="1"/>
          </p:cNvSpPr>
          <p:nvPr/>
        </p:nvSpPr>
        <p:spPr bwMode="auto">
          <a:xfrm>
            <a:off x="0" y="5562600"/>
            <a:ext cx="16129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Staph aureus</a:t>
            </a:r>
          </a:p>
          <a:p>
            <a:pPr eaLnBrk="1" hangingPunct="1"/>
            <a:r>
              <a:rPr lang="en-US" sz="1800"/>
              <a:t>(MRSA)</a:t>
            </a:r>
          </a:p>
        </p:txBody>
      </p:sp>
      <p:sp>
        <p:nvSpPr>
          <p:cNvPr id="49160" name="TextBox 11"/>
          <p:cNvSpPr txBox="1">
            <a:spLocks noChangeArrowheads="1"/>
          </p:cNvSpPr>
          <p:nvPr/>
        </p:nvSpPr>
        <p:spPr bwMode="auto">
          <a:xfrm>
            <a:off x="5029200" y="2667000"/>
            <a:ext cx="10858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Proteus</a:t>
            </a:r>
          </a:p>
          <a:p>
            <a:pPr eaLnBrk="1" hangingPunct="1"/>
            <a:r>
              <a:rPr lang="en-US" sz="1800" i="1"/>
              <a:t>mirabilis</a:t>
            </a:r>
          </a:p>
        </p:txBody>
      </p:sp>
      <p:sp>
        <p:nvSpPr>
          <p:cNvPr id="49161" name="TextBox 12"/>
          <p:cNvSpPr txBox="1">
            <a:spLocks noChangeArrowheads="1"/>
          </p:cNvSpPr>
          <p:nvPr/>
        </p:nvSpPr>
        <p:spPr bwMode="auto">
          <a:xfrm>
            <a:off x="5791200" y="2438400"/>
            <a:ext cx="8683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E. coli</a:t>
            </a:r>
          </a:p>
        </p:txBody>
      </p:sp>
      <p:sp>
        <p:nvSpPr>
          <p:cNvPr id="49162" name="TextBox 13"/>
          <p:cNvSpPr txBox="1">
            <a:spLocks noChangeArrowheads="1"/>
          </p:cNvSpPr>
          <p:nvPr/>
        </p:nvSpPr>
        <p:spPr bwMode="auto">
          <a:xfrm>
            <a:off x="6248400" y="1905000"/>
            <a:ext cx="15113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Klebsiella</a:t>
            </a:r>
          </a:p>
          <a:p>
            <a:pPr eaLnBrk="1" hangingPunct="1"/>
            <a:r>
              <a:rPr lang="en-US" sz="1800" i="1"/>
              <a:t>pneumoniae</a:t>
            </a:r>
          </a:p>
        </p:txBody>
      </p:sp>
      <p:sp>
        <p:nvSpPr>
          <p:cNvPr id="49163" name="TextBox 14"/>
          <p:cNvSpPr txBox="1">
            <a:spLocks noChangeArrowheads="1"/>
          </p:cNvSpPr>
          <p:nvPr/>
        </p:nvSpPr>
        <p:spPr bwMode="auto">
          <a:xfrm>
            <a:off x="7010400" y="5486400"/>
            <a:ext cx="17145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Pseudomonas</a:t>
            </a:r>
          </a:p>
        </p:txBody>
      </p:sp>
      <p:sp>
        <p:nvSpPr>
          <p:cNvPr id="49164" name="TextBox 16"/>
          <p:cNvSpPr txBox="1">
            <a:spLocks noChangeArrowheads="1"/>
          </p:cNvSpPr>
          <p:nvPr/>
        </p:nvSpPr>
        <p:spPr bwMode="auto">
          <a:xfrm>
            <a:off x="5867400" y="3581400"/>
            <a:ext cx="2819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Haemophilus influenzae</a:t>
            </a:r>
          </a:p>
        </p:txBody>
      </p:sp>
      <p:sp>
        <p:nvSpPr>
          <p:cNvPr id="49165" name="TextBox 18"/>
          <p:cNvSpPr txBox="1">
            <a:spLocks noChangeArrowheads="1"/>
          </p:cNvSpPr>
          <p:nvPr/>
        </p:nvSpPr>
        <p:spPr bwMode="auto">
          <a:xfrm>
            <a:off x="7239000" y="1600200"/>
            <a:ext cx="10477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Serratia</a:t>
            </a:r>
          </a:p>
        </p:txBody>
      </p:sp>
      <p:sp>
        <p:nvSpPr>
          <p:cNvPr id="49166" name="TextBox 19"/>
          <p:cNvSpPr txBox="1">
            <a:spLocks noChangeArrowheads="1"/>
          </p:cNvSpPr>
          <p:nvPr/>
        </p:nvSpPr>
        <p:spPr bwMode="auto">
          <a:xfrm>
            <a:off x="5638800" y="4724400"/>
            <a:ext cx="2133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Enterobacter spp</a:t>
            </a:r>
          </a:p>
        </p:txBody>
      </p:sp>
      <p:sp>
        <p:nvSpPr>
          <p:cNvPr id="49167" name="TextBox 21"/>
          <p:cNvSpPr txBox="1">
            <a:spLocks noChangeArrowheads="1"/>
          </p:cNvSpPr>
          <p:nvPr/>
        </p:nvSpPr>
        <p:spPr bwMode="auto">
          <a:xfrm>
            <a:off x="4419600" y="5257800"/>
            <a:ext cx="14573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/>
              <a:t>Bacteroides</a:t>
            </a:r>
          </a:p>
          <a:p>
            <a:pPr eaLnBrk="1" hangingPunct="1"/>
            <a:r>
              <a:rPr lang="en-US" sz="1800" i="1"/>
              <a:t> fragilis</a:t>
            </a:r>
          </a:p>
        </p:txBody>
      </p:sp>
      <p:sp>
        <p:nvSpPr>
          <p:cNvPr id="18" name="Oval 23"/>
          <p:cNvSpPr>
            <a:spLocks noChangeArrowheads="1"/>
          </p:cNvSpPr>
          <p:nvPr/>
        </p:nvSpPr>
        <p:spPr bwMode="auto">
          <a:xfrm rot="8570288">
            <a:off x="3757816" y="1731483"/>
            <a:ext cx="4981167" cy="1866900"/>
          </a:xfrm>
          <a:prstGeom prst="ellipse">
            <a:avLst/>
          </a:prstGeom>
          <a:solidFill>
            <a:srgbClr val="FF6FCF">
              <a:alpha val="48000"/>
            </a:srgb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" name="Oval 24"/>
          <p:cNvSpPr>
            <a:spLocks noChangeArrowheads="1"/>
          </p:cNvSpPr>
          <p:nvPr/>
        </p:nvSpPr>
        <p:spPr bwMode="auto">
          <a:xfrm rot="12309700">
            <a:off x="3953668" y="4111368"/>
            <a:ext cx="5411788" cy="1601787"/>
          </a:xfrm>
          <a:prstGeom prst="ellipse">
            <a:avLst/>
          </a:prstGeom>
          <a:solidFill>
            <a:srgbClr val="FF6FCF">
              <a:alpha val="48000"/>
            </a:srgb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9168" name="TextBox 22"/>
          <p:cNvSpPr txBox="1">
            <a:spLocks noChangeArrowheads="1"/>
          </p:cNvSpPr>
          <p:nvPr/>
        </p:nvSpPr>
        <p:spPr bwMode="auto">
          <a:xfrm>
            <a:off x="4038600" y="3657600"/>
            <a:ext cx="144145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1" dirty="0"/>
              <a:t>Gentamicin</a:t>
            </a:r>
          </a:p>
        </p:txBody>
      </p:sp>
    </p:spTree>
    <p:extLst>
      <p:ext uri="{BB962C8B-B14F-4D97-AF65-F5344CB8AC3E}">
        <p14:creationId xmlns:p14="http://schemas.microsoft.com/office/powerpoint/2010/main" val="2589260404"/>
      </p:ext>
    </p:extLst>
  </p:cSld>
  <p:clrMapOvr>
    <a:masterClrMapping/>
  </p:clrMapOvr>
</p:sld>
</file>

<file path=ppt/theme/theme1.xml><?xml version="1.0" encoding="utf-8"?>
<a:theme xmlns:a="http://schemas.openxmlformats.org/drawingml/2006/main" name="UM Mast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lank Presentation">
      <a:majorFont>
        <a:latin typeface="Arial"/>
        <a:ea typeface="MS PGothic"/>
        <a:cs typeface=""/>
      </a:majorFont>
      <a:minorFont>
        <a:latin typeface="Arial"/>
        <a:ea typeface="MS PGothic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MS PGothic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MS PGothic" pitchFamily="34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11181</TotalTime>
  <Words>1091</Words>
  <Application>Microsoft Office PowerPoint</Application>
  <PresentationFormat>On-screen Show (4:3)</PresentationFormat>
  <Paragraphs>608</Paragraphs>
  <Slides>27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Calibri</vt:lpstr>
      <vt:lpstr>Helvetica</vt:lpstr>
      <vt:lpstr>UM Master</vt:lpstr>
      <vt:lpstr>Overview of Antibiotic Classes and Individual Antibiotics </vt:lpstr>
      <vt:lpstr>Various Mechanisms of Action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Chris Colcer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Chris Colcer</dc:creator>
  <cp:lastModifiedBy>Cleopatra Mihalopoulos</cp:lastModifiedBy>
  <cp:revision>379</cp:revision>
  <cp:lastPrinted>2011-10-25T12:08:35Z</cp:lastPrinted>
  <dcterms:created xsi:type="dcterms:W3CDTF">2016-07-05T00:05:07Z</dcterms:created>
  <dcterms:modified xsi:type="dcterms:W3CDTF">2023-10-05T10:34:44Z</dcterms:modified>
</cp:coreProperties>
</file>