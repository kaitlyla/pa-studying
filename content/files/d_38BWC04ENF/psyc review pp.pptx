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9" autoAdjust="0"/>
    <p:restoredTop sz="94660"/>
  </p:normalViewPr>
  <p:slideViewPr>
    <p:cSldViewPr snapToGrid="0">
      <p:cViewPr varScale="1">
        <p:scale>
          <a:sx n="105" d="100"/>
          <a:sy n="105" d="100"/>
        </p:scale>
        <p:origin x="6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184161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2014069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3391826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8E55E6-6131-4241-B29D-F37164200BE1}" type="datetimeFigureOut">
              <a:rPr lang="en-US" smtClean="0"/>
              <a:t>12/4/23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1895716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8E55E6-6131-4241-B29D-F37164200BE1}" type="datetimeFigureOut">
              <a:rPr lang="en-US" smtClean="0"/>
              <a:t>12/4/23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3100116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220450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4195333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546937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8E55E6-6131-4241-B29D-F37164200BE1}" type="datetimeFigureOut">
              <a:rPr lang="en-US" smtClean="0"/>
              <a:t>12/4/23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137220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8E55E6-6131-4241-B29D-F37164200BE1}" type="datetimeFigureOut">
              <a:rPr lang="en-US" smtClean="0"/>
              <a:t>12/4/23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1223915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13513211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48402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2395119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28000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279180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1854057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8E55E6-6131-4241-B29D-F37164200BE1}"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A8D034-FE98-48E1-A14E-78A5FA5B9FA7}" type="slidenum">
              <a:rPr lang="en-US" smtClean="0"/>
              <a:t>‹#›</a:t>
            </a:fld>
            <a:endParaRPr lang="en-US"/>
          </a:p>
        </p:txBody>
      </p:sp>
    </p:spTree>
    <p:extLst>
      <p:ext uri="{BB962C8B-B14F-4D97-AF65-F5344CB8AC3E}">
        <p14:creationId xmlns:p14="http://schemas.microsoft.com/office/powerpoint/2010/main" val="3778393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8E55E6-6131-4241-B29D-F37164200BE1}" type="datetimeFigureOut">
              <a:rPr lang="en-US" smtClean="0"/>
              <a:t>12/4/23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CA8D034-FE98-48E1-A14E-78A5FA5B9FA7}" type="slidenum">
              <a:rPr lang="en-US" smtClean="0"/>
              <a:t>‹#›</a:t>
            </a:fld>
            <a:endParaRPr lang="en-US"/>
          </a:p>
        </p:txBody>
      </p:sp>
    </p:spTree>
    <p:extLst>
      <p:ext uri="{BB962C8B-B14F-4D97-AF65-F5344CB8AC3E}">
        <p14:creationId xmlns:p14="http://schemas.microsoft.com/office/powerpoint/2010/main" val="307034648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8762-DEAF-03BD-6CC2-E2820BB399C8}"/>
              </a:ext>
            </a:extLst>
          </p:cNvPr>
          <p:cNvSpPr>
            <a:spLocks noGrp="1"/>
          </p:cNvSpPr>
          <p:nvPr>
            <p:ph type="ctrTitle"/>
          </p:nvPr>
        </p:nvSpPr>
        <p:spPr/>
        <p:txBody>
          <a:bodyPr/>
          <a:lstStyle/>
          <a:p>
            <a:r>
              <a:rPr lang="en-US" dirty="0"/>
              <a:t>EOC Review</a:t>
            </a:r>
          </a:p>
        </p:txBody>
      </p:sp>
    </p:spTree>
    <p:extLst>
      <p:ext uri="{BB962C8B-B14F-4D97-AF65-F5344CB8AC3E}">
        <p14:creationId xmlns:p14="http://schemas.microsoft.com/office/powerpoint/2010/main" val="104960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86B3-DE55-DE01-672E-52D36B401F8B}"/>
              </a:ext>
            </a:extLst>
          </p:cNvPr>
          <p:cNvSpPr>
            <a:spLocks noGrp="1"/>
          </p:cNvSpPr>
          <p:nvPr>
            <p:ph type="title"/>
          </p:nvPr>
        </p:nvSpPr>
        <p:spPr/>
        <p:txBody>
          <a:bodyPr/>
          <a:lstStyle/>
          <a:p>
            <a:r>
              <a:rPr lang="en-US" dirty="0"/>
              <a:t>High-Yield Psychopharmacology</a:t>
            </a:r>
          </a:p>
        </p:txBody>
      </p:sp>
      <p:sp>
        <p:nvSpPr>
          <p:cNvPr id="3" name="Content Placeholder 2">
            <a:extLst>
              <a:ext uri="{FF2B5EF4-FFF2-40B4-BE49-F238E27FC236}">
                <a16:creationId xmlns:a16="http://schemas.microsoft.com/office/drawing/2014/main" id="{50A5530C-6346-55FE-9367-C85DE3E1D48A}"/>
              </a:ext>
            </a:extLst>
          </p:cNvPr>
          <p:cNvSpPr>
            <a:spLocks noGrp="1"/>
          </p:cNvSpPr>
          <p:nvPr>
            <p:ph idx="1"/>
          </p:nvPr>
        </p:nvSpPr>
        <p:spPr>
          <a:xfrm>
            <a:off x="1103312" y="1225486"/>
            <a:ext cx="8946541" cy="5410984"/>
          </a:xfrm>
        </p:spPr>
        <p:txBody>
          <a:bodyPr>
            <a:normAutofit fontScale="85000" lnSpcReduction="20000"/>
          </a:bodyPr>
          <a:lstStyle/>
          <a:p>
            <a:r>
              <a:rPr lang="en-US" dirty="0"/>
              <a:t>SSRIs</a:t>
            </a:r>
          </a:p>
          <a:p>
            <a:pPr lvl="1"/>
            <a:r>
              <a:rPr lang="en-US" dirty="0"/>
              <a:t>Fluoxetine, sertraline, escitalopram, citalopram, paroxetine, fluvoxamine</a:t>
            </a:r>
          </a:p>
          <a:p>
            <a:pPr lvl="1"/>
            <a:r>
              <a:rPr lang="en-US" dirty="0"/>
              <a:t>First line treatment for MDD, all anxiety disorders (GAD, OCD, PTSD, social anxiety disorder)</a:t>
            </a:r>
          </a:p>
          <a:p>
            <a:pPr lvl="1"/>
            <a:r>
              <a:rPr lang="en-US" dirty="0"/>
              <a:t>Risk causing mania</a:t>
            </a:r>
          </a:p>
          <a:p>
            <a:pPr lvl="1"/>
            <a:r>
              <a:rPr lang="en-US" dirty="0"/>
              <a:t>Generally benign side effect profile – headache, sexual dysfunction, GI side effects</a:t>
            </a:r>
          </a:p>
          <a:p>
            <a:pPr lvl="1"/>
            <a:r>
              <a:rPr lang="en-US" dirty="0"/>
              <a:t>Relatively low risk of serotonin syndrome in OD. </a:t>
            </a:r>
          </a:p>
          <a:p>
            <a:pPr lvl="2"/>
            <a:r>
              <a:rPr lang="en-US" dirty="0"/>
              <a:t>Exams love to give you serotonin syndrome questions where a patient is receiving amitriptyline/nortriptyline for neuropathy</a:t>
            </a:r>
          </a:p>
          <a:p>
            <a:pPr lvl="1"/>
            <a:r>
              <a:rPr lang="en-US" dirty="0"/>
              <a:t>Specific important points about SSRIs</a:t>
            </a:r>
          </a:p>
          <a:p>
            <a:pPr lvl="2"/>
            <a:r>
              <a:rPr lang="en-US" dirty="0"/>
              <a:t>Fluvoxamine is only approved to treat OCD. Usually do not see this as an answer choice.</a:t>
            </a:r>
          </a:p>
          <a:p>
            <a:pPr lvl="2"/>
            <a:r>
              <a:rPr lang="en-US" dirty="0"/>
              <a:t>Paroxetine – do not use in pregnancy! Higher than normal risk of persistent pulmonary hypertension of the newborn, hypoplastic right heart syndrome</a:t>
            </a:r>
          </a:p>
          <a:p>
            <a:pPr lvl="2"/>
            <a:r>
              <a:rPr lang="en-US" dirty="0"/>
              <a:t>Fluoxetine – longest half-life (1 week). If fluoxetine is being discontinued to start </a:t>
            </a:r>
            <a:r>
              <a:rPr lang="en-US" dirty="0" err="1"/>
              <a:t>MAOi</a:t>
            </a:r>
            <a:r>
              <a:rPr lang="en-US" dirty="0"/>
              <a:t>, need to wait 5 weeks!</a:t>
            </a:r>
          </a:p>
          <a:p>
            <a:pPr lvl="3"/>
            <a:r>
              <a:rPr lang="en-US" dirty="0"/>
              <a:t>Also interacts strongly with warfarin, increases bleeding risk</a:t>
            </a:r>
          </a:p>
          <a:p>
            <a:pPr lvl="1"/>
            <a:r>
              <a:rPr lang="en-US" dirty="0"/>
              <a:t>Otherwise, few reasons the test will ask you to pick between SSRIs as they’re equally effective.</a:t>
            </a:r>
          </a:p>
        </p:txBody>
      </p:sp>
    </p:spTree>
    <p:extLst>
      <p:ext uri="{BB962C8B-B14F-4D97-AF65-F5344CB8AC3E}">
        <p14:creationId xmlns:p14="http://schemas.microsoft.com/office/powerpoint/2010/main" val="2077205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3555-74FE-1D6B-0748-10A5D5F2B83C}"/>
              </a:ext>
            </a:extLst>
          </p:cNvPr>
          <p:cNvSpPr>
            <a:spLocks noGrp="1"/>
          </p:cNvSpPr>
          <p:nvPr>
            <p:ph type="title"/>
          </p:nvPr>
        </p:nvSpPr>
        <p:spPr/>
        <p:txBody>
          <a:bodyPr/>
          <a:lstStyle/>
          <a:p>
            <a:r>
              <a:rPr lang="en-US" dirty="0"/>
              <a:t>High-Yield Psychopharmacology</a:t>
            </a:r>
          </a:p>
        </p:txBody>
      </p:sp>
      <p:sp>
        <p:nvSpPr>
          <p:cNvPr id="3" name="Content Placeholder 2">
            <a:extLst>
              <a:ext uri="{FF2B5EF4-FFF2-40B4-BE49-F238E27FC236}">
                <a16:creationId xmlns:a16="http://schemas.microsoft.com/office/drawing/2014/main" id="{208565E0-A9E3-7FCF-7B6C-58C05E00C169}"/>
              </a:ext>
            </a:extLst>
          </p:cNvPr>
          <p:cNvSpPr>
            <a:spLocks noGrp="1"/>
          </p:cNvSpPr>
          <p:nvPr>
            <p:ph idx="1"/>
          </p:nvPr>
        </p:nvSpPr>
        <p:spPr/>
        <p:txBody>
          <a:bodyPr>
            <a:normAutofit lnSpcReduction="10000"/>
          </a:bodyPr>
          <a:lstStyle/>
          <a:p>
            <a:r>
              <a:rPr lang="en-US" dirty="0"/>
              <a:t>SNRIs</a:t>
            </a:r>
          </a:p>
          <a:p>
            <a:pPr lvl="1"/>
            <a:r>
              <a:rPr lang="en-US" dirty="0"/>
              <a:t>Venlafaxine, duloxetine, desvenlafaxine, </a:t>
            </a:r>
            <a:r>
              <a:rPr lang="en-US" dirty="0" err="1"/>
              <a:t>levomilnacipran</a:t>
            </a:r>
            <a:endParaRPr lang="en-US" dirty="0"/>
          </a:p>
          <a:p>
            <a:pPr lvl="1"/>
            <a:r>
              <a:rPr lang="en-US" dirty="0"/>
              <a:t>Effective as second-line agents for MDD and all anxiety disorders</a:t>
            </a:r>
          </a:p>
          <a:p>
            <a:pPr lvl="1"/>
            <a:r>
              <a:rPr lang="en-US" dirty="0"/>
              <a:t>Duloxetine could be considered first-line in patients who have depression and anxiety with comorbid neuropathic pain</a:t>
            </a:r>
          </a:p>
          <a:p>
            <a:pPr lvl="1"/>
            <a:r>
              <a:rPr lang="en-US" dirty="0"/>
              <a:t>Side effect profile is similar to SSRIs with one major exception</a:t>
            </a:r>
          </a:p>
          <a:p>
            <a:pPr lvl="2"/>
            <a:r>
              <a:rPr lang="en-US" dirty="0"/>
              <a:t>Hypertension! At higher doses, SNRIs (mostly venlafaxine) have 10% risk of hypertension.</a:t>
            </a:r>
          </a:p>
          <a:p>
            <a:pPr lvl="2"/>
            <a:r>
              <a:rPr lang="en-US" dirty="0"/>
              <a:t>Can get tricky on tests – if hypertension is isolated AND NOT CAUSED IN THE CONTEXT OF EATING CERTAIN FOODS/ALCOHOL AT PARTY, it’s more likely to be a side effect to venlafaxine than </a:t>
            </a:r>
            <a:r>
              <a:rPr lang="en-US" dirty="0" err="1"/>
              <a:t>MAOi</a:t>
            </a:r>
            <a:r>
              <a:rPr lang="en-US" dirty="0"/>
              <a:t>.</a:t>
            </a:r>
          </a:p>
          <a:p>
            <a:pPr lvl="2"/>
            <a:r>
              <a:rPr lang="en-US" dirty="0"/>
              <a:t>Venlafaxine withdrawal causes “brain zaps” and flulike symptoms in patients. Tests love this factoid for some reason.</a:t>
            </a:r>
          </a:p>
        </p:txBody>
      </p:sp>
    </p:spTree>
    <p:extLst>
      <p:ext uri="{BB962C8B-B14F-4D97-AF65-F5344CB8AC3E}">
        <p14:creationId xmlns:p14="http://schemas.microsoft.com/office/powerpoint/2010/main" val="3771444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2C6D-D93F-727B-96BE-C83ECECB8AB5}"/>
              </a:ext>
            </a:extLst>
          </p:cNvPr>
          <p:cNvSpPr>
            <a:spLocks noGrp="1"/>
          </p:cNvSpPr>
          <p:nvPr>
            <p:ph type="title"/>
          </p:nvPr>
        </p:nvSpPr>
        <p:spPr/>
        <p:txBody>
          <a:bodyPr/>
          <a:lstStyle/>
          <a:p>
            <a:r>
              <a:rPr lang="en-US" dirty="0"/>
              <a:t>High Yield Psychopharmacology</a:t>
            </a:r>
          </a:p>
        </p:txBody>
      </p:sp>
      <p:sp>
        <p:nvSpPr>
          <p:cNvPr id="3" name="Content Placeholder 2">
            <a:extLst>
              <a:ext uri="{FF2B5EF4-FFF2-40B4-BE49-F238E27FC236}">
                <a16:creationId xmlns:a16="http://schemas.microsoft.com/office/drawing/2014/main" id="{7C08956E-4672-13FD-F1CF-0099AE6E24F6}"/>
              </a:ext>
            </a:extLst>
          </p:cNvPr>
          <p:cNvSpPr>
            <a:spLocks noGrp="1"/>
          </p:cNvSpPr>
          <p:nvPr>
            <p:ph idx="1"/>
          </p:nvPr>
        </p:nvSpPr>
        <p:spPr/>
        <p:txBody>
          <a:bodyPr>
            <a:normAutofit fontScale="92500" lnSpcReduction="10000"/>
          </a:bodyPr>
          <a:lstStyle/>
          <a:p>
            <a:r>
              <a:rPr lang="en-US" dirty="0"/>
              <a:t>TCAs</a:t>
            </a:r>
          </a:p>
          <a:p>
            <a:pPr lvl="1"/>
            <a:r>
              <a:rPr lang="en-US" dirty="0"/>
              <a:t>Amitriptyline, nortriptyline, imipramine, desipramine, clomipramine, doxepin</a:t>
            </a:r>
          </a:p>
          <a:p>
            <a:pPr lvl="2"/>
            <a:r>
              <a:rPr lang="en-US" dirty="0"/>
              <a:t>If it ends in –</a:t>
            </a:r>
            <a:r>
              <a:rPr lang="en-US" dirty="0" err="1"/>
              <a:t>triptyline</a:t>
            </a:r>
            <a:r>
              <a:rPr lang="en-US" dirty="0"/>
              <a:t> or –</a:t>
            </a:r>
            <a:r>
              <a:rPr lang="en-US" dirty="0" err="1"/>
              <a:t>ipramine</a:t>
            </a:r>
            <a:r>
              <a:rPr lang="en-US" dirty="0"/>
              <a:t>, it’s a TCA</a:t>
            </a:r>
          </a:p>
          <a:p>
            <a:pPr lvl="2"/>
            <a:r>
              <a:rPr lang="en-US" dirty="0"/>
              <a:t>Lethal in overdose – QTc prolongation </a:t>
            </a:r>
            <a:r>
              <a:rPr lang="en-US" dirty="0">
                <a:sym typeface="Wingdings" panose="05000000000000000000" pitchFamily="2" charset="2"/>
              </a:rPr>
              <a:t> </a:t>
            </a:r>
            <a:r>
              <a:rPr lang="en-US" dirty="0" err="1">
                <a:sym typeface="Wingdings" panose="05000000000000000000" pitchFamily="2" charset="2"/>
              </a:rPr>
              <a:t>Torsades</a:t>
            </a:r>
            <a:r>
              <a:rPr lang="en-US" dirty="0">
                <a:sym typeface="Wingdings" panose="05000000000000000000" pitchFamily="2" charset="2"/>
              </a:rPr>
              <a:t> de Pointes  death</a:t>
            </a:r>
          </a:p>
          <a:p>
            <a:pPr lvl="3"/>
            <a:r>
              <a:rPr lang="en-US" dirty="0">
                <a:sym typeface="Wingdings" panose="05000000000000000000" pitchFamily="2" charset="2"/>
              </a:rPr>
              <a:t>Only psychotropic I have actually seen someone die by in overdose</a:t>
            </a:r>
          </a:p>
          <a:p>
            <a:pPr lvl="2"/>
            <a:r>
              <a:rPr lang="en-US" dirty="0">
                <a:sym typeface="Wingdings" panose="05000000000000000000" pitchFamily="2" charset="2"/>
              </a:rPr>
              <a:t>More often used by neurology to treat migraines and neuropathic pain</a:t>
            </a:r>
          </a:p>
          <a:p>
            <a:pPr lvl="2"/>
            <a:r>
              <a:rPr lang="en-US" dirty="0">
                <a:sym typeface="Wingdings" panose="05000000000000000000" pitchFamily="2" charset="2"/>
              </a:rPr>
              <a:t>Doxepin is sometimes used as a sleep aid</a:t>
            </a:r>
          </a:p>
          <a:p>
            <a:pPr lvl="2"/>
            <a:r>
              <a:rPr lang="en-US" dirty="0">
                <a:sym typeface="Wingdings" panose="05000000000000000000" pitchFamily="2" charset="2"/>
              </a:rPr>
              <a:t>Desipramine is used for nocturnal enuresis (shows up on psych tests often)</a:t>
            </a:r>
          </a:p>
          <a:p>
            <a:pPr lvl="2"/>
            <a:r>
              <a:rPr lang="en-US" dirty="0">
                <a:sym typeface="Wingdings" panose="05000000000000000000" pitchFamily="2" charset="2"/>
              </a:rPr>
              <a:t>Clomipramine is a good option for treatment of OCD if SSRIs have failed (less commonly tested, but shows up)</a:t>
            </a:r>
          </a:p>
          <a:p>
            <a:pPr lvl="1"/>
            <a:r>
              <a:rPr lang="en-US" dirty="0">
                <a:sym typeface="Wingdings" panose="05000000000000000000" pitchFamily="2" charset="2"/>
              </a:rPr>
              <a:t>High risk of serotonin syndrome </a:t>
            </a:r>
          </a:p>
          <a:p>
            <a:pPr lvl="1"/>
            <a:r>
              <a:rPr lang="en-US" dirty="0">
                <a:sym typeface="Wingdings" panose="05000000000000000000" pitchFamily="2" charset="2"/>
              </a:rPr>
              <a:t>High risk of precipitating mania</a:t>
            </a:r>
            <a:endParaRPr lang="en-US" dirty="0"/>
          </a:p>
        </p:txBody>
      </p:sp>
    </p:spTree>
    <p:extLst>
      <p:ext uri="{BB962C8B-B14F-4D97-AF65-F5344CB8AC3E}">
        <p14:creationId xmlns:p14="http://schemas.microsoft.com/office/powerpoint/2010/main" val="2210226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8DB1-4CA8-474A-7E73-74B98A295E78}"/>
              </a:ext>
            </a:extLst>
          </p:cNvPr>
          <p:cNvSpPr>
            <a:spLocks noGrp="1"/>
          </p:cNvSpPr>
          <p:nvPr>
            <p:ph type="title"/>
          </p:nvPr>
        </p:nvSpPr>
        <p:spPr/>
        <p:txBody>
          <a:bodyPr/>
          <a:lstStyle/>
          <a:p>
            <a:r>
              <a:rPr lang="en-US" dirty="0"/>
              <a:t>High Yield Psychopharmacology</a:t>
            </a:r>
          </a:p>
        </p:txBody>
      </p:sp>
      <p:sp>
        <p:nvSpPr>
          <p:cNvPr id="3" name="Content Placeholder 2">
            <a:extLst>
              <a:ext uri="{FF2B5EF4-FFF2-40B4-BE49-F238E27FC236}">
                <a16:creationId xmlns:a16="http://schemas.microsoft.com/office/drawing/2014/main" id="{D7799DB1-CEF3-929C-5E01-58AE3A74987C}"/>
              </a:ext>
            </a:extLst>
          </p:cNvPr>
          <p:cNvSpPr>
            <a:spLocks noGrp="1"/>
          </p:cNvSpPr>
          <p:nvPr>
            <p:ph idx="1"/>
          </p:nvPr>
        </p:nvSpPr>
        <p:spPr/>
        <p:txBody>
          <a:bodyPr>
            <a:normAutofit fontScale="62500" lnSpcReduction="20000"/>
          </a:bodyPr>
          <a:lstStyle/>
          <a:p>
            <a:r>
              <a:rPr lang="en-US" dirty="0" err="1"/>
              <a:t>MAOi</a:t>
            </a:r>
            <a:endParaRPr lang="en-US" dirty="0"/>
          </a:p>
          <a:p>
            <a:pPr lvl="1"/>
            <a:r>
              <a:rPr lang="en-US" dirty="0"/>
              <a:t>Phenelzine, tranylcypromine, selegiline</a:t>
            </a:r>
          </a:p>
          <a:p>
            <a:pPr lvl="1"/>
            <a:r>
              <a:rPr lang="en-US" dirty="0"/>
              <a:t>Used incredibly rarely in actual practice</a:t>
            </a:r>
          </a:p>
          <a:p>
            <a:pPr lvl="1"/>
            <a:r>
              <a:rPr lang="en-US" dirty="0"/>
              <a:t>For tests, selegiline is often used in Parkinson’s disease</a:t>
            </a:r>
          </a:p>
          <a:p>
            <a:pPr lvl="1"/>
            <a:r>
              <a:rPr lang="en-US" dirty="0"/>
              <a:t>Big picture: hypertensive crisis</a:t>
            </a:r>
          </a:p>
          <a:p>
            <a:pPr lvl="2"/>
            <a:r>
              <a:rPr lang="en-US" dirty="0"/>
              <a:t>If patient was “started on an appropriate medication” for depression and became severely hypertensive  at a party while eating cheese, drinking liquor, and eating cured meats, this is what they were given</a:t>
            </a:r>
          </a:p>
          <a:p>
            <a:r>
              <a:rPr lang="en-US" dirty="0"/>
              <a:t>Bupropion</a:t>
            </a:r>
          </a:p>
          <a:p>
            <a:pPr lvl="1"/>
            <a:r>
              <a:rPr lang="en-US" dirty="0"/>
              <a:t>Norepinephrine/dopamine reuptake inhibitor</a:t>
            </a:r>
          </a:p>
          <a:p>
            <a:pPr lvl="2"/>
            <a:r>
              <a:rPr lang="en-US" dirty="0"/>
              <a:t>Not first line in treating depression. Can make anxiety worse.</a:t>
            </a:r>
          </a:p>
          <a:p>
            <a:pPr lvl="2"/>
            <a:r>
              <a:rPr lang="en-US" dirty="0"/>
              <a:t>Only correct answer in two circumstances:</a:t>
            </a:r>
          </a:p>
          <a:p>
            <a:pPr lvl="3"/>
            <a:r>
              <a:rPr lang="en-US" dirty="0"/>
              <a:t>Patient with depression who is trying to stop smoking and wants one medication</a:t>
            </a:r>
          </a:p>
          <a:p>
            <a:pPr lvl="3"/>
            <a:r>
              <a:rPr lang="en-US" dirty="0"/>
              <a:t>Patient with an eating disorder (especially binging/purging subtypes) – DO NOT GIVE, high risk of seizures</a:t>
            </a:r>
          </a:p>
          <a:p>
            <a:r>
              <a:rPr lang="en-US" dirty="0"/>
              <a:t>Mirtazapine</a:t>
            </a:r>
          </a:p>
          <a:p>
            <a:pPr lvl="1"/>
            <a:r>
              <a:rPr lang="en-US" dirty="0"/>
              <a:t>Never first line for depression or anxiety</a:t>
            </a:r>
          </a:p>
          <a:p>
            <a:pPr lvl="1"/>
            <a:r>
              <a:rPr lang="en-US" dirty="0"/>
              <a:t>Most common side effects: sedation and weight gain</a:t>
            </a:r>
          </a:p>
        </p:txBody>
      </p:sp>
    </p:spTree>
    <p:extLst>
      <p:ext uri="{BB962C8B-B14F-4D97-AF65-F5344CB8AC3E}">
        <p14:creationId xmlns:p14="http://schemas.microsoft.com/office/powerpoint/2010/main" val="314219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3479-E01C-0942-7032-47D0A2020CBE}"/>
              </a:ext>
            </a:extLst>
          </p:cNvPr>
          <p:cNvSpPr>
            <a:spLocks noGrp="1"/>
          </p:cNvSpPr>
          <p:nvPr>
            <p:ph type="title"/>
          </p:nvPr>
        </p:nvSpPr>
        <p:spPr/>
        <p:txBody>
          <a:bodyPr/>
          <a:lstStyle/>
          <a:p>
            <a:r>
              <a:rPr lang="en-US" dirty="0"/>
              <a:t>High Yield Psychopharmacology: Mood stabilizers</a:t>
            </a:r>
          </a:p>
        </p:txBody>
      </p:sp>
      <p:sp>
        <p:nvSpPr>
          <p:cNvPr id="3" name="Content Placeholder 2">
            <a:extLst>
              <a:ext uri="{FF2B5EF4-FFF2-40B4-BE49-F238E27FC236}">
                <a16:creationId xmlns:a16="http://schemas.microsoft.com/office/drawing/2014/main" id="{F7F08E62-69A4-C13D-6431-E11B4B4A4F60}"/>
              </a:ext>
            </a:extLst>
          </p:cNvPr>
          <p:cNvSpPr>
            <a:spLocks noGrp="1"/>
          </p:cNvSpPr>
          <p:nvPr>
            <p:ph idx="1"/>
          </p:nvPr>
        </p:nvSpPr>
        <p:spPr/>
        <p:txBody>
          <a:bodyPr>
            <a:normAutofit fontScale="77500" lnSpcReduction="20000"/>
          </a:bodyPr>
          <a:lstStyle/>
          <a:p>
            <a:r>
              <a:rPr lang="en-US" dirty="0"/>
              <a:t>Lithium</a:t>
            </a:r>
          </a:p>
          <a:p>
            <a:pPr lvl="1"/>
            <a:r>
              <a:rPr lang="en-US" dirty="0"/>
              <a:t>First line treatment for bipolar disorder in all phases (mania, depression, and maintenance)</a:t>
            </a:r>
          </a:p>
          <a:p>
            <a:pPr lvl="1"/>
            <a:r>
              <a:rPr lang="en-US" dirty="0"/>
              <a:t>Lots of toxicity risk! Huge point of interest for exams</a:t>
            </a:r>
          </a:p>
          <a:p>
            <a:pPr lvl="2"/>
            <a:r>
              <a:rPr lang="en-US" dirty="0"/>
              <a:t>Acute kidney injury </a:t>
            </a:r>
            <a:r>
              <a:rPr lang="en-US" dirty="0">
                <a:sym typeface="Wingdings" panose="05000000000000000000" pitchFamily="2" charset="2"/>
              </a:rPr>
              <a:t> CKD  ESRD – highly nephrotoxic for many individuals</a:t>
            </a:r>
          </a:p>
          <a:p>
            <a:pPr lvl="3"/>
            <a:r>
              <a:rPr lang="en-US" dirty="0">
                <a:sym typeface="Wingdings" panose="05000000000000000000" pitchFamily="2" charset="2"/>
              </a:rPr>
              <a:t>If lithium level &gt;3.0, hemodialysis is typically required</a:t>
            </a:r>
          </a:p>
          <a:p>
            <a:pPr lvl="2"/>
            <a:r>
              <a:rPr lang="en-US" dirty="0">
                <a:sym typeface="Wingdings" panose="05000000000000000000" pitchFamily="2" charset="2"/>
              </a:rPr>
              <a:t>Nephrogenic diabetes insipidus</a:t>
            </a:r>
          </a:p>
          <a:p>
            <a:pPr lvl="3"/>
            <a:r>
              <a:rPr lang="en-US" dirty="0">
                <a:sym typeface="Wingdings" panose="05000000000000000000" pitchFamily="2" charset="2"/>
              </a:rPr>
              <a:t>If you see a plasma and serum osmolality difference on the psych shelf, this is the point they’re always trying to make.</a:t>
            </a:r>
          </a:p>
          <a:p>
            <a:pPr lvl="2"/>
            <a:r>
              <a:rPr lang="en-US" dirty="0">
                <a:sym typeface="Wingdings" panose="05000000000000000000" pitchFamily="2" charset="2"/>
              </a:rPr>
              <a:t>Lithium-induced myocarditis</a:t>
            </a:r>
          </a:p>
          <a:p>
            <a:pPr lvl="3"/>
            <a:r>
              <a:rPr lang="en-US" dirty="0">
                <a:sym typeface="Wingdings" panose="05000000000000000000" pitchFamily="2" charset="2"/>
              </a:rPr>
              <a:t>Chest pain + EKG changes in patient on lithium – comes up rarely on tests, pretty rare</a:t>
            </a:r>
          </a:p>
          <a:p>
            <a:pPr lvl="2"/>
            <a:r>
              <a:rPr lang="en-US" dirty="0" err="1">
                <a:sym typeface="Wingdings" panose="05000000000000000000" pitchFamily="2" charset="2"/>
              </a:rPr>
              <a:t>Litihium</a:t>
            </a:r>
            <a:r>
              <a:rPr lang="en-US" dirty="0">
                <a:sym typeface="Wingdings" panose="05000000000000000000" pitchFamily="2" charset="2"/>
              </a:rPr>
              <a:t>-induced hypothyroidism</a:t>
            </a:r>
          </a:p>
          <a:p>
            <a:pPr lvl="3"/>
            <a:r>
              <a:rPr lang="en-US" dirty="0"/>
              <a:t>Does come up every now and then!</a:t>
            </a:r>
          </a:p>
          <a:p>
            <a:pPr lvl="2"/>
            <a:r>
              <a:rPr lang="en-US" dirty="0" err="1"/>
              <a:t>Ebstein’s</a:t>
            </a:r>
            <a:r>
              <a:rPr lang="en-US" dirty="0"/>
              <a:t> anomaly risk (in the real world, still very rare, but test questions love this factoid)</a:t>
            </a:r>
          </a:p>
          <a:p>
            <a:pPr lvl="1"/>
            <a:r>
              <a:rPr lang="en-US" dirty="0"/>
              <a:t>One of four treatments in psychiatry (along with clozapine, ketamine, and ECT) which reduces suicide risk</a:t>
            </a:r>
          </a:p>
        </p:txBody>
      </p:sp>
    </p:spTree>
    <p:extLst>
      <p:ext uri="{BB962C8B-B14F-4D97-AF65-F5344CB8AC3E}">
        <p14:creationId xmlns:p14="http://schemas.microsoft.com/office/powerpoint/2010/main" val="3885879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4D75-A38C-EA54-BDCD-253E7223F4E0}"/>
              </a:ext>
            </a:extLst>
          </p:cNvPr>
          <p:cNvSpPr>
            <a:spLocks noGrp="1"/>
          </p:cNvSpPr>
          <p:nvPr>
            <p:ph type="title"/>
          </p:nvPr>
        </p:nvSpPr>
        <p:spPr/>
        <p:txBody>
          <a:bodyPr/>
          <a:lstStyle/>
          <a:p>
            <a:r>
              <a:rPr lang="en-US" dirty="0"/>
              <a:t>High Yield Psychopharmacology: Mood stabilizers</a:t>
            </a:r>
          </a:p>
        </p:txBody>
      </p:sp>
      <p:sp>
        <p:nvSpPr>
          <p:cNvPr id="3" name="Content Placeholder 2">
            <a:extLst>
              <a:ext uri="{FF2B5EF4-FFF2-40B4-BE49-F238E27FC236}">
                <a16:creationId xmlns:a16="http://schemas.microsoft.com/office/drawing/2014/main" id="{0D526FA1-7B08-C541-0AB1-20FF19520792}"/>
              </a:ext>
            </a:extLst>
          </p:cNvPr>
          <p:cNvSpPr>
            <a:spLocks noGrp="1"/>
          </p:cNvSpPr>
          <p:nvPr>
            <p:ph idx="1"/>
          </p:nvPr>
        </p:nvSpPr>
        <p:spPr/>
        <p:txBody>
          <a:bodyPr>
            <a:normAutofit fontScale="70000" lnSpcReduction="20000"/>
          </a:bodyPr>
          <a:lstStyle/>
          <a:p>
            <a:r>
              <a:rPr lang="en-US" dirty="0"/>
              <a:t>Valproic acid</a:t>
            </a:r>
          </a:p>
          <a:p>
            <a:pPr lvl="1"/>
            <a:r>
              <a:rPr lang="en-US" dirty="0"/>
              <a:t>Most dangerous mood stabilizer to use in women of child bearing age – HUGE increase in risk of neural tube defects</a:t>
            </a:r>
          </a:p>
          <a:p>
            <a:pPr lvl="1"/>
            <a:r>
              <a:rPr lang="en-US" dirty="0"/>
              <a:t>Very high risk of PCOS – test questions love to quiz you on ‘patient being started on appropriate med’ for bipolar disorder and start describing development of androgynous features</a:t>
            </a:r>
          </a:p>
          <a:p>
            <a:pPr lvl="1"/>
            <a:r>
              <a:rPr lang="en-US" dirty="0"/>
              <a:t>Most helpful in acute mania – no real antidepressant effect</a:t>
            </a:r>
          </a:p>
          <a:p>
            <a:r>
              <a:rPr lang="en-US" dirty="0"/>
              <a:t>Carbamazepine</a:t>
            </a:r>
          </a:p>
          <a:p>
            <a:pPr lvl="1"/>
            <a:r>
              <a:rPr lang="en-US" dirty="0"/>
              <a:t>Second most dangerous mood stabilizer to use in women of child bearing age</a:t>
            </a:r>
          </a:p>
          <a:p>
            <a:pPr lvl="2"/>
            <a:r>
              <a:rPr lang="en-US" dirty="0"/>
              <a:t>Not as likely to cause neural tube defects as valproic acid, BUT induces all estrogen-containing birth control agents!</a:t>
            </a:r>
          </a:p>
          <a:p>
            <a:pPr lvl="1"/>
            <a:r>
              <a:rPr lang="en-US" dirty="0"/>
              <a:t>Risk of Stevens-Johnson syndrome (but less so than lamotrigine)</a:t>
            </a:r>
          </a:p>
          <a:p>
            <a:pPr lvl="1"/>
            <a:r>
              <a:rPr lang="en-US" dirty="0"/>
              <a:t>Really only useful in mania – no antidepressant effect</a:t>
            </a:r>
          </a:p>
          <a:p>
            <a:r>
              <a:rPr lang="en-US" dirty="0"/>
              <a:t>Lamotrigine</a:t>
            </a:r>
          </a:p>
          <a:p>
            <a:pPr lvl="1"/>
            <a:r>
              <a:rPr lang="en-US" dirty="0"/>
              <a:t>Pretty benign, other than risk of SJS and TEN – highest risk of any psychotropic!</a:t>
            </a:r>
          </a:p>
          <a:p>
            <a:pPr lvl="1"/>
            <a:r>
              <a:rPr lang="en-US" dirty="0"/>
              <a:t>Most effective in treating bipolar depression and for mood stabilization in patient who is euthymic</a:t>
            </a:r>
          </a:p>
        </p:txBody>
      </p:sp>
    </p:spTree>
    <p:extLst>
      <p:ext uri="{BB962C8B-B14F-4D97-AF65-F5344CB8AC3E}">
        <p14:creationId xmlns:p14="http://schemas.microsoft.com/office/powerpoint/2010/main" val="855442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CA33-7F29-0EFA-066F-3E18F32BFE09}"/>
              </a:ext>
            </a:extLst>
          </p:cNvPr>
          <p:cNvSpPr>
            <a:spLocks noGrp="1"/>
          </p:cNvSpPr>
          <p:nvPr>
            <p:ph type="title"/>
          </p:nvPr>
        </p:nvSpPr>
        <p:spPr/>
        <p:txBody>
          <a:bodyPr/>
          <a:lstStyle/>
          <a:p>
            <a:r>
              <a:rPr lang="en-US" dirty="0"/>
              <a:t>High Yield Psychopharmacology: Antipsychotics</a:t>
            </a:r>
          </a:p>
        </p:txBody>
      </p:sp>
      <p:sp>
        <p:nvSpPr>
          <p:cNvPr id="3" name="Content Placeholder 2">
            <a:extLst>
              <a:ext uri="{FF2B5EF4-FFF2-40B4-BE49-F238E27FC236}">
                <a16:creationId xmlns:a16="http://schemas.microsoft.com/office/drawing/2014/main" id="{9CDA62DB-F730-F173-A9C1-CC8A62EAB81B}"/>
              </a:ext>
            </a:extLst>
          </p:cNvPr>
          <p:cNvSpPr>
            <a:spLocks noGrp="1"/>
          </p:cNvSpPr>
          <p:nvPr>
            <p:ph idx="1"/>
          </p:nvPr>
        </p:nvSpPr>
        <p:spPr/>
        <p:txBody>
          <a:bodyPr>
            <a:normAutofit fontScale="85000" lnSpcReduction="20000"/>
          </a:bodyPr>
          <a:lstStyle/>
          <a:p>
            <a:r>
              <a:rPr lang="en-US" dirty="0"/>
              <a:t>First generation antipsychotics</a:t>
            </a:r>
          </a:p>
          <a:p>
            <a:pPr lvl="1"/>
            <a:r>
              <a:rPr lang="en-US" dirty="0"/>
              <a:t>Haloperidol, chlorpromazine, fluphenazine, thioridazine, pimozide</a:t>
            </a:r>
          </a:p>
          <a:p>
            <a:pPr lvl="1"/>
            <a:r>
              <a:rPr lang="en-US" dirty="0"/>
              <a:t>MUCH HIGHER risk of extrapyramidal symptoms and tardive dyskinesia than second generation antipsychotics</a:t>
            </a:r>
          </a:p>
          <a:p>
            <a:pPr lvl="2"/>
            <a:r>
              <a:rPr lang="en-US" dirty="0"/>
              <a:t>If test question asks you most likely med to cause these side effects, look for one of those meds above.</a:t>
            </a:r>
          </a:p>
          <a:p>
            <a:pPr lvl="1"/>
            <a:r>
              <a:rPr lang="en-US" dirty="0"/>
              <a:t>No serotonergic activity</a:t>
            </a:r>
          </a:p>
          <a:p>
            <a:pPr lvl="2"/>
            <a:r>
              <a:rPr lang="en-US" dirty="0"/>
              <a:t>If you get a question with serotonin syndrome, it CANNOT be due to a first generation antipsychotic. Cross them off.</a:t>
            </a:r>
          </a:p>
          <a:p>
            <a:pPr lvl="1"/>
            <a:r>
              <a:rPr lang="en-US" dirty="0"/>
              <a:t>Side effects test questions love:</a:t>
            </a:r>
          </a:p>
          <a:p>
            <a:pPr lvl="2"/>
            <a:r>
              <a:rPr lang="en-US" dirty="0"/>
              <a:t>Thioridazine: </a:t>
            </a:r>
            <a:r>
              <a:rPr lang="en-US" dirty="0" err="1"/>
              <a:t>irrerversible</a:t>
            </a:r>
            <a:r>
              <a:rPr lang="en-US" dirty="0"/>
              <a:t> yellow pigmentation of the retina</a:t>
            </a:r>
          </a:p>
          <a:p>
            <a:pPr lvl="2"/>
            <a:r>
              <a:rPr lang="en-US" dirty="0"/>
              <a:t>Chlorpromazine (first antipsychotic ever): Shuffling gait, severe anticholinergic side effects</a:t>
            </a:r>
          </a:p>
          <a:p>
            <a:pPr lvl="2"/>
            <a:r>
              <a:rPr lang="en-US" dirty="0"/>
              <a:t>Haloperidol: Extrapyramidal symptoms</a:t>
            </a:r>
          </a:p>
          <a:p>
            <a:pPr lvl="3"/>
            <a:r>
              <a:rPr lang="en-US" dirty="0"/>
              <a:t>In combination with lorazepam and diphenhydramine, THE go-to medication to use in an acutely agitated patient</a:t>
            </a:r>
          </a:p>
        </p:txBody>
      </p:sp>
    </p:spTree>
    <p:extLst>
      <p:ext uri="{BB962C8B-B14F-4D97-AF65-F5344CB8AC3E}">
        <p14:creationId xmlns:p14="http://schemas.microsoft.com/office/powerpoint/2010/main" val="217083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3CEF-DC07-F19B-1E8C-91BD758DC584}"/>
              </a:ext>
            </a:extLst>
          </p:cNvPr>
          <p:cNvSpPr>
            <a:spLocks noGrp="1"/>
          </p:cNvSpPr>
          <p:nvPr>
            <p:ph type="title"/>
          </p:nvPr>
        </p:nvSpPr>
        <p:spPr/>
        <p:txBody>
          <a:bodyPr/>
          <a:lstStyle/>
          <a:p>
            <a:r>
              <a:rPr lang="en-US" dirty="0"/>
              <a:t>High-Yield Psychopharmacology: Antipsychotics</a:t>
            </a:r>
          </a:p>
        </p:txBody>
      </p:sp>
      <p:sp>
        <p:nvSpPr>
          <p:cNvPr id="3" name="Content Placeholder 2">
            <a:extLst>
              <a:ext uri="{FF2B5EF4-FFF2-40B4-BE49-F238E27FC236}">
                <a16:creationId xmlns:a16="http://schemas.microsoft.com/office/drawing/2014/main" id="{855B1D02-DA22-A267-00ED-EA6926B684E2}"/>
              </a:ext>
            </a:extLst>
          </p:cNvPr>
          <p:cNvSpPr>
            <a:spLocks noGrp="1"/>
          </p:cNvSpPr>
          <p:nvPr>
            <p:ph idx="1"/>
          </p:nvPr>
        </p:nvSpPr>
        <p:spPr/>
        <p:txBody>
          <a:bodyPr>
            <a:normAutofit fontScale="92500" lnSpcReduction="10000"/>
          </a:bodyPr>
          <a:lstStyle/>
          <a:p>
            <a:r>
              <a:rPr lang="en-US" dirty="0"/>
              <a:t>Second generation antipsychotics</a:t>
            </a:r>
          </a:p>
          <a:p>
            <a:pPr lvl="1"/>
            <a:r>
              <a:rPr lang="en-US" dirty="0"/>
              <a:t>Risperidone: Gynecomastia (most potent D2 antagonism </a:t>
            </a:r>
            <a:r>
              <a:rPr lang="en-US" dirty="0">
                <a:sym typeface="Wingdings" panose="05000000000000000000" pitchFamily="2" charset="2"/>
              </a:rPr>
              <a:t> elevated prolactin)</a:t>
            </a:r>
          </a:p>
          <a:p>
            <a:pPr lvl="1"/>
            <a:r>
              <a:rPr lang="en-US" dirty="0">
                <a:sym typeface="Wingdings" panose="05000000000000000000" pitchFamily="2" charset="2"/>
              </a:rPr>
              <a:t>Olanzapine: Significant weight gain and sedation (highest metabolic risk other than clozapine; test questions always ask about olanzapine given clozapine’s other side effects)</a:t>
            </a:r>
          </a:p>
          <a:p>
            <a:pPr lvl="1"/>
            <a:r>
              <a:rPr lang="en-US" dirty="0">
                <a:sym typeface="Wingdings" panose="05000000000000000000" pitchFamily="2" charset="2"/>
              </a:rPr>
              <a:t>Aripiprazole: akathisia; most QTc neutral antipsychotic</a:t>
            </a:r>
          </a:p>
          <a:p>
            <a:pPr lvl="1"/>
            <a:r>
              <a:rPr lang="en-US" dirty="0">
                <a:sym typeface="Wingdings" panose="05000000000000000000" pitchFamily="2" charset="2"/>
              </a:rPr>
              <a:t>Ziprasidone: QTc prolongation</a:t>
            </a:r>
          </a:p>
          <a:p>
            <a:pPr lvl="1"/>
            <a:r>
              <a:rPr lang="en-US" dirty="0">
                <a:sym typeface="Wingdings" panose="05000000000000000000" pitchFamily="2" charset="2"/>
              </a:rPr>
              <a:t>Lurasidone: Pretty weight neutral; great for bipolar depression</a:t>
            </a:r>
          </a:p>
          <a:p>
            <a:pPr lvl="1"/>
            <a:r>
              <a:rPr lang="en-US" dirty="0">
                <a:sym typeface="Wingdings" panose="05000000000000000000" pitchFamily="2" charset="2"/>
              </a:rPr>
              <a:t>Quetiapine: Excessive sedation</a:t>
            </a:r>
          </a:p>
          <a:p>
            <a:pPr lvl="1"/>
            <a:r>
              <a:rPr lang="en-US" dirty="0">
                <a:sym typeface="Wingdings" panose="05000000000000000000" pitchFamily="2" charset="2"/>
              </a:rPr>
              <a:t>All are D2 antagonists and serotonin 2A antagonists</a:t>
            </a:r>
          </a:p>
          <a:p>
            <a:pPr lvl="2"/>
            <a:r>
              <a:rPr lang="en-US" dirty="0">
                <a:sym typeface="Wingdings" panose="05000000000000000000" pitchFamily="2" charset="2"/>
              </a:rPr>
              <a:t>Except “two pips and a rip” – aripiprazole, </a:t>
            </a:r>
            <a:r>
              <a:rPr lang="en-US" dirty="0" err="1">
                <a:sym typeface="Wingdings" panose="05000000000000000000" pitchFamily="2" charset="2"/>
              </a:rPr>
              <a:t>cariprazine</a:t>
            </a:r>
            <a:r>
              <a:rPr lang="en-US" dirty="0">
                <a:sym typeface="Wingdings" panose="05000000000000000000" pitchFamily="2" charset="2"/>
              </a:rPr>
              <a:t>, </a:t>
            </a:r>
            <a:r>
              <a:rPr lang="en-US" dirty="0" err="1">
                <a:sym typeface="Wingdings" panose="05000000000000000000" pitchFamily="2" charset="2"/>
              </a:rPr>
              <a:t>brexpiprazole</a:t>
            </a:r>
            <a:r>
              <a:rPr lang="en-US" dirty="0">
                <a:sym typeface="Wingdings" panose="05000000000000000000" pitchFamily="2" charset="2"/>
              </a:rPr>
              <a:t> – D2 PARTIAL AGONISTS</a:t>
            </a:r>
            <a:endParaRPr lang="en-US" dirty="0"/>
          </a:p>
        </p:txBody>
      </p:sp>
    </p:spTree>
    <p:extLst>
      <p:ext uri="{BB962C8B-B14F-4D97-AF65-F5344CB8AC3E}">
        <p14:creationId xmlns:p14="http://schemas.microsoft.com/office/powerpoint/2010/main" val="2593357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6C9B4-8F34-D36F-B67E-A8DDFAA8E925}"/>
              </a:ext>
            </a:extLst>
          </p:cNvPr>
          <p:cNvSpPr>
            <a:spLocks noGrp="1"/>
          </p:cNvSpPr>
          <p:nvPr>
            <p:ph type="title"/>
          </p:nvPr>
        </p:nvSpPr>
        <p:spPr/>
        <p:txBody>
          <a:bodyPr/>
          <a:lstStyle/>
          <a:p>
            <a:r>
              <a:rPr lang="en-US" dirty="0"/>
              <a:t>High-Yield Psychopharmacology</a:t>
            </a:r>
          </a:p>
        </p:txBody>
      </p:sp>
      <p:sp>
        <p:nvSpPr>
          <p:cNvPr id="3" name="Content Placeholder 2">
            <a:extLst>
              <a:ext uri="{FF2B5EF4-FFF2-40B4-BE49-F238E27FC236}">
                <a16:creationId xmlns:a16="http://schemas.microsoft.com/office/drawing/2014/main" id="{05095719-AE69-4559-61F9-DB4331195170}"/>
              </a:ext>
            </a:extLst>
          </p:cNvPr>
          <p:cNvSpPr>
            <a:spLocks noGrp="1"/>
          </p:cNvSpPr>
          <p:nvPr>
            <p:ph idx="1"/>
          </p:nvPr>
        </p:nvSpPr>
        <p:spPr/>
        <p:txBody>
          <a:bodyPr>
            <a:normAutofit fontScale="85000" lnSpcReduction="10000"/>
          </a:bodyPr>
          <a:lstStyle/>
          <a:p>
            <a:r>
              <a:rPr lang="en-US" dirty="0"/>
              <a:t>Clozapine</a:t>
            </a:r>
          </a:p>
          <a:p>
            <a:pPr lvl="1"/>
            <a:r>
              <a:rPr lang="en-US" dirty="0"/>
              <a:t>Only antipsychotic that is more effective than the others</a:t>
            </a:r>
          </a:p>
          <a:p>
            <a:pPr lvl="1"/>
            <a:r>
              <a:rPr lang="en-US" dirty="0"/>
              <a:t>Very effective in managing suicidality and agitation in psychosis</a:t>
            </a:r>
          </a:p>
          <a:p>
            <a:pPr lvl="1"/>
            <a:r>
              <a:rPr lang="en-US" dirty="0"/>
              <a:t>Reserved for treatment resistant schizophrenia due to side effects</a:t>
            </a:r>
          </a:p>
          <a:p>
            <a:pPr lvl="2"/>
            <a:r>
              <a:rPr lang="en-US" dirty="0"/>
              <a:t>Agranulocytosis</a:t>
            </a:r>
          </a:p>
          <a:p>
            <a:pPr lvl="3"/>
            <a:r>
              <a:rPr lang="en-US" dirty="0"/>
              <a:t>ANC less than 1500 – likely will want to hold clozapine and monitor daily CBC</a:t>
            </a:r>
          </a:p>
          <a:p>
            <a:pPr lvl="2"/>
            <a:r>
              <a:rPr lang="en-US" dirty="0"/>
              <a:t>Constipation</a:t>
            </a:r>
          </a:p>
          <a:p>
            <a:pPr lvl="3"/>
            <a:r>
              <a:rPr lang="en-US" dirty="0"/>
              <a:t>More likely to kill than agranulocytosis  - can cause toxic megacolon, bowel perf</a:t>
            </a:r>
          </a:p>
          <a:p>
            <a:pPr lvl="2"/>
            <a:r>
              <a:rPr lang="en-US" dirty="0"/>
              <a:t>Eosinophilic myocarditis</a:t>
            </a:r>
          </a:p>
          <a:p>
            <a:pPr lvl="2"/>
            <a:r>
              <a:rPr lang="en-US" dirty="0"/>
              <a:t>Significantly increases risk of seizures</a:t>
            </a:r>
          </a:p>
          <a:p>
            <a:pPr lvl="1"/>
            <a:r>
              <a:rPr lang="en-US" dirty="0"/>
              <a:t>Also high risk of weight gain, sedation, and sialorrhea</a:t>
            </a:r>
          </a:p>
          <a:p>
            <a:pPr lvl="2"/>
            <a:r>
              <a:rPr lang="en-US" dirty="0"/>
              <a:t>Treat sialorrhea with glycopyrrolate or atropine</a:t>
            </a:r>
          </a:p>
          <a:p>
            <a:pPr lvl="1"/>
            <a:r>
              <a:rPr lang="en-US" dirty="0"/>
              <a:t>Along with lithium, ketamine, ECT – the only medication that lowers suicide risk</a:t>
            </a:r>
          </a:p>
        </p:txBody>
      </p:sp>
    </p:spTree>
    <p:extLst>
      <p:ext uri="{BB962C8B-B14F-4D97-AF65-F5344CB8AC3E}">
        <p14:creationId xmlns:p14="http://schemas.microsoft.com/office/powerpoint/2010/main" val="1791076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206D-79BA-2A21-514F-F90AE97A6A35}"/>
              </a:ext>
            </a:extLst>
          </p:cNvPr>
          <p:cNvSpPr>
            <a:spLocks noGrp="1"/>
          </p:cNvSpPr>
          <p:nvPr>
            <p:ph type="title"/>
          </p:nvPr>
        </p:nvSpPr>
        <p:spPr/>
        <p:txBody>
          <a:bodyPr/>
          <a:lstStyle/>
          <a:p>
            <a:r>
              <a:rPr lang="en-US" dirty="0"/>
              <a:t>ECT: To do or not to do</a:t>
            </a:r>
          </a:p>
        </p:txBody>
      </p:sp>
      <p:sp>
        <p:nvSpPr>
          <p:cNvPr id="3" name="Content Placeholder 2">
            <a:extLst>
              <a:ext uri="{FF2B5EF4-FFF2-40B4-BE49-F238E27FC236}">
                <a16:creationId xmlns:a16="http://schemas.microsoft.com/office/drawing/2014/main" id="{A72B4674-6F17-7BED-55CD-656C0646FBD5}"/>
              </a:ext>
            </a:extLst>
          </p:cNvPr>
          <p:cNvSpPr>
            <a:spLocks noGrp="1"/>
          </p:cNvSpPr>
          <p:nvPr>
            <p:ph idx="1"/>
          </p:nvPr>
        </p:nvSpPr>
        <p:spPr/>
        <p:txBody>
          <a:bodyPr>
            <a:normAutofit fontScale="77500" lnSpcReduction="20000"/>
          </a:bodyPr>
          <a:lstStyle/>
          <a:p>
            <a:r>
              <a:rPr lang="en-US" dirty="0"/>
              <a:t>The most effective treatment we have in psychiatry. 90% remission rate in depression; 70% plus remission rate in psychosis and mania.</a:t>
            </a:r>
          </a:p>
          <a:p>
            <a:r>
              <a:rPr lang="en-US" dirty="0"/>
              <a:t>Significant adverse effects</a:t>
            </a:r>
          </a:p>
          <a:p>
            <a:pPr lvl="1"/>
            <a:r>
              <a:rPr lang="en-US" dirty="0"/>
              <a:t>Risk of memory impairment (retrograde AND anterograde amnesia) is very high</a:t>
            </a:r>
          </a:p>
          <a:p>
            <a:pPr lvl="1"/>
            <a:r>
              <a:rPr lang="en-US" dirty="0"/>
              <a:t>Risk of sudden cardiac death in patients who have untreated arrhythmias</a:t>
            </a:r>
          </a:p>
          <a:p>
            <a:pPr lvl="1"/>
            <a:r>
              <a:rPr lang="en-US" dirty="0"/>
              <a:t>Risk of CVA in patients who have uncontrolled A-fib or recent DVT/PE</a:t>
            </a:r>
          </a:p>
          <a:p>
            <a:r>
              <a:rPr lang="en-US" dirty="0"/>
              <a:t>Ideal ECT patients</a:t>
            </a:r>
          </a:p>
          <a:p>
            <a:pPr lvl="1"/>
            <a:r>
              <a:rPr lang="en-US" dirty="0"/>
              <a:t>Highly treatment resistant schizophrenia</a:t>
            </a:r>
          </a:p>
          <a:p>
            <a:pPr lvl="1"/>
            <a:r>
              <a:rPr lang="en-US" dirty="0"/>
              <a:t>Patient who is catatonic for any reason – especially if they failed benzodiazepine challenge</a:t>
            </a:r>
          </a:p>
          <a:p>
            <a:pPr lvl="1"/>
            <a:r>
              <a:rPr lang="en-US" dirty="0"/>
              <a:t>Severe major depression</a:t>
            </a:r>
          </a:p>
          <a:p>
            <a:pPr lvl="2"/>
            <a:r>
              <a:rPr lang="en-US" dirty="0"/>
              <a:t>Acutely suicidal</a:t>
            </a:r>
          </a:p>
          <a:p>
            <a:pPr lvl="2"/>
            <a:r>
              <a:rPr lang="en-US" dirty="0"/>
              <a:t>Elderly patient who is suicidal or so melancholic that they are starving themselves to death</a:t>
            </a:r>
          </a:p>
          <a:p>
            <a:pPr lvl="2"/>
            <a:r>
              <a:rPr lang="en-US" dirty="0"/>
              <a:t>Highly treatment resistant depression</a:t>
            </a:r>
          </a:p>
          <a:p>
            <a:pPr lvl="1"/>
            <a:r>
              <a:rPr lang="en-US" dirty="0"/>
              <a:t>Mania in pregnancy; postpartum depression/psychosis with SI or HI</a:t>
            </a:r>
          </a:p>
        </p:txBody>
      </p:sp>
    </p:spTree>
    <p:extLst>
      <p:ext uri="{BB962C8B-B14F-4D97-AF65-F5344CB8AC3E}">
        <p14:creationId xmlns:p14="http://schemas.microsoft.com/office/powerpoint/2010/main" val="31245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407D9-F035-9CC2-22F6-930E551A771C}"/>
              </a:ext>
            </a:extLst>
          </p:cNvPr>
          <p:cNvSpPr>
            <a:spLocks noGrp="1"/>
          </p:cNvSpPr>
          <p:nvPr>
            <p:ph type="title"/>
          </p:nvPr>
        </p:nvSpPr>
        <p:spPr/>
        <p:txBody>
          <a:bodyPr/>
          <a:lstStyle/>
          <a:p>
            <a:r>
              <a:rPr lang="en-US" dirty="0"/>
              <a:t>Malingering vs Factitious disorder</a:t>
            </a:r>
          </a:p>
        </p:txBody>
      </p:sp>
      <p:sp>
        <p:nvSpPr>
          <p:cNvPr id="3" name="Content Placeholder 2">
            <a:extLst>
              <a:ext uri="{FF2B5EF4-FFF2-40B4-BE49-F238E27FC236}">
                <a16:creationId xmlns:a16="http://schemas.microsoft.com/office/drawing/2014/main" id="{84D62AA2-E28C-A442-A783-1204919F6D5A}"/>
              </a:ext>
            </a:extLst>
          </p:cNvPr>
          <p:cNvSpPr>
            <a:spLocks noGrp="1"/>
          </p:cNvSpPr>
          <p:nvPr>
            <p:ph idx="1"/>
          </p:nvPr>
        </p:nvSpPr>
        <p:spPr/>
        <p:txBody>
          <a:bodyPr>
            <a:normAutofit/>
          </a:bodyPr>
          <a:lstStyle/>
          <a:p>
            <a:r>
              <a:rPr lang="en-US" dirty="0"/>
              <a:t>Primary gain vs secondary gain</a:t>
            </a:r>
          </a:p>
          <a:p>
            <a:r>
              <a:rPr lang="en-US" dirty="0"/>
              <a:t>Factitious disorder</a:t>
            </a:r>
          </a:p>
          <a:p>
            <a:pPr lvl="1"/>
            <a:r>
              <a:rPr lang="en-US" dirty="0"/>
              <a:t>Disorder of primary gain – primary psychiatric needs are being met</a:t>
            </a:r>
          </a:p>
          <a:p>
            <a:pPr lvl="2"/>
            <a:r>
              <a:rPr lang="en-US" dirty="0"/>
              <a:t>Need to be cared for, taken care of, need to be admired as a savior/hero</a:t>
            </a:r>
          </a:p>
          <a:p>
            <a:pPr lvl="3"/>
            <a:r>
              <a:rPr lang="en-US" dirty="0"/>
              <a:t>Typical cases will be healthcare workers intentionally making themselves sick to be taken care of, parents making their children sick to look like “heroes” when they are the only ones who can make the kid better</a:t>
            </a:r>
          </a:p>
          <a:p>
            <a:r>
              <a:rPr lang="en-US" dirty="0"/>
              <a:t>Malingering</a:t>
            </a:r>
          </a:p>
          <a:p>
            <a:pPr lvl="1"/>
            <a:r>
              <a:rPr lang="en-US" dirty="0"/>
              <a:t>Disorder of secondary gain – generally would “benefit” anybody</a:t>
            </a:r>
          </a:p>
          <a:p>
            <a:pPr lvl="2"/>
            <a:r>
              <a:rPr lang="en-US" dirty="0"/>
              <a:t>Financial benefits, disability benefits, lawsuit payouts, </a:t>
            </a:r>
            <a:r>
              <a:rPr lang="en-US" dirty="0" err="1"/>
              <a:t>etc</a:t>
            </a:r>
            <a:endParaRPr lang="en-US" dirty="0"/>
          </a:p>
          <a:p>
            <a:pPr lvl="3"/>
            <a:r>
              <a:rPr lang="en-US" dirty="0"/>
              <a:t>Classic examples on tests: persistent back pain after a fall despite normal imaging and normal physical exam</a:t>
            </a:r>
          </a:p>
        </p:txBody>
      </p:sp>
    </p:spTree>
    <p:extLst>
      <p:ext uri="{BB962C8B-B14F-4D97-AF65-F5344CB8AC3E}">
        <p14:creationId xmlns:p14="http://schemas.microsoft.com/office/powerpoint/2010/main" val="3955077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E3E68-4AB5-FA01-B77F-844849B04D15}"/>
              </a:ext>
            </a:extLst>
          </p:cNvPr>
          <p:cNvSpPr>
            <a:spLocks noGrp="1"/>
          </p:cNvSpPr>
          <p:nvPr>
            <p:ph type="title"/>
          </p:nvPr>
        </p:nvSpPr>
        <p:spPr/>
        <p:txBody>
          <a:bodyPr/>
          <a:lstStyle/>
          <a:p>
            <a:r>
              <a:rPr lang="en-US" dirty="0"/>
              <a:t>Serotonin Syndrome vs Neuroleptic Malignant Syndrome</a:t>
            </a:r>
          </a:p>
        </p:txBody>
      </p:sp>
      <p:sp>
        <p:nvSpPr>
          <p:cNvPr id="3" name="Content Placeholder 2">
            <a:extLst>
              <a:ext uri="{FF2B5EF4-FFF2-40B4-BE49-F238E27FC236}">
                <a16:creationId xmlns:a16="http://schemas.microsoft.com/office/drawing/2014/main" id="{B2394A11-0639-6A8E-6A57-A17C898177DC}"/>
              </a:ext>
            </a:extLst>
          </p:cNvPr>
          <p:cNvSpPr>
            <a:spLocks noGrp="1"/>
          </p:cNvSpPr>
          <p:nvPr>
            <p:ph idx="1"/>
          </p:nvPr>
        </p:nvSpPr>
        <p:spPr/>
        <p:txBody>
          <a:bodyPr>
            <a:normAutofit fontScale="85000" lnSpcReduction="20000"/>
          </a:bodyPr>
          <a:lstStyle/>
          <a:p>
            <a:r>
              <a:rPr lang="en-US" dirty="0"/>
              <a:t>Serotonin syndrome</a:t>
            </a:r>
          </a:p>
          <a:p>
            <a:pPr lvl="1"/>
            <a:r>
              <a:rPr lang="en-US" dirty="0"/>
              <a:t>Hallmark symptoms are clonus and hyperreflexia</a:t>
            </a:r>
          </a:p>
          <a:p>
            <a:pPr lvl="1"/>
            <a:r>
              <a:rPr lang="en-US" dirty="0"/>
              <a:t>Will also typically have fever (but not higher than 102 degrees), nausea, vomiting, diarrhea, abdominal pain, flushing, sweating, hypertension, tachycardia</a:t>
            </a:r>
          </a:p>
          <a:p>
            <a:pPr lvl="1"/>
            <a:r>
              <a:rPr lang="en-US" dirty="0"/>
              <a:t>Most common causes: Not waiting long enough for antidepressant to wash out before starting another one (especially fluoxetine to </a:t>
            </a:r>
            <a:r>
              <a:rPr lang="en-US" dirty="0" err="1"/>
              <a:t>MAOi</a:t>
            </a:r>
            <a:r>
              <a:rPr lang="en-US" dirty="0"/>
              <a:t>), starting certain antibiotics (especially linezolid) with SSRIs on board</a:t>
            </a:r>
          </a:p>
          <a:p>
            <a:pPr lvl="1"/>
            <a:r>
              <a:rPr lang="en-US" dirty="0"/>
              <a:t>Treatment: Remove offending agent, can use cyproheptadine</a:t>
            </a:r>
          </a:p>
          <a:p>
            <a:r>
              <a:rPr lang="en-US" dirty="0"/>
              <a:t>Neuroleptic malignant syndrome</a:t>
            </a:r>
          </a:p>
          <a:p>
            <a:pPr lvl="1"/>
            <a:r>
              <a:rPr lang="en-US" dirty="0"/>
              <a:t>Hallmark symptoms: Lead pipe rigidity, VERY HIGH CPK</a:t>
            </a:r>
          </a:p>
          <a:p>
            <a:pPr lvl="1"/>
            <a:r>
              <a:rPr lang="en-US" dirty="0"/>
              <a:t>Will also have a very high fever (greater than 102), </a:t>
            </a:r>
            <a:r>
              <a:rPr lang="en-US" dirty="0" err="1"/>
              <a:t>HYPOreflexia</a:t>
            </a:r>
            <a:endParaRPr lang="en-US" dirty="0"/>
          </a:p>
          <a:p>
            <a:pPr lvl="1"/>
            <a:r>
              <a:rPr lang="en-US" dirty="0"/>
              <a:t>Most common causes: Too high of a dose of antipsychotic, or being on a med that inhibits metabolism of antipsychotic</a:t>
            </a:r>
          </a:p>
          <a:p>
            <a:pPr lvl="1"/>
            <a:r>
              <a:rPr lang="en-US" dirty="0"/>
              <a:t>Treatment: Remove offending agent, treat symptomatically</a:t>
            </a:r>
          </a:p>
          <a:p>
            <a:pPr lvl="2"/>
            <a:r>
              <a:rPr lang="en-US" dirty="0"/>
              <a:t>Can use dantrolene or bromocriptine in severe cases</a:t>
            </a:r>
          </a:p>
        </p:txBody>
      </p:sp>
    </p:spTree>
    <p:extLst>
      <p:ext uri="{BB962C8B-B14F-4D97-AF65-F5344CB8AC3E}">
        <p14:creationId xmlns:p14="http://schemas.microsoft.com/office/powerpoint/2010/main" val="2579102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9021E-F6AD-DD93-BBBB-4C0F559CB1DB}"/>
              </a:ext>
            </a:extLst>
          </p:cNvPr>
          <p:cNvSpPr>
            <a:spLocks noGrp="1"/>
          </p:cNvSpPr>
          <p:nvPr>
            <p:ph type="title"/>
          </p:nvPr>
        </p:nvSpPr>
        <p:spPr/>
        <p:txBody>
          <a:bodyPr/>
          <a:lstStyle/>
          <a:p>
            <a:r>
              <a:rPr lang="en-US" sz="3600" dirty="0"/>
              <a:t>Last-minute pointers on those “what should you do/say next” questions</a:t>
            </a:r>
          </a:p>
        </p:txBody>
      </p:sp>
      <p:sp>
        <p:nvSpPr>
          <p:cNvPr id="3" name="Content Placeholder 2">
            <a:extLst>
              <a:ext uri="{FF2B5EF4-FFF2-40B4-BE49-F238E27FC236}">
                <a16:creationId xmlns:a16="http://schemas.microsoft.com/office/drawing/2014/main" id="{45A662BB-C0C5-E656-1D1D-B4973A1622F1}"/>
              </a:ext>
            </a:extLst>
          </p:cNvPr>
          <p:cNvSpPr>
            <a:spLocks noGrp="1"/>
          </p:cNvSpPr>
          <p:nvPr>
            <p:ph idx="1"/>
          </p:nvPr>
        </p:nvSpPr>
        <p:spPr/>
        <p:txBody>
          <a:bodyPr>
            <a:normAutofit fontScale="85000" lnSpcReduction="10000"/>
          </a:bodyPr>
          <a:lstStyle/>
          <a:p>
            <a:r>
              <a:rPr lang="en-US" dirty="0"/>
              <a:t>Generally speaking, whichever answer will keep the patient talking is a good answer</a:t>
            </a:r>
          </a:p>
          <a:p>
            <a:r>
              <a:rPr lang="en-US" dirty="0"/>
              <a:t>In a patient hinting at suicidal thoughts, ALWAYS pick to ask them directly about suicidal ideation</a:t>
            </a:r>
          </a:p>
          <a:p>
            <a:r>
              <a:rPr lang="en-US" dirty="0"/>
              <a:t>DO NOT challenge delusions</a:t>
            </a:r>
          </a:p>
          <a:p>
            <a:r>
              <a:rPr lang="en-US" dirty="0"/>
              <a:t>If a patient states that they are acutely suicidal, the correct answer is generally to either send them to an ER or hospital for emergency evaluation/treatment</a:t>
            </a:r>
          </a:p>
          <a:p>
            <a:pPr lvl="1"/>
            <a:r>
              <a:rPr lang="en-US" dirty="0"/>
              <a:t>If you are in the ED doing the evaluation, correct answer is to hospitalize the patient</a:t>
            </a:r>
          </a:p>
          <a:p>
            <a:r>
              <a:rPr lang="en-US" dirty="0"/>
              <a:t>In a verbally agitated patient, verbal de-escalation techniques (asking how you can help, acknowledging their frustration) is generally correct</a:t>
            </a:r>
          </a:p>
          <a:p>
            <a:r>
              <a:rPr lang="en-US" dirty="0"/>
              <a:t>In a physically aggressive patient, emergency IM haloperidol/lorazepam/diphenhydramine is generally the correct answer</a:t>
            </a:r>
          </a:p>
        </p:txBody>
      </p:sp>
    </p:spTree>
    <p:extLst>
      <p:ext uri="{BB962C8B-B14F-4D97-AF65-F5344CB8AC3E}">
        <p14:creationId xmlns:p14="http://schemas.microsoft.com/office/powerpoint/2010/main" val="466835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41863-6B37-0EA0-6777-F7DC95A1D0A4}"/>
              </a:ext>
            </a:extLst>
          </p:cNvPr>
          <p:cNvSpPr>
            <a:spLocks noGrp="1"/>
          </p:cNvSpPr>
          <p:nvPr>
            <p:ph type="title"/>
          </p:nvPr>
        </p:nvSpPr>
        <p:spPr/>
        <p:txBody>
          <a:bodyPr/>
          <a:lstStyle/>
          <a:p>
            <a:r>
              <a:rPr lang="en-US" dirty="0"/>
              <a:t>“Neuro” psych pointers</a:t>
            </a:r>
          </a:p>
        </p:txBody>
      </p:sp>
      <p:sp>
        <p:nvSpPr>
          <p:cNvPr id="3" name="Content Placeholder 2">
            <a:extLst>
              <a:ext uri="{FF2B5EF4-FFF2-40B4-BE49-F238E27FC236}">
                <a16:creationId xmlns:a16="http://schemas.microsoft.com/office/drawing/2014/main" id="{C6F9D5B0-C94D-AD21-4B15-542FB58AF2DF}"/>
              </a:ext>
            </a:extLst>
          </p:cNvPr>
          <p:cNvSpPr>
            <a:spLocks noGrp="1"/>
          </p:cNvSpPr>
          <p:nvPr>
            <p:ph idx="1"/>
          </p:nvPr>
        </p:nvSpPr>
        <p:spPr/>
        <p:txBody>
          <a:bodyPr>
            <a:normAutofit fontScale="85000" lnSpcReduction="10000"/>
          </a:bodyPr>
          <a:lstStyle/>
          <a:p>
            <a:r>
              <a:rPr lang="en-US" dirty="0"/>
              <a:t>Huntington’s disease: Atrophy of bilateral caudate nuclei (shows up a fair amount on head CT</a:t>
            </a:r>
          </a:p>
          <a:p>
            <a:r>
              <a:rPr lang="en-US" dirty="0"/>
              <a:t>Schizophrenia: Diffuse atrophy of frontal lobes, with massive lateral ventricles</a:t>
            </a:r>
          </a:p>
          <a:p>
            <a:r>
              <a:rPr lang="en-US" dirty="0"/>
              <a:t>Alzheimer’s: Diffuse global atrophy of the brain</a:t>
            </a:r>
          </a:p>
          <a:p>
            <a:r>
              <a:rPr lang="en-US" dirty="0"/>
              <a:t>Schizophrenia tracts</a:t>
            </a:r>
          </a:p>
          <a:p>
            <a:pPr lvl="1"/>
            <a:r>
              <a:rPr lang="en-US" dirty="0"/>
              <a:t>Mesolimbic: Responsible for positive symptoms of schizophrenia (</a:t>
            </a:r>
            <a:r>
              <a:rPr lang="en-US" dirty="0" err="1"/>
              <a:t>targetied</a:t>
            </a:r>
            <a:r>
              <a:rPr lang="en-US" dirty="0"/>
              <a:t> by antipsychotics)</a:t>
            </a:r>
          </a:p>
          <a:p>
            <a:pPr lvl="1"/>
            <a:r>
              <a:rPr lang="en-US" dirty="0" err="1"/>
              <a:t>Mesocortical</a:t>
            </a:r>
            <a:r>
              <a:rPr lang="en-US" dirty="0"/>
              <a:t>: Responsible for negative symptoms of schizophrenia (not as easily targeted by antipsychotics)</a:t>
            </a:r>
          </a:p>
          <a:p>
            <a:pPr lvl="2"/>
            <a:r>
              <a:rPr lang="en-US" dirty="0"/>
              <a:t>When you see cortex, think “depression” or neurovegetative symptoms</a:t>
            </a:r>
          </a:p>
          <a:p>
            <a:pPr lvl="1"/>
            <a:r>
              <a:rPr lang="en-US" dirty="0"/>
              <a:t>Nigrostriatal: Extrapyramidal side effects</a:t>
            </a:r>
          </a:p>
          <a:p>
            <a:pPr lvl="2"/>
            <a:r>
              <a:rPr lang="en-US" dirty="0"/>
              <a:t>Excessive D2 blockade here leads to EPS, TD</a:t>
            </a:r>
          </a:p>
          <a:p>
            <a:pPr lvl="1"/>
            <a:r>
              <a:rPr lang="en-US" dirty="0"/>
              <a:t>Tuberoinfundibular: Gynecomastia due to hyperprolactinemia</a:t>
            </a:r>
          </a:p>
        </p:txBody>
      </p:sp>
    </p:spTree>
    <p:extLst>
      <p:ext uri="{BB962C8B-B14F-4D97-AF65-F5344CB8AC3E}">
        <p14:creationId xmlns:p14="http://schemas.microsoft.com/office/powerpoint/2010/main" val="24218856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253</TotalTime>
  <Words>1850</Words>
  <Application>Microsoft Macintosh PowerPoint</Application>
  <PresentationFormat>Widescreen</PresentationFormat>
  <Paragraphs>171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Ion</vt:lpstr>
      <vt:lpstr>EOC Review</vt:lpstr>
      <vt:lpstr>High-Yield Psychopharmacology</vt:lpstr>
      <vt:lpstr>High-Yield Psychopharmacology</vt:lpstr>
      <vt:lpstr>High Yield Psychopharmacology</vt:lpstr>
      <vt:lpstr>High Yield Psychopharmacology</vt:lpstr>
      <vt:lpstr>High Yield Psychopharmacology: Mood stabilizers</vt:lpstr>
      <vt:lpstr>High Yield Psychopharmacology: Mood stabilizers</vt:lpstr>
      <vt:lpstr>High Yield Psychopharmacology: Antipsychotics</vt:lpstr>
      <vt:lpstr>High-Yield Psychopharmacology: Antipsychotics</vt:lpstr>
      <vt:lpstr>High-Yield Psychopharmacology</vt:lpstr>
      <vt:lpstr>ECT: To do or not to do</vt:lpstr>
      <vt:lpstr>Malingering vs Factitious disorder</vt:lpstr>
      <vt:lpstr>Serotonin Syndrome vs Neuroleptic Malignant Syndrome</vt:lpstr>
      <vt:lpstr>Last-minute pointers on those “what should you do/say next” questions</vt:lpstr>
      <vt:lpstr>“Neuro” psych pointers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EOC Review</dc:title>
  <dc:creator>Kevin Putinta</dc:creator>
  <cp:lastModifiedBy>Allie Richard</cp:lastModifiedBy>
  <cp:revision>13</cp:revision>
  <dcterms:created xsi:type="dcterms:W3CDTF">2022-09-06T17:36:44Z</dcterms:created>
  <dcterms:modified xsi:type="dcterms:W3CDTF">2023-12-05T05:47:41Z</dcterms:modified>
</cp:coreProperties>
</file>